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既設システムの調査で Copilot を使う話をします。15分です。
先に立場をはっきりさせておくと、これは Copilot の機能紹介ではありません。うちにある既設の資産——複数の言語が混ざっていて、文字コードもバラバラで、ドキュメントも十分に残っていない、あれを調べるための手順の話です。
Copilot を触ってみて「思ったほど使えない」で止まっている人が何人かいると思います。今日はその原因と、回避の手順を話します。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結論から出します。三語で言うと「広げて、絞って、やめる」。
図を見てください。左端が「調べたいこと」。ここは業務の言葉、たとえば帳票の名前や画面の名前で始めます。そこから右に向かって菱形が広がっている、この前半が発散です。候補を広げる。後半で絞り込んでいって、右端で結論に着く。
下の1から4が、この図の左から右にそのまま対応します。
1つ目。Copilot は、うちの既設システムを知りません。渡した分しか知らない。だから最初に「渡して広げる」工程が要る。これが今日の話の全部の前提です。
2つ目。その発散の手段が、ソースをまとめた文書を読ませることです。実装をまとめたものと、設定やデータをまとめたもの、2本つくる。今日は仮に merge_source、merge_config と呼びます。
3つ目。収束というのは、目的の外にある情報を落として範囲を確定する「切り分け」のことです。手段は、Copilot との対話と、手元の検索コマンドの併用。
4つ目。止めどころは「目的の何割に届いたか」で決めます。100パーセントは狙わない。
もう一つ、図の破線の枠。これは「同じ会話の中」という意味です。この1周を、会話をまたがずにやりきる。1周で終わらせる必要はなくて、問い方を変えて何度か回したり、確かめた結果を戻したりします。回すたびに材料が増えて、精度が上がる。
あと、発散と収束は混ぜないでください。「関係ありそうなものを全部挙げて」と「これで確定か検証して」を同じプロンプトで聞くと、どっちも中途半端になります。
【ト書き】ここが一番長い。1〜4は読み上げず、図のどこの話かを指しながら話す。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なぜ「渡す」工程が要るのか。
バーを3本出しました。1本目、一般的な技術知識。言語の仕様、よくある設計、エラーの定石。これはよく知っています。2本目、うちの既設システム。ほぼ何も知りません。3本目が、こちらが渡したもの。ここだけが、渡した分に応じて伸びます。
質問して答えが出てこないのは、隠しているからじゃない。材料が無いからです。ここを取り違えると「使えない」で終わります。
それで、この3本目の中身ぜんぶを「コンテクスト」と呼びます。前のページの破線の枠、あれがこれです。日本語で言えば、いま Copilot に持たせている前提と条件と材料の全部。中身は3つで、これまでのやりとり、添付した文書や画像、指示に書いた前提や条件。
実務で効いてくるのはここです。同じ会話を続けるほど、前提を書き直さずに済む。逆に、新しい会話を開くと全部ゼロに戻る。だから、発散から収束までは同じ会話の中でやりきる。別件は新しい会話で始める。
これだけ覚えて帰ってもらえれば、それだけで体感が変わります。
【ト書き】「新しい会話を開くとゼロに戻る」は一拍置く。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では実際に渡そうとすると何が起きるか。
先に言っておくと、うちの資産の側に問題があるわけじゃありません。Copilot 側に受け入れ条件があって、それが既設資産に対して都合が悪い。4つあります。
1つ目、対応する拡張子が決まっている。C や C++ や C# は通りますが、.vb も .bat も通らない。しかも判定は中身じゃなくて拡張子です。プロジェクトファイルは実体が XML でも通らない。裏を返すと、テキストにまとめ直せば通るということです。
2つ目、文字コード。CP932 のまま渡すと日本語コメントが化けます。調査の手掛かりは日本語コメントそのものなので、ここが壊れると渡す意味がない。
3つ目、一度に渡せるファイル数。環境で幅がありますが、数ファイル単位です。数百ファイルある既設システムとは桁が合わない。
4つ目、これが厄介です。長すぎると中盤が読まれない。公式に書いてあります。先頭と末尾が優先されて、中盤への注意が薄くなる。しかもエラーは出ません。黙って落ちる。
だから、渡す前にひと手間かける。まとめて、UTF-8 のテキストにする。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そのひと手間が、まとめた文書を2本つくることです。
1本目が実装側。プログラムとスクリプトをひとまとめに。これで答えたいのは「なぜこう動くのか」。処理の流れ、分岐条件、計算ロジック。
2本目が設定・データ側。設定ファイルと定義データとマスタ。これで答えたいのは「どこで値が決まるのか」。環境差分、既定値、閾値。
なぜ分けるか。混ぜると読める分量を食い合います。設定ファイルは行数のわりに情報が薄いので、実装側が押し出される。それから問いの粒度が違うので、同時に聞いても精度が出ない。あと更新頻度が違う。設定は環境ごとに差し替わるので、実装側を作り直さずに済みます。
まとめるときの要件は3つだけです。UTF-8 に統一してテキストにすること。先頭に索引をつけること。ファイルの境目に区切り行を入れること。
特に索引です。これが後の収束の起点になります。索引だけなら短いので丸ごと渡せる。ここが今日の仕掛けの肝です。
【ト書き】実装を聞かれたら「使い捨てのスクリプトで足りる。作り方は別途共有する」で切る。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次、問いの入口の話。
コードの言葉から入ると詰まります。既設システムの識別子って、ローマ字の略号だったり連番だったり、歴史的な経緯の産物だったりして、業務の言葉と一致していない。そうすると、知らない名前は永遠に引っかからない。調査は「知らないもの」を探す作業なのに、です。
だから入口はドキュメントの言葉にします。仕様書、運用手順書、帳票名、画面名、業務用語。さっきの索引が、業務の言葉と実装の橋渡しをします。
プロンプトの型を書いておきました。「添付は既設システムの索引です。この帳票に関係していそうなものを、判断の根拠つきで5件から10件挙げてください。確信度も併記してください」。
ここでは絞らせないでください。多めに出させて、外れは次の工程で落とす。「1つに絞って」と聞くと、根拠の薄い1つが返ってきます。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ここから収束、つまり切り分けです。
表を見てください。Copilot と grep で、得意なことが正反対です。Copilot は当たりをつけるのが得意。「金額を確定していそうな箇所は？」に答えられる。でも網羅は苦手で、「全部で何箇所あるか」は信用できない。grep は逆です。件数と場所は確実に出るけど、検索語が分からないと何もできない。
だから組み合わせます。3ステップ。まず Copilot に当たりをつけさせる。出てきた識別子や定数名を検索語にして、手元で網羅的に確認する。それで出た差分を Copilot に返す。「検索するとここにも出た。これは何か」。ここで精度が跳ね上がります。
それから、毎回つける一言があります。「ファイル名と行番号を示して」「該当が無ければ無いと答えて」。この2つが、もっともらしい作り話を見つける検出器になります。示された行を1つ開いて照合すれば、その回答全体が信用できるか判定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もう一段進んだ使い方です。
調査用に自作したコマンドを持っている人、いると思います。grep をラップしたやつとか。あれの使い方を、最初に Copilot に教えてしまいます。
手順は3つ。まず道具を宣言する。「調査にはこのコマンドを使う」と言って、オプションと出力例をそのまま貼る。ここで出力形式まで教えるのが肝で、そうすると結果の読み方込みで相談できるようになります。
次に、次の一手を問う。「この論点を詰めたい。どう検索すべきか、対象範囲と除外条件つきで具体的なコマンドを出して」。
そして結果を貼り戻す。「この結果になった。ここからどう切り分けるか」。これを往復すると候補が落ちていきます。
効く理由は3つ。さっきの役割分担がそのまま形になること。結果を貼り戻すたびに材料が積み上がること。それから、検索語をひねり出していた時間が、そのまま判断の時間に変わることです。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止めどころの話です。ここを決めずに始めると、いつまでも終わりません。
100パーセントは狙わないでください。残りの2割にかかる手間は、前半の8割と同じかそれ以上です。
目安を3つ出しました。方式検討や概算見積なら6割。方向性が決まればよくて、詳細は設計時に潰せる。ここで深追いしても捨てる情報が増えるだけです。
改修範囲の特定なら8割。漏れが直接手戻りになるので。ただし残りの2割は読みでは埋まらないので、実機確認で補う前提にします。
影響調査やリリース判断は、実機まで。読みだけでは確定しません。この場合、Copilot の役割は「実機で何を確認すべきかのリストを作る」ところまでと割り切ります。
割合の見立て方ですが、厳密な数字は要りません。「この状態で判断して大丈夫か」を自分に問うだけです。判断できるなら、そこが止めどころ。判断できないなら、足りないものを言葉にして、それを次の問い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それでも切り分けきれない分は、もう一周します。回し方が2種類あります。
内側の周回。同じ会話の中で回すやつです。新しい材料を足さなくても回ります。同じ論点を別の切り口から聞き直す。出てきた説明の前提を疑って、根拠を問い直す。発散で拾いきれなかった関連ドキュメントを、穴埋めとして1本2本だけ足す。
外側の周回。固めた結論を持って調べに行って、その結果を返すやつです。コードを読む、実機を動かす、ログや DB の中身を見る、関係者に聞く。それで「調べたらこうだった。整合する説明はどれか」と聞き直す。ここで候補が一気に落ちます。
私自身は、まず内側で何周か回して結論を固めてから、それを持って調べに行って、結果を戻すという使い方をしました。
一つ注意。内側の周回で材料を足しすぎないこと。関係しそうな資料をここで大量に足すと、収束のつもりが発散に逆戻りします。網羅的に渡すのは発散の工程の仕事です。
自分で確かめた事実は、世の中のどこにもない、こちらしか持っていない材料です。それを渡せる人が、いちばん良い答えを引き出せます。
【ト書き】「私自身は」は体験談として言う。実際の案件名を出せるなら差し替える。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結論が出たら、図にします。
理由は3つ。まず間違いに気づける。文章の誤りは読み飛ばしますが、図の誤りは違和感で気づきます。検算になる。次に共有が速い。人に説明する時間が桁で変わります。それから抜けが見える。線がつながらない箇所が、そのまま調べ残しです。
ここで一つ、間違えやすいところ。プラスボタンの「画像を生成する」は使わないでください。あれは写真やイラストを作る別のサービスの呼び出しで、構成図の道具ではありません。文字ラベルは崩れるし、線のつながりに意味は保証されないし、出てきた図を直せない。
使うのは「ページまたはコードを下書きする」のほうです。図をコードとして書かせて、それを表示する。図を文字で定義する記法か、HTML や SVG で出させて、ブラウザで開く。
こうするとその場で直せます。「ここは違う、正しくはこう」で書き直させられる。しかも全部作り直さず1箇所だけ直せるし、テキストなのでそのまま調査メモになります。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小技を2つ。1つ目。
Windows キーと Shift と S。範囲をドラッグするとクリップボードに入るので、そのままチャット欄に Ctrl+V で貼れます。プラスボタンのスクリーンショットより速い。
一番効くのは設計書の中の図です。既設の資料は、図が画像のままで文字として渡せないことが多い。あれを貼れば読ませられます。あとはエラーダイアログ、既存画面のレイアウト、帳票の見本。
貼るだけで終わらせず、「この画面のここについて」と問いを添えてください。
右側に、プラスボタンの中身を整理しておきました。使うのは上の3つです。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2つ目。指示の書き方です。
左が、条件を長い一文に書き連ねたやつ。「締め処理を調べたいんだけど、対象は2020年以降のモジュールだけで、テストコードは除いて、金額計算を優先して、結果はファイル名と行番号つきで、5件くらいで、確信度も」。
これ、全部が同じ重みの1本の線になっています。どれが対象条件でどれが出力条件かの区別が消えているし、「除いて」が対象の話なのか出力の話なのかも曖昧。しかも後ろに書いた条件ほど効きません。
右が、軸ごとに分けたやつ。目的、対象、優先順位、出力形式。見出しをつけて、箇条書きで並べる。
こうすると、見出しが「これは目的」「これは制約」「これは出力仕様」と宣言してくれます。箇条書きの項目は対等なので、条件が並列だと伝わる。それから、対象の1項目だけ書き換えて再実行できる。長文だと毎回書き直しです。
パラメータの組み合わせを大量に渡すなら JSON でも構いません。要は軸を分けて書くということで、記法は手段です。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最後に、この先の話を少し。
精度を決めるのは、こちらが渡せるファクトの量と質です。AI が一般知識として持っているものは当てにしない。一次資料を渡して足場を固める。
既設調査なら、仕様書と、自分で確かめた事実。今日ここまで話してきた内容です。
技術の確認なら、ミドルウェアやフレームワークの公式ドキュメントを読み込ませる。AI が「知っている」技術の話より確実ですし、版数のずれもここで潰せます。
新規開発や新しい技術の習得なら、出版社が品質を担保した書籍を立脚点にする。電子書籍なら渡せます。動かない点を先に作ってから設計に入る。
それから、社内ドキュメントの価値がこれから上がります。AI が読める形を意識して書くこと。見出しで階層を作る、用語を統一する、箇条書きで並列を示す。
もう一つ。いつ誰が何を指摘したかの痕跡が残った文書は、それ自体が材料になります。判断の経緯は、結論だけ書かれた文書からは復元できません。きれいにまとめ直した文書より、経緯が残った文書のほうが調査に効く場面がある。
最後に。AI を怖がる必要はないと思っています。材料を集めて、積み上げて、どこまで広げてどこで切り分けるか、そしてどこでやめるかを決めるのは人の仕事です。AI はその判断をしません。今日話した発散から収束までのプロセスそのものが、こちらの持っている強みになります。
【ト書き】ここが締め。最後の段落は速度を落とす。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まとめます。明日からやることは3つ。
手持ちの資産を1本、まとめた文書にしてみる。規模が中くらいで仕様書がある程度残っているものを選んでください。
ドキュメントの言葉で、広く候補を出させる。絞らせない。
検索で裏を取って、差分を返して切り分ける。狙った割合に届いたらやめる。
忘れないでほしいのは3つ。渡さなければ答えは出てこない。広げる問いと切り分ける問いは別々に。判断できる状態になったら、そこが止めどころ。
一点だけ注意です。まとめた文書は中身が丸ごとサービス側に渡ります。接続文字列、パスワード、ホスト名、テストデータの中の個人情報は、まとめる時点で除く手順を入れてください。
以上です。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0"/>
        </a:solidFill>
      </p:bgPr>
    </p:bg>
    <p:spTree>
      <p:nvGrpSpPr>
        <p:cNvPr id="1" name=""/>
        <p:cNvGrpSpPr/>
        <p:nvPr/>
      </p:nvGrpSpPr>
      <p:grpSpPr>
        <a:xfrm>
          <a:off x="0" y="0"/>
          <a:ext cx="0" cy="0"/>
          <a:chOff x="0" y="0"/>
          <a:chExt cx="0" cy="0"/>
        </a:xfrm>
      </p:grpSpPr>
      <p:sp>
        <p:nvSpPr>
          <p:cNvPr id="3" name="Text 0"/>
          <p:cNvSpPr txBox="1"/>
          <p:nvPr/>
        </p:nvSpPr>
        <p:spPr>
          <a:xfrm>
            <a:off x="822960" y="1371600"/>
            <a:ext cx="10515600" cy="274320"/>
          </a:xfrm>
          <a:prstGeom prst="rect">
            <a:avLst/>
          </a:prstGeom>
          <a:noFill/>
          <a:ln/>
        </p:spPr>
        <p:txBody>
          <a:bodyPr wrap="square" lIns="0" tIns="0" rIns="0" bIns="0" rtlCol="0" anchor="ctr"/>
          <a:lstStyle/>
          <a:p>
            <a:pPr indent="0" marL="0">
              <a:buNone/>
            </a:pPr>
            <a:r>
              <a:rPr lang="en-US" sz="1150" spc="140" kern="0" dirty="0">
                <a:solidFill>
                  <a:srgbClr val="8FA4C9"/>
                </a:solidFill>
                <a:latin typeface="Meiryo" pitchFamily="34" charset="0"/>
                <a:ea typeface="Meiryo" pitchFamily="34" charset="-122"/>
                <a:cs typeface="Meiryo" pitchFamily="34" charset="-120"/>
              </a:rPr>
              <a:t>LABORRAD ／ 社内共有　2026-09-15　所要 15分</a:t>
            </a:r>
            <a:endParaRPr lang="en-US" sz="1150" dirty="0"/>
          </a:p>
        </p:txBody>
      </p:sp>
      <p:sp>
        <p:nvSpPr>
          <p:cNvPr id="4" name="Text 1"/>
          <p:cNvSpPr txBox="1"/>
          <p:nvPr/>
        </p:nvSpPr>
        <p:spPr>
          <a:xfrm>
            <a:off x="822960" y="1874520"/>
            <a:ext cx="10515600" cy="1737360"/>
          </a:xfrm>
          <a:prstGeom prst="rect">
            <a:avLst/>
          </a:prstGeom>
          <a:noFill/>
          <a:ln/>
        </p:spPr>
        <p:txBody>
          <a:bodyPr wrap="square" lIns="0" tIns="0" rIns="0" bIns="0" rtlCol="0" anchor="t"/>
          <a:lstStyle/>
          <a:p>
            <a:pPr indent="0" marL="0">
              <a:lnSpc>
                <a:spcPts val="5200"/>
              </a:lnSpc>
              <a:buNone/>
            </a:pPr>
            <a:r>
              <a:rPr lang="en-US" sz="4000" b="1" dirty="0">
                <a:solidFill>
                  <a:srgbClr val="FFFFFF"/>
                </a:solidFill>
                <a:latin typeface="Meiryo" pitchFamily="34" charset="0"/>
                <a:ea typeface="Meiryo" pitchFamily="34" charset="-122"/>
                <a:cs typeface="Meiryo" pitchFamily="34" charset="-120"/>
              </a:rPr>
              <a:t>既設システムの調査が捗る</a:t>
            </a:r>
            <a:endParaRPr lang="en-US" sz="4000" dirty="0"/>
          </a:p>
          <a:p>
            <a:pPr indent="0" marL="0">
              <a:lnSpc>
                <a:spcPts val="5200"/>
              </a:lnSpc>
              <a:buNone/>
            </a:pPr>
            <a:r>
              <a:rPr lang="en-US" sz="4000" b="1" dirty="0">
                <a:solidFill>
                  <a:srgbClr val="FFFFFF"/>
                </a:solidFill>
                <a:latin typeface="Meiryo" pitchFamily="34" charset="0"/>
                <a:ea typeface="Meiryo" pitchFamily="34" charset="-122"/>
                <a:cs typeface="Meiryo" pitchFamily="34" charset="-120"/>
              </a:rPr>
              <a:t>Microsoft 365 Copilot の使い方</a:t>
            </a:r>
            <a:endParaRPr lang="en-US" sz="4000" dirty="0"/>
          </a:p>
        </p:txBody>
      </p:sp>
      <p:sp>
        <p:nvSpPr>
          <p:cNvPr id="5" name="Text 2"/>
          <p:cNvSpPr txBox="1"/>
          <p:nvPr/>
        </p:nvSpPr>
        <p:spPr>
          <a:xfrm>
            <a:off x="822960" y="3703320"/>
            <a:ext cx="10058400" cy="822960"/>
          </a:xfrm>
          <a:prstGeom prst="rect">
            <a:avLst/>
          </a:prstGeom>
          <a:noFill/>
          <a:ln/>
        </p:spPr>
        <p:txBody>
          <a:bodyPr wrap="square" lIns="0" tIns="0" rIns="0" bIns="0" rtlCol="0" anchor="t"/>
          <a:lstStyle/>
          <a:p>
            <a:pPr indent="0" marL="0">
              <a:lnSpc>
                <a:spcPts val="2400"/>
              </a:lnSpc>
              <a:buNone/>
            </a:pPr>
            <a:r>
              <a:rPr lang="en-US" sz="1450" dirty="0">
                <a:solidFill>
                  <a:srgbClr val="C6D2E6"/>
                </a:solidFill>
                <a:latin typeface="Meiryo" pitchFamily="34" charset="0"/>
                <a:ea typeface="Meiryo" pitchFamily="34" charset="-122"/>
                <a:cs typeface="Meiryo" pitchFamily="34" charset="-120"/>
              </a:rPr>
              <a:t>「聞けば教えてくれる」ではうまくいかない。</a:t>
            </a:r>
            <a:endParaRPr lang="en-US" sz="1450" dirty="0"/>
          </a:p>
          <a:p>
            <a:pPr indent="0" marL="0">
              <a:lnSpc>
                <a:spcPts val="2400"/>
              </a:lnSpc>
              <a:buNone/>
            </a:pPr>
            <a:r>
              <a:rPr lang="en-US" sz="1450" dirty="0">
                <a:solidFill>
                  <a:srgbClr val="C6D2E6"/>
                </a:solidFill>
                <a:latin typeface="Meiryo" pitchFamily="34" charset="0"/>
                <a:ea typeface="Meiryo" pitchFamily="34" charset="-122"/>
                <a:cs typeface="Meiryo" pitchFamily="34" charset="-120"/>
              </a:rPr>
              <a:t>発散 → 収束 という手順を踏めば、既設調査の道具として使える。</a:t>
            </a:r>
            <a:endParaRPr lang="en-US" sz="1450" dirty="0"/>
          </a:p>
        </p:txBody>
      </p:sp>
      <p:sp>
        <p:nvSpPr>
          <p:cNvPr id="6" name="Shape 3"/>
          <p:cNvSpPr/>
          <p:nvPr/>
        </p:nvSpPr>
        <p:spPr>
          <a:xfrm>
            <a:off x="822960" y="4892040"/>
            <a:ext cx="3346704" cy="1325880"/>
          </a:xfrm>
          <a:prstGeom prst="roundRect">
            <a:avLst>
              <a:gd name="adj" fmla="val 3448"/>
            </a:avLst>
          </a:prstGeom>
          <a:solidFill>
            <a:srgbClr val="1F2831"/>
          </a:solidFill>
          <a:ln w="12700">
            <a:solidFill>
              <a:srgbClr val="1F2831"/>
            </a:solidFill>
            <a:prstDash val="solid"/>
          </a:ln>
        </p:spPr>
      </p:sp>
      <p:sp>
        <p:nvSpPr>
          <p:cNvPr id="7" name="Text 4"/>
          <p:cNvSpPr txBox="1"/>
          <p:nvPr/>
        </p:nvSpPr>
        <p:spPr>
          <a:xfrm>
            <a:off x="1060704" y="5047488"/>
            <a:ext cx="2871216" cy="292608"/>
          </a:xfrm>
          <a:prstGeom prst="rect">
            <a:avLst/>
          </a:prstGeom>
          <a:noFill/>
          <a:ln/>
        </p:spPr>
        <p:txBody>
          <a:bodyPr wrap="square" lIns="0" tIns="0" rIns="0" bIns="0" rtlCol="0" anchor="t"/>
          <a:lstStyle/>
          <a:p>
            <a:pPr indent="0" marL="0">
              <a:buNone/>
            </a:pPr>
            <a:r>
              <a:rPr lang="en-US" sz="1300" b="1" dirty="0">
                <a:solidFill>
                  <a:srgbClr val="9FB6DE"/>
                </a:solidFill>
                <a:latin typeface="Meiryo" pitchFamily="34" charset="0"/>
                <a:ea typeface="Meiryo" pitchFamily="34" charset="-122"/>
                <a:cs typeface="Meiryo" pitchFamily="34" charset="-120"/>
              </a:rPr>
              <a:t>対象</a:t>
            </a:r>
            <a:endParaRPr lang="en-US" sz="1300" dirty="0"/>
          </a:p>
        </p:txBody>
      </p:sp>
      <p:sp>
        <p:nvSpPr>
          <p:cNvPr id="8" name="Text 5"/>
          <p:cNvSpPr txBox="1"/>
          <p:nvPr/>
        </p:nvSpPr>
        <p:spPr>
          <a:xfrm>
            <a:off x="1060704" y="5422392"/>
            <a:ext cx="2871216" cy="630936"/>
          </a:xfrm>
          <a:prstGeom prst="rect">
            <a:avLst/>
          </a:prstGeom>
          <a:noFill/>
          <a:ln/>
        </p:spPr>
        <p:txBody>
          <a:bodyPr wrap="square" lIns="0" tIns="0" rIns="0" bIns="0" rtlCol="0" anchor="t"/>
          <a:lstStyle/>
          <a:p>
            <a:pPr indent="0" marL="0">
              <a:lnSpc>
                <a:spcPts val="1650"/>
              </a:lnSpc>
              <a:buNone/>
            </a:pPr>
            <a:r>
              <a:rPr lang="en-US" sz="1100" dirty="0">
                <a:solidFill>
                  <a:srgbClr val="C6D2E6"/>
                </a:solidFill>
                <a:latin typeface="Meiryo" pitchFamily="34" charset="0"/>
                <a:ea typeface="Meiryo" pitchFamily="34" charset="-122"/>
                <a:cs typeface="Meiryo" pitchFamily="34" charset="-120"/>
              </a:rPr>
              <a:t>既設システムの調査・改修を担当する開発者。</a:t>
            </a:r>
            <a:endParaRPr lang="en-US" sz="1100" dirty="0"/>
          </a:p>
          <a:p>
            <a:pPr indent="0" marL="0">
              <a:lnSpc>
                <a:spcPts val="1650"/>
              </a:lnSpc>
              <a:buNone/>
            </a:pPr>
            <a:r>
              <a:rPr lang="en-US" sz="1100" dirty="0">
                <a:solidFill>
                  <a:srgbClr val="C6D2E6"/>
                </a:solidFill>
                <a:latin typeface="Meiryo" pitchFamily="34" charset="0"/>
                <a:ea typeface="Meiryo" pitchFamily="34" charset="-122"/>
                <a:cs typeface="Meiryo" pitchFamily="34" charset="-120"/>
              </a:rPr>
              <a:t>Copilot をまだ使い込んでいない人向け。</a:t>
            </a:r>
            <a:endParaRPr lang="en-US" sz="1100" dirty="0"/>
          </a:p>
        </p:txBody>
      </p:sp>
      <p:sp>
        <p:nvSpPr>
          <p:cNvPr id="9" name="Shape 6"/>
          <p:cNvSpPr/>
          <p:nvPr/>
        </p:nvSpPr>
        <p:spPr>
          <a:xfrm>
            <a:off x="4425696" y="4892040"/>
            <a:ext cx="3346704" cy="1325880"/>
          </a:xfrm>
          <a:prstGeom prst="roundRect">
            <a:avLst>
              <a:gd name="adj" fmla="val 3448"/>
            </a:avLst>
          </a:prstGeom>
          <a:solidFill>
            <a:srgbClr val="1F2831"/>
          </a:solidFill>
          <a:ln w="12700">
            <a:solidFill>
              <a:srgbClr val="1F2831"/>
            </a:solidFill>
            <a:prstDash val="solid"/>
          </a:ln>
        </p:spPr>
      </p:sp>
      <p:sp>
        <p:nvSpPr>
          <p:cNvPr id="10" name="Text 7"/>
          <p:cNvSpPr txBox="1"/>
          <p:nvPr/>
        </p:nvSpPr>
        <p:spPr>
          <a:xfrm>
            <a:off x="4663440" y="5047488"/>
            <a:ext cx="2871216" cy="292608"/>
          </a:xfrm>
          <a:prstGeom prst="rect">
            <a:avLst/>
          </a:prstGeom>
          <a:noFill/>
          <a:ln/>
        </p:spPr>
        <p:txBody>
          <a:bodyPr wrap="square" lIns="0" tIns="0" rIns="0" bIns="0" rtlCol="0" anchor="t"/>
          <a:lstStyle/>
          <a:p>
            <a:pPr indent="0" marL="0">
              <a:buNone/>
            </a:pPr>
            <a:r>
              <a:rPr lang="en-US" sz="1300" b="1" dirty="0">
                <a:solidFill>
                  <a:srgbClr val="9FB6DE"/>
                </a:solidFill>
                <a:latin typeface="Meiryo" pitchFamily="34" charset="0"/>
                <a:ea typeface="Meiryo" pitchFamily="34" charset="-122"/>
                <a:cs typeface="Meiryo" pitchFamily="34" charset="-120"/>
              </a:rPr>
              <a:t>扱う題材</a:t>
            </a:r>
            <a:endParaRPr lang="en-US" sz="1300" dirty="0"/>
          </a:p>
        </p:txBody>
      </p:sp>
      <p:sp>
        <p:nvSpPr>
          <p:cNvPr id="11" name="Text 8"/>
          <p:cNvSpPr txBox="1"/>
          <p:nvPr/>
        </p:nvSpPr>
        <p:spPr>
          <a:xfrm>
            <a:off x="4663440" y="5422392"/>
            <a:ext cx="2871216" cy="630936"/>
          </a:xfrm>
          <a:prstGeom prst="rect">
            <a:avLst/>
          </a:prstGeom>
          <a:noFill/>
          <a:ln/>
        </p:spPr>
        <p:txBody>
          <a:bodyPr wrap="square" lIns="0" tIns="0" rIns="0" bIns="0" rtlCol="0" anchor="t"/>
          <a:lstStyle/>
          <a:p>
            <a:pPr indent="0" marL="0">
              <a:lnSpc>
                <a:spcPts val="1650"/>
              </a:lnSpc>
              <a:buNone/>
            </a:pPr>
            <a:r>
              <a:rPr lang="en-US" sz="1100" dirty="0">
                <a:solidFill>
                  <a:srgbClr val="C6D2E6"/>
                </a:solidFill>
                <a:latin typeface="Meiryo" pitchFamily="34" charset="0"/>
                <a:ea typeface="Meiryo" pitchFamily="34" charset="-122"/>
                <a:cs typeface="Meiryo" pitchFamily="34" charset="-120"/>
              </a:rPr>
              <a:t>複数言語・複数文字コードが混在し、</a:t>
            </a:r>
            <a:endParaRPr lang="en-US" sz="1100" dirty="0"/>
          </a:p>
          <a:p>
            <a:pPr indent="0" marL="0">
              <a:lnSpc>
                <a:spcPts val="1650"/>
              </a:lnSpc>
              <a:buNone/>
            </a:pPr>
            <a:r>
              <a:rPr lang="en-US" sz="1100" dirty="0">
                <a:solidFill>
                  <a:srgbClr val="C6D2E6"/>
                </a:solidFill>
                <a:latin typeface="Meiryo" pitchFamily="34" charset="0"/>
                <a:ea typeface="Meiryo" pitchFamily="34" charset="-122"/>
                <a:cs typeface="Meiryo" pitchFamily="34" charset="-120"/>
              </a:rPr>
              <a:t>ドキュメントが十分でない既設資産。</a:t>
            </a:r>
            <a:endParaRPr lang="en-US" sz="1100" dirty="0"/>
          </a:p>
        </p:txBody>
      </p:sp>
      <p:sp>
        <p:nvSpPr>
          <p:cNvPr id="12" name="Shape 9"/>
          <p:cNvSpPr/>
          <p:nvPr/>
        </p:nvSpPr>
        <p:spPr>
          <a:xfrm>
            <a:off x="8028432" y="4892040"/>
            <a:ext cx="3346704" cy="1325880"/>
          </a:xfrm>
          <a:prstGeom prst="roundRect">
            <a:avLst>
              <a:gd name="adj" fmla="val 3448"/>
            </a:avLst>
          </a:prstGeom>
          <a:solidFill>
            <a:srgbClr val="1F2831"/>
          </a:solidFill>
          <a:ln w="12700">
            <a:solidFill>
              <a:srgbClr val="1F2831"/>
            </a:solidFill>
            <a:prstDash val="solid"/>
          </a:ln>
        </p:spPr>
      </p:sp>
      <p:sp>
        <p:nvSpPr>
          <p:cNvPr id="13" name="Text 10"/>
          <p:cNvSpPr txBox="1"/>
          <p:nvPr/>
        </p:nvSpPr>
        <p:spPr>
          <a:xfrm>
            <a:off x="8266176" y="5047488"/>
            <a:ext cx="2871216" cy="292608"/>
          </a:xfrm>
          <a:prstGeom prst="rect">
            <a:avLst/>
          </a:prstGeom>
          <a:noFill/>
          <a:ln/>
        </p:spPr>
        <p:txBody>
          <a:bodyPr wrap="square" lIns="0" tIns="0" rIns="0" bIns="0" rtlCol="0" anchor="t"/>
          <a:lstStyle/>
          <a:p>
            <a:pPr indent="0" marL="0">
              <a:buNone/>
            </a:pPr>
            <a:r>
              <a:rPr lang="en-US" sz="1300" b="1" dirty="0">
                <a:solidFill>
                  <a:srgbClr val="9FB6DE"/>
                </a:solidFill>
                <a:latin typeface="Meiryo" pitchFamily="34" charset="0"/>
                <a:ea typeface="Meiryo" pitchFamily="34" charset="-122"/>
                <a:cs typeface="Meiryo" pitchFamily="34" charset="-120"/>
              </a:rPr>
              <a:t>持ち帰るもの</a:t>
            </a:r>
            <a:endParaRPr lang="en-US" sz="1300" dirty="0"/>
          </a:p>
        </p:txBody>
      </p:sp>
      <p:sp>
        <p:nvSpPr>
          <p:cNvPr id="14" name="Text 11"/>
          <p:cNvSpPr txBox="1"/>
          <p:nvPr/>
        </p:nvSpPr>
        <p:spPr>
          <a:xfrm>
            <a:off x="8266176" y="5422392"/>
            <a:ext cx="2871216" cy="630936"/>
          </a:xfrm>
          <a:prstGeom prst="rect">
            <a:avLst/>
          </a:prstGeom>
          <a:noFill/>
          <a:ln/>
        </p:spPr>
        <p:txBody>
          <a:bodyPr wrap="square" lIns="0" tIns="0" rIns="0" bIns="0" rtlCol="0" anchor="t"/>
          <a:lstStyle/>
          <a:p>
            <a:pPr indent="0" marL="0">
              <a:lnSpc>
                <a:spcPts val="1650"/>
              </a:lnSpc>
              <a:buNone/>
            </a:pPr>
            <a:r>
              <a:rPr lang="en-US" sz="1100" dirty="0">
                <a:solidFill>
                  <a:srgbClr val="C6D2E6"/>
                </a:solidFill>
                <a:latin typeface="Meiryo" pitchFamily="34" charset="0"/>
                <a:ea typeface="Meiryo" pitchFamily="34" charset="-122"/>
                <a:cs typeface="Meiryo" pitchFamily="34" charset="-120"/>
              </a:rPr>
              <a:t>発散→収束の手順、どこで止めるかの</a:t>
            </a:r>
            <a:endParaRPr lang="en-US" sz="1100" dirty="0"/>
          </a:p>
          <a:p>
            <a:pPr indent="0" marL="0">
              <a:lnSpc>
                <a:spcPts val="1650"/>
              </a:lnSpc>
              <a:buNone/>
            </a:pPr>
            <a:r>
              <a:rPr lang="en-US" sz="1100" dirty="0">
                <a:solidFill>
                  <a:srgbClr val="C6D2E6"/>
                </a:solidFill>
                <a:latin typeface="Meiryo" pitchFamily="34" charset="0"/>
                <a:ea typeface="Meiryo" pitchFamily="34" charset="-122"/>
                <a:cs typeface="Meiryo" pitchFamily="34" charset="-120"/>
              </a:rPr>
              <a:t>判断基準、明日から効く操作のコツ。</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01 ／ 結論と全体像</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2分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広げて、絞って、やめる。</a:t>
            </a:r>
            <a:endParaRPr lang="en-US" sz="3000" dirty="0"/>
          </a:p>
        </p:txBody>
      </p:sp>
      <p:sp>
        <p:nvSpPr>
          <p:cNvPr id="6" name="Shape 3"/>
          <p:cNvSpPr/>
          <p:nvPr/>
        </p:nvSpPr>
        <p:spPr>
          <a:xfrm>
            <a:off x="1444752" y="1481328"/>
            <a:ext cx="9326880" cy="1847088"/>
          </a:xfrm>
          <a:prstGeom prst="rect">
            <a:avLst/>
          </a:prstGeom>
          <a:ln w="9525">
            <a:solidFill>
              <a:srgbClr val="626D72"/>
            </a:solidFill>
            <a:prstDash val="dash"/>
          </a:ln>
        </p:spPr>
      </p:sp>
      <p:sp>
        <p:nvSpPr>
          <p:cNvPr id="7" name="Text 4"/>
          <p:cNvSpPr txBox="1"/>
          <p:nvPr/>
        </p:nvSpPr>
        <p:spPr>
          <a:xfrm>
            <a:off x="1572768" y="1536192"/>
            <a:ext cx="9052560" cy="237744"/>
          </a:xfrm>
          <a:prstGeom prst="rect">
            <a:avLst/>
          </a:prstGeom>
          <a:noFill/>
          <a:ln/>
        </p:spPr>
        <p:txBody>
          <a:bodyPr wrap="square" lIns="0" tIns="0" rIns="0" bIns="0" rtlCol="0" anchor="ctr"/>
          <a:lstStyle/>
          <a:p>
            <a:pPr indent="0" marL="0">
              <a:buNone/>
            </a:pPr>
            <a:r>
              <a:rPr lang="en-US" sz="950" dirty="0">
                <a:solidFill>
                  <a:srgbClr val="626D72"/>
                </a:solidFill>
                <a:latin typeface="Meiryo" pitchFamily="34" charset="0"/>
                <a:ea typeface="Meiryo" pitchFamily="34" charset="-122"/>
                <a:cs typeface="Meiryo" pitchFamily="34" charset="-120"/>
              </a:rPr>
              <a:t>同じ会話の中 ── やりとり・添付・前提がぜんぶ積み上がる（＝コンテクスト）</a:t>
            </a:r>
            <a:endParaRPr lang="en-US" sz="950" dirty="0"/>
          </a:p>
        </p:txBody>
      </p:sp>
      <p:sp>
        <p:nvSpPr>
          <p:cNvPr id="8" name="Shape 5"/>
          <p:cNvSpPr/>
          <p:nvPr/>
        </p:nvSpPr>
        <p:spPr>
          <a:xfrm>
            <a:off x="1627632" y="1828800"/>
            <a:ext cx="8961120" cy="1389888"/>
          </a:xfrm>
          <a:prstGeom prst="diamond">
            <a:avLst/>
          </a:prstGeom>
          <a:solidFill>
            <a:srgbClr val="E7ECF7"/>
          </a:solidFill>
          <a:ln w="15875">
            <a:solidFill>
              <a:srgbClr val="27488F"/>
            </a:solidFill>
            <a:prstDash val="solid"/>
          </a:ln>
        </p:spPr>
      </p:sp>
      <p:sp>
        <p:nvSpPr>
          <p:cNvPr id="9" name="Shape 6"/>
          <p:cNvSpPr/>
          <p:nvPr/>
        </p:nvSpPr>
        <p:spPr>
          <a:xfrm>
            <a:off x="6108192" y="1828800"/>
            <a:ext cx="0" cy="1389888"/>
          </a:xfrm>
          <a:prstGeom prst="line">
            <a:avLst/>
          </a:prstGeom>
          <a:noFill/>
          <a:ln w="9525">
            <a:solidFill>
              <a:srgbClr val="27488F"/>
            </a:solidFill>
            <a:prstDash val="dash"/>
          </a:ln>
        </p:spPr>
      </p:sp>
      <p:sp>
        <p:nvSpPr>
          <p:cNvPr id="10" name="Text 7"/>
          <p:cNvSpPr txBox="1"/>
          <p:nvPr/>
        </p:nvSpPr>
        <p:spPr>
          <a:xfrm>
            <a:off x="2834640" y="2231136"/>
            <a:ext cx="1645920" cy="384048"/>
          </a:xfrm>
          <a:prstGeom prst="rect">
            <a:avLst/>
          </a:prstGeom>
          <a:noFill/>
          <a:ln/>
        </p:spPr>
        <p:txBody>
          <a:bodyPr wrap="square" lIns="0" tIns="0" rIns="0" bIns="0" rtlCol="0" anchor="ctr"/>
          <a:lstStyle/>
          <a:p>
            <a:pPr algn="ctr" indent="0" marL="0">
              <a:buNone/>
            </a:pPr>
            <a:r>
              <a:rPr lang="en-US" sz="2000" b="1" dirty="0">
                <a:solidFill>
                  <a:srgbClr val="8D6408"/>
                </a:solidFill>
                <a:latin typeface="Meiryo" pitchFamily="34" charset="0"/>
                <a:ea typeface="Meiryo" pitchFamily="34" charset="-122"/>
                <a:cs typeface="Meiryo" pitchFamily="34" charset="-120"/>
              </a:rPr>
              <a:t>発散</a:t>
            </a:r>
            <a:endParaRPr lang="en-US" sz="2000" dirty="0"/>
          </a:p>
        </p:txBody>
      </p:sp>
      <p:sp>
        <p:nvSpPr>
          <p:cNvPr id="11" name="Text 8"/>
          <p:cNvSpPr txBox="1"/>
          <p:nvPr/>
        </p:nvSpPr>
        <p:spPr>
          <a:xfrm>
            <a:off x="2834640" y="2633472"/>
            <a:ext cx="1645920" cy="237744"/>
          </a:xfrm>
          <a:prstGeom prst="rect">
            <a:avLst/>
          </a:prstGeom>
          <a:noFill/>
          <a:ln/>
        </p:spPr>
        <p:txBody>
          <a:bodyPr wrap="square" lIns="0" tIns="0" rIns="0" bIns="0" rtlCol="0" anchor="ctr"/>
          <a:lstStyle/>
          <a:p>
            <a:pPr algn="ctr" indent="0" marL="0">
              <a:buNone/>
            </a:pPr>
            <a:r>
              <a:rPr lang="en-US" sz="1000" dirty="0">
                <a:solidFill>
                  <a:srgbClr val="626D72"/>
                </a:solidFill>
                <a:latin typeface="Meiryo" pitchFamily="34" charset="0"/>
                <a:ea typeface="Meiryo" pitchFamily="34" charset="-122"/>
                <a:cs typeface="Meiryo" pitchFamily="34" charset="-120"/>
              </a:rPr>
              <a:t>候補を広げる</a:t>
            </a:r>
            <a:endParaRPr lang="en-US" sz="1000" dirty="0"/>
          </a:p>
        </p:txBody>
      </p:sp>
      <p:sp>
        <p:nvSpPr>
          <p:cNvPr id="12" name="Text 9"/>
          <p:cNvSpPr txBox="1"/>
          <p:nvPr/>
        </p:nvSpPr>
        <p:spPr>
          <a:xfrm>
            <a:off x="7772400" y="2231136"/>
            <a:ext cx="1645920" cy="384048"/>
          </a:xfrm>
          <a:prstGeom prst="rect">
            <a:avLst/>
          </a:prstGeom>
          <a:noFill/>
          <a:ln/>
        </p:spPr>
        <p:txBody>
          <a:bodyPr wrap="square" lIns="0" tIns="0" rIns="0" bIns="0" rtlCol="0" anchor="ctr"/>
          <a:lstStyle/>
          <a:p>
            <a:pPr algn="ctr" indent="0" marL="0">
              <a:buNone/>
            </a:pPr>
            <a:r>
              <a:rPr lang="en-US" sz="2000" b="1" dirty="0">
                <a:solidFill>
                  <a:srgbClr val="1C6E52"/>
                </a:solidFill>
                <a:latin typeface="Meiryo" pitchFamily="34" charset="0"/>
                <a:ea typeface="Meiryo" pitchFamily="34" charset="-122"/>
                <a:cs typeface="Meiryo" pitchFamily="34" charset="-120"/>
              </a:rPr>
              <a:t>収束</a:t>
            </a:r>
            <a:endParaRPr lang="en-US" sz="2000" dirty="0"/>
          </a:p>
        </p:txBody>
      </p:sp>
      <p:sp>
        <p:nvSpPr>
          <p:cNvPr id="13" name="Text 10"/>
          <p:cNvSpPr txBox="1"/>
          <p:nvPr/>
        </p:nvSpPr>
        <p:spPr>
          <a:xfrm>
            <a:off x="7772400" y="2633472"/>
            <a:ext cx="1645920" cy="237744"/>
          </a:xfrm>
          <a:prstGeom prst="rect">
            <a:avLst/>
          </a:prstGeom>
          <a:noFill/>
          <a:ln/>
        </p:spPr>
        <p:txBody>
          <a:bodyPr wrap="square" lIns="0" tIns="0" rIns="0" bIns="0" rtlCol="0" anchor="ctr"/>
          <a:lstStyle/>
          <a:p>
            <a:pPr algn="ctr" indent="0" marL="0">
              <a:buNone/>
            </a:pPr>
            <a:r>
              <a:rPr lang="en-US" sz="1000" dirty="0">
                <a:solidFill>
                  <a:srgbClr val="626D72"/>
                </a:solidFill>
                <a:latin typeface="Meiryo" pitchFamily="34" charset="0"/>
                <a:ea typeface="Meiryo" pitchFamily="34" charset="-122"/>
                <a:cs typeface="Meiryo" pitchFamily="34" charset="-120"/>
              </a:rPr>
              <a:t>切り分けて絞る</a:t>
            </a:r>
            <a:endParaRPr lang="en-US" sz="1000" dirty="0"/>
          </a:p>
        </p:txBody>
      </p:sp>
      <p:sp>
        <p:nvSpPr>
          <p:cNvPr id="14" name="Text 11"/>
          <p:cNvSpPr txBox="1"/>
          <p:nvPr/>
        </p:nvSpPr>
        <p:spPr>
          <a:xfrm>
            <a:off x="274320" y="2231136"/>
            <a:ext cx="1097280" cy="548640"/>
          </a:xfrm>
          <a:prstGeom prst="rect">
            <a:avLst/>
          </a:prstGeom>
          <a:noFill/>
          <a:ln/>
        </p:spPr>
        <p:txBody>
          <a:bodyPr wrap="square" lIns="0" tIns="0" rIns="0" bIns="0" rtlCol="0" anchor="ctr"/>
          <a:lstStyle/>
          <a:p>
            <a:pPr algn="r" indent="0" marL="0">
              <a:lnSpc>
                <a:spcPts val="1500"/>
              </a:lnSpc>
              <a:buNone/>
            </a:pPr>
            <a:r>
              <a:rPr lang="en-US" sz="1050" dirty="0">
                <a:solidFill>
                  <a:srgbClr val="171A1C"/>
                </a:solidFill>
                <a:latin typeface="Meiryo" pitchFamily="34" charset="0"/>
                <a:ea typeface="Meiryo" pitchFamily="34" charset="-122"/>
                <a:cs typeface="Meiryo" pitchFamily="34" charset="-120"/>
              </a:rPr>
              <a:t>調べたいこと</a:t>
            </a:r>
            <a:endParaRPr lang="en-US" sz="1050" dirty="0"/>
          </a:p>
          <a:p>
            <a:pPr algn="r" indent="0" marL="0">
              <a:lnSpc>
                <a:spcPts val="1500"/>
              </a:lnSpc>
              <a:buNone/>
            </a:pPr>
            <a:r>
              <a:rPr lang="en-US" sz="1050" dirty="0">
                <a:solidFill>
                  <a:srgbClr val="171A1C"/>
                </a:solidFill>
                <a:latin typeface="Meiryo" pitchFamily="34" charset="0"/>
                <a:ea typeface="Meiryo" pitchFamily="34" charset="-122"/>
                <a:cs typeface="Meiryo" pitchFamily="34" charset="-120"/>
              </a:rPr>
              <a:t>（業務の言葉で）</a:t>
            </a:r>
            <a:endParaRPr lang="en-US" sz="1050" dirty="0"/>
          </a:p>
        </p:txBody>
      </p:sp>
      <p:sp>
        <p:nvSpPr>
          <p:cNvPr id="15" name="Shape 12"/>
          <p:cNvSpPr/>
          <p:nvPr/>
        </p:nvSpPr>
        <p:spPr>
          <a:xfrm>
            <a:off x="1389888" y="2523744"/>
            <a:ext cx="201168" cy="0"/>
          </a:xfrm>
          <a:prstGeom prst="line">
            <a:avLst/>
          </a:prstGeom>
          <a:noFill/>
          <a:ln w="15875">
            <a:solidFill>
              <a:srgbClr val="27488F"/>
            </a:solidFill>
            <a:prstDash val="solid"/>
            <a:tailEnd type="triangle"/>
          </a:ln>
        </p:spPr>
      </p:sp>
      <p:sp>
        <p:nvSpPr>
          <p:cNvPr id="16" name="Shape 13"/>
          <p:cNvSpPr/>
          <p:nvPr/>
        </p:nvSpPr>
        <p:spPr>
          <a:xfrm>
            <a:off x="10625328" y="2523744"/>
            <a:ext cx="201168" cy="0"/>
          </a:xfrm>
          <a:prstGeom prst="line">
            <a:avLst/>
          </a:prstGeom>
          <a:noFill/>
          <a:ln w="15875">
            <a:solidFill>
              <a:srgbClr val="27488F"/>
            </a:solidFill>
            <a:prstDash val="solid"/>
            <a:tailEnd type="triangle"/>
          </a:ln>
        </p:spPr>
      </p:sp>
      <p:sp>
        <p:nvSpPr>
          <p:cNvPr id="17" name="Text 14"/>
          <p:cNvSpPr txBox="1"/>
          <p:nvPr/>
        </p:nvSpPr>
        <p:spPr>
          <a:xfrm>
            <a:off x="10881360" y="2231136"/>
            <a:ext cx="1188720" cy="548640"/>
          </a:xfrm>
          <a:prstGeom prst="rect">
            <a:avLst/>
          </a:prstGeom>
          <a:noFill/>
          <a:ln/>
        </p:spPr>
        <p:txBody>
          <a:bodyPr wrap="square" lIns="0" tIns="0" rIns="0" bIns="0" rtlCol="0" anchor="ctr"/>
          <a:lstStyle/>
          <a:p>
            <a:pPr indent="0" marL="0">
              <a:lnSpc>
                <a:spcPts val="1500"/>
              </a:lnSpc>
              <a:buNone/>
            </a:pPr>
            <a:r>
              <a:rPr lang="en-US" sz="1050" dirty="0">
                <a:solidFill>
                  <a:srgbClr val="171A1C"/>
                </a:solidFill>
                <a:latin typeface="Meiryo" pitchFamily="34" charset="0"/>
                <a:ea typeface="Meiryo" pitchFamily="34" charset="-122"/>
                <a:cs typeface="Meiryo" pitchFamily="34" charset="-120"/>
              </a:rPr>
              <a:t>結論</a:t>
            </a:r>
            <a:endParaRPr lang="en-US" sz="1050" dirty="0"/>
          </a:p>
          <a:p>
            <a:pPr indent="0" marL="0">
              <a:lnSpc>
                <a:spcPts val="1500"/>
              </a:lnSpc>
              <a:buNone/>
            </a:pPr>
            <a:r>
              <a:rPr lang="en-US" sz="1050" dirty="0">
                <a:solidFill>
                  <a:srgbClr val="171A1C"/>
                </a:solidFill>
                <a:latin typeface="Meiryo" pitchFamily="34" charset="0"/>
                <a:ea typeface="Meiryo" pitchFamily="34" charset="-122"/>
                <a:cs typeface="Meiryo" pitchFamily="34" charset="-120"/>
              </a:rPr>
              <a:t>＋ 達成率の判断</a:t>
            </a:r>
            <a:endParaRPr lang="en-US" sz="1050" dirty="0"/>
          </a:p>
        </p:txBody>
      </p:sp>
      <p:sp>
        <p:nvSpPr>
          <p:cNvPr id="18" name="Shape 15"/>
          <p:cNvSpPr/>
          <p:nvPr/>
        </p:nvSpPr>
        <p:spPr>
          <a:xfrm>
            <a:off x="1627632" y="3493008"/>
            <a:ext cx="8961120" cy="0"/>
          </a:xfrm>
          <a:prstGeom prst="line">
            <a:avLst/>
          </a:prstGeom>
          <a:noFill/>
          <a:ln w="12700">
            <a:solidFill>
              <a:srgbClr val="27488F"/>
            </a:solidFill>
            <a:prstDash val="dash"/>
            <a:headEnd type="triangle"/>
          </a:ln>
        </p:spPr>
      </p:sp>
      <p:sp>
        <p:nvSpPr>
          <p:cNvPr id="19" name="Text 16"/>
          <p:cNvSpPr txBox="1"/>
          <p:nvPr/>
        </p:nvSpPr>
        <p:spPr>
          <a:xfrm>
            <a:off x="1627632" y="3529584"/>
            <a:ext cx="8961120" cy="237744"/>
          </a:xfrm>
          <a:prstGeom prst="rect">
            <a:avLst/>
          </a:prstGeom>
          <a:noFill/>
          <a:ln/>
        </p:spPr>
        <p:txBody>
          <a:bodyPr wrap="square" lIns="0" tIns="0" rIns="0" bIns="0" rtlCol="0" anchor="ctr"/>
          <a:lstStyle/>
          <a:p>
            <a:pPr algn="ctr" indent="0" marL="0">
              <a:buNone/>
            </a:pPr>
            <a:r>
              <a:rPr lang="en-US" sz="1000" dirty="0">
                <a:solidFill>
                  <a:srgbClr val="626D72"/>
                </a:solidFill>
                <a:latin typeface="Meiryo" pitchFamily="34" charset="0"/>
                <a:ea typeface="Meiryo" pitchFamily="34" charset="-122"/>
                <a:cs typeface="Meiryo" pitchFamily="34" charset="-120"/>
              </a:rPr>
              <a:t>問い方を変える／確かめた結果を戻す ── 何周でも回す</a:t>
            </a:r>
            <a:endParaRPr lang="en-US" sz="1000" dirty="0"/>
          </a:p>
        </p:txBody>
      </p:sp>
      <p:sp>
        <p:nvSpPr>
          <p:cNvPr id="20" name="Shape 17"/>
          <p:cNvSpPr/>
          <p:nvPr/>
        </p:nvSpPr>
        <p:spPr>
          <a:xfrm>
            <a:off x="566928" y="4069080"/>
            <a:ext cx="310896" cy="310896"/>
          </a:xfrm>
          <a:prstGeom prst="ellipse">
            <a:avLst/>
          </a:prstGeom>
          <a:solidFill>
            <a:srgbClr val="27488F"/>
          </a:solidFill>
          <a:ln w="12700">
            <a:solidFill>
              <a:srgbClr val="27488F"/>
            </a:solidFill>
            <a:prstDash val="solid"/>
          </a:ln>
        </p:spPr>
      </p:sp>
      <p:sp>
        <p:nvSpPr>
          <p:cNvPr id="21" name="Text 18"/>
          <p:cNvSpPr txBox="1"/>
          <p:nvPr/>
        </p:nvSpPr>
        <p:spPr>
          <a:xfrm>
            <a:off x="566928" y="406908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1</a:t>
            </a:r>
            <a:endParaRPr lang="en-US" sz="1150" dirty="0"/>
          </a:p>
        </p:txBody>
      </p:sp>
      <p:sp>
        <p:nvSpPr>
          <p:cNvPr id="22" name="Text 19"/>
          <p:cNvSpPr txBox="1"/>
          <p:nvPr/>
        </p:nvSpPr>
        <p:spPr>
          <a:xfrm>
            <a:off x="1005840" y="4041648"/>
            <a:ext cx="4846320" cy="768096"/>
          </a:xfrm>
          <a:prstGeom prst="rect">
            <a:avLst/>
          </a:prstGeom>
          <a:noFill/>
          <a:ln/>
        </p:spPr>
        <p:txBody>
          <a:bodyPr wrap="square" lIns="0" tIns="0" rIns="0" bIns="0" rtlCol="0" anchor="t"/>
          <a:lstStyle/>
          <a:p>
            <a:pPr indent="0" marL="0">
              <a:lnSpc>
                <a:spcPts val="1700"/>
              </a:lnSpc>
              <a:buNone/>
            </a:pPr>
            <a:r>
              <a:rPr lang="en-US" sz="1150" b="1" dirty="0">
                <a:solidFill>
                  <a:srgbClr val="171A1C"/>
                </a:solidFill>
                <a:latin typeface="Meiryo" pitchFamily="34" charset="0"/>
                <a:ea typeface="Meiryo" pitchFamily="34" charset="-122"/>
                <a:cs typeface="Meiryo" pitchFamily="34" charset="-120"/>
              </a:rPr>
              <a:t>Copilot は既設システムを知らない。</a:t>
            </a:r>
            <a:pPr indent="0" marL="0">
              <a:lnSpc>
                <a:spcPts val="1700"/>
              </a:lnSpc>
              <a:buNone/>
            </a:pPr>
            <a:r>
              <a:rPr lang="en-US" sz="1150" dirty="0">
                <a:solidFill>
                  <a:srgbClr val="394246"/>
                </a:solidFill>
                <a:latin typeface="Meiryo" pitchFamily="34" charset="0"/>
                <a:ea typeface="Meiryo" pitchFamily="34" charset="-122"/>
                <a:cs typeface="Meiryo" pitchFamily="34" charset="-120"/>
              </a:rPr>
              <a:t>　渡した分しか知らない。だから最初に「渡して広げる」工程が要る。</a:t>
            </a:r>
            <a:endParaRPr lang="en-US" sz="1150" dirty="0"/>
          </a:p>
        </p:txBody>
      </p:sp>
      <p:sp>
        <p:nvSpPr>
          <p:cNvPr id="23" name="Shape 20"/>
          <p:cNvSpPr/>
          <p:nvPr/>
        </p:nvSpPr>
        <p:spPr>
          <a:xfrm>
            <a:off x="6327648" y="4069080"/>
            <a:ext cx="310896" cy="310896"/>
          </a:xfrm>
          <a:prstGeom prst="ellipse">
            <a:avLst/>
          </a:prstGeom>
          <a:solidFill>
            <a:srgbClr val="27488F"/>
          </a:solidFill>
          <a:ln w="12700">
            <a:solidFill>
              <a:srgbClr val="27488F"/>
            </a:solidFill>
            <a:prstDash val="solid"/>
          </a:ln>
        </p:spPr>
      </p:sp>
      <p:sp>
        <p:nvSpPr>
          <p:cNvPr id="24" name="Text 21"/>
          <p:cNvSpPr txBox="1"/>
          <p:nvPr/>
        </p:nvSpPr>
        <p:spPr>
          <a:xfrm>
            <a:off x="6327648" y="406908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2</a:t>
            </a:r>
            <a:endParaRPr lang="en-US" sz="1150" dirty="0"/>
          </a:p>
        </p:txBody>
      </p:sp>
      <p:sp>
        <p:nvSpPr>
          <p:cNvPr id="25" name="Text 22"/>
          <p:cNvSpPr txBox="1"/>
          <p:nvPr/>
        </p:nvSpPr>
        <p:spPr>
          <a:xfrm>
            <a:off x="6766560" y="4041648"/>
            <a:ext cx="4846320" cy="768096"/>
          </a:xfrm>
          <a:prstGeom prst="rect">
            <a:avLst/>
          </a:prstGeom>
          <a:noFill/>
          <a:ln/>
        </p:spPr>
        <p:txBody>
          <a:bodyPr wrap="square" lIns="0" tIns="0" rIns="0" bIns="0" rtlCol="0" anchor="t"/>
          <a:lstStyle/>
          <a:p>
            <a:pPr indent="0" marL="0">
              <a:lnSpc>
                <a:spcPts val="1700"/>
              </a:lnSpc>
              <a:buNone/>
            </a:pPr>
            <a:r>
              <a:rPr lang="en-US" sz="1150" b="1" dirty="0">
                <a:solidFill>
                  <a:srgbClr val="171A1C"/>
                </a:solidFill>
                <a:latin typeface="Meiryo" pitchFamily="34" charset="0"/>
                <a:ea typeface="Meiryo" pitchFamily="34" charset="-122"/>
                <a:cs typeface="Meiryo" pitchFamily="34" charset="-120"/>
              </a:rPr>
              <a:t>発散の手段は、まとめた文書の読み込み。</a:t>
            </a:r>
            <a:pPr indent="0" marL="0">
              <a:lnSpc>
                <a:spcPts val="1700"/>
              </a:lnSpc>
              <a:buNone/>
            </a:pPr>
            <a:r>
              <a:rPr lang="en-US" sz="1150" dirty="0">
                <a:solidFill>
                  <a:srgbClr val="394246"/>
                </a:solidFill>
                <a:latin typeface="Meiryo" pitchFamily="34" charset="0"/>
                <a:ea typeface="Meiryo" pitchFamily="34" charset="-122"/>
                <a:cs typeface="Meiryo" pitchFamily="34" charset="-120"/>
              </a:rPr>
              <a:t>　実装をまとめた1本と、設定・データをまとめた1本（仮称 merge_source ／ merge_config）。</a:t>
            </a:r>
            <a:endParaRPr lang="en-US" sz="1150" dirty="0"/>
          </a:p>
        </p:txBody>
      </p:sp>
      <p:sp>
        <p:nvSpPr>
          <p:cNvPr id="26" name="Shape 23"/>
          <p:cNvSpPr/>
          <p:nvPr/>
        </p:nvSpPr>
        <p:spPr>
          <a:xfrm>
            <a:off x="566928" y="4910328"/>
            <a:ext cx="310896" cy="310896"/>
          </a:xfrm>
          <a:prstGeom prst="ellipse">
            <a:avLst/>
          </a:prstGeom>
          <a:solidFill>
            <a:srgbClr val="27488F"/>
          </a:solidFill>
          <a:ln w="12700">
            <a:solidFill>
              <a:srgbClr val="27488F"/>
            </a:solidFill>
            <a:prstDash val="solid"/>
          </a:ln>
        </p:spPr>
      </p:sp>
      <p:sp>
        <p:nvSpPr>
          <p:cNvPr id="27" name="Text 24"/>
          <p:cNvSpPr txBox="1"/>
          <p:nvPr/>
        </p:nvSpPr>
        <p:spPr>
          <a:xfrm>
            <a:off x="566928" y="491032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3</a:t>
            </a:r>
            <a:endParaRPr lang="en-US" sz="1150" dirty="0"/>
          </a:p>
        </p:txBody>
      </p:sp>
      <p:sp>
        <p:nvSpPr>
          <p:cNvPr id="28" name="Text 25"/>
          <p:cNvSpPr txBox="1"/>
          <p:nvPr/>
        </p:nvSpPr>
        <p:spPr>
          <a:xfrm>
            <a:off x="1005840" y="4882896"/>
            <a:ext cx="4846320" cy="768096"/>
          </a:xfrm>
          <a:prstGeom prst="rect">
            <a:avLst/>
          </a:prstGeom>
          <a:noFill/>
          <a:ln/>
        </p:spPr>
        <p:txBody>
          <a:bodyPr wrap="square" lIns="0" tIns="0" rIns="0" bIns="0" rtlCol="0" anchor="t"/>
          <a:lstStyle/>
          <a:p>
            <a:pPr indent="0" marL="0">
              <a:lnSpc>
                <a:spcPts val="1700"/>
              </a:lnSpc>
              <a:buNone/>
            </a:pPr>
            <a:r>
              <a:rPr lang="en-US" sz="1150" b="1" dirty="0">
                <a:solidFill>
                  <a:srgbClr val="171A1C"/>
                </a:solidFill>
                <a:latin typeface="Meiryo" pitchFamily="34" charset="0"/>
                <a:ea typeface="Meiryo" pitchFamily="34" charset="-122"/>
                <a:cs typeface="Meiryo" pitchFamily="34" charset="-120"/>
              </a:rPr>
              <a:t>収束＝目的外を落として範囲を確定する「切り分け」。</a:t>
            </a:r>
            <a:pPr indent="0" marL="0">
              <a:lnSpc>
                <a:spcPts val="1700"/>
              </a:lnSpc>
              <a:buNone/>
            </a:pPr>
            <a:r>
              <a:rPr lang="en-US" sz="1150" dirty="0">
                <a:solidFill>
                  <a:srgbClr val="394246"/>
                </a:solidFill>
                <a:latin typeface="Meiryo" pitchFamily="34" charset="0"/>
                <a:ea typeface="Meiryo" pitchFamily="34" charset="-122"/>
                <a:cs typeface="Meiryo" pitchFamily="34" charset="-120"/>
              </a:rPr>
              <a:t>　手段は、対話と手元の検索コマンドの併用。</a:t>
            </a:r>
            <a:endParaRPr lang="en-US" sz="1150" dirty="0"/>
          </a:p>
        </p:txBody>
      </p:sp>
      <p:sp>
        <p:nvSpPr>
          <p:cNvPr id="29" name="Shape 26"/>
          <p:cNvSpPr/>
          <p:nvPr/>
        </p:nvSpPr>
        <p:spPr>
          <a:xfrm>
            <a:off x="6327648" y="4910328"/>
            <a:ext cx="310896" cy="310896"/>
          </a:xfrm>
          <a:prstGeom prst="ellipse">
            <a:avLst/>
          </a:prstGeom>
          <a:solidFill>
            <a:srgbClr val="27488F"/>
          </a:solidFill>
          <a:ln w="12700">
            <a:solidFill>
              <a:srgbClr val="27488F"/>
            </a:solidFill>
            <a:prstDash val="solid"/>
          </a:ln>
        </p:spPr>
      </p:sp>
      <p:sp>
        <p:nvSpPr>
          <p:cNvPr id="30" name="Text 27"/>
          <p:cNvSpPr txBox="1"/>
          <p:nvPr/>
        </p:nvSpPr>
        <p:spPr>
          <a:xfrm>
            <a:off x="6327648" y="491032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4</a:t>
            </a:r>
            <a:endParaRPr lang="en-US" sz="1150" dirty="0"/>
          </a:p>
        </p:txBody>
      </p:sp>
      <p:sp>
        <p:nvSpPr>
          <p:cNvPr id="31" name="Text 28"/>
          <p:cNvSpPr txBox="1"/>
          <p:nvPr/>
        </p:nvSpPr>
        <p:spPr>
          <a:xfrm>
            <a:off x="6766560" y="4882896"/>
            <a:ext cx="4846320" cy="768096"/>
          </a:xfrm>
          <a:prstGeom prst="rect">
            <a:avLst/>
          </a:prstGeom>
          <a:noFill/>
          <a:ln/>
        </p:spPr>
        <p:txBody>
          <a:bodyPr wrap="square" lIns="0" tIns="0" rIns="0" bIns="0" rtlCol="0" anchor="t"/>
          <a:lstStyle/>
          <a:p>
            <a:pPr indent="0" marL="0">
              <a:lnSpc>
                <a:spcPts val="1700"/>
              </a:lnSpc>
              <a:buNone/>
            </a:pPr>
            <a:r>
              <a:rPr lang="en-US" sz="1150" b="1" dirty="0">
                <a:solidFill>
                  <a:srgbClr val="171A1C"/>
                </a:solidFill>
                <a:latin typeface="Meiryo" pitchFamily="34" charset="0"/>
                <a:ea typeface="Meiryo" pitchFamily="34" charset="-122"/>
                <a:cs typeface="Meiryo" pitchFamily="34" charset="-120"/>
              </a:rPr>
              <a:t>止めどころは「目的の何割に届いたか」。</a:t>
            </a:r>
            <a:pPr indent="0" marL="0">
              <a:lnSpc>
                <a:spcPts val="1700"/>
              </a:lnSpc>
              <a:buNone/>
            </a:pPr>
            <a:r>
              <a:rPr lang="en-US" sz="1150" dirty="0">
                <a:solidFill>
                  <a:srgbClr val="394246"/>
                </a:solidFill>
                <a:latin typeface="Meiryo" pitchFamily="34" charset="0"/>
                <a:ea typeface="Meiryo" pitchFamily="34" charset="-122"/>
                <a:cs typeface="Meiryo" pitchFamily="34" charset="-120"/>
              </a:rPr>
              <a:t>　100% は狙わない。6割でよい場面と、8割まで要る場面がある。</a:t>
            </a:r>
            <a:endParaRPr lang="en-US" sz="1150" dirty="0"/>
          </a:p>
        </p:txBody>
      </p:sp>
      <p:sp>
        <p:nvSpPr>
          <p:cNvPr id="32" name="Shape 29"/>
          <p:cNvSpPr/>
          <p:nvPr/>
        </p:nvSpPr>
        <p:spPr>
          <a:xfrm>
            <a:off x="566928" y="5779008"/>
            <a:ext cx="11055096" cy="658368"/>
          </a:xfrm>
          <a:prstGeom prst="roundRect">
            <a:avLst>
              <a:gd name="adj" fmla="val 6944"/>
            </a:avLst>
          </a:prstGeom>
          <a:solidFill>
            <a:srgbClr val="F2F4F3"/>
          </a:solidFill>
          <a:ln w="12700">
            <a:solidFill>
              <a:srgbClr val="F2F4F3"/>
            </a:solidFill>
            <a:prstDash val="solid"/>
          </a:ln>
        </p:spPr>
      </p:sp>
      <p:sp>
        <p:nvSpPr>
          <p:cNvPr id="33" name="Text 30"/>
          <p:cNvSpPr txBox="1"/>
          <p:nvPr/>
        </p:nvSpPr>
        <p:spPr>
          <a:xfrm>
            <a:off x="804672" y="5943600"/>
            <a:ext cx="10607040" cy="365760"/>
          </a:xfrm>
          <a:prstGeom prst="rect">
            <a:avLst/>
          </a:prstGeom>
          <a:noFill/>
          <a:ln/>
        </p:spPr>
        <p:txBody>
          <a:bodyPr wrap="square" lIns="0" tIns="0" rIns="0" bIns="0" rtlCol="0" anchor="ctr"/>
          <a:lstStyle/>
          <a:p>
            <a:pPr indent="0" marL="0">
              <a:buNone/>
            </a:pPr>
            <a:r>
              <a:rPr lang="en-US" sz="1150" b="1" dirty="0">
                <a:solidFill>
                  <a:srgbClr val="171A1C"/>
                </a:solidFill>
                <a:latin typeface="Meiryo" pitchFamily="34" charset="0"/>
                <a:ea typeface="Meiryo" pitchFamily="34" charset="-122"/>
                <a:cs typeface="Meiryo" pitchFamily="34" charset="-120"/>
              </a:rPr>
              <a:t>要点は、発散と収束を混ぜないこと。</a:t>
            </a:r>
            <a:pPr indent="0" marL="0">
              <a:buNone/>
            </a:pPr>
            <a:r>
              <a:rPr lang="en-US" sz="1150" dirty="0">
                <a:solidFill>
                  <a:srgbClr val="394246"/>
                </a:solidFill>
                <a:latin typeface="Meiryo" pitchFamily="34" charset="0"/>
                <a:ea typeface="Meiryo" pitchFamily="34" charset="-122"/>
                <a:cs typeface="Meiryo" pitchFamily="34" charset="-120"/>
              </a:rPr>
              <a:t>　「関係ありそうなものを全部挙げて」と「これで確定か検証して」を同じプロンプトで聞けば、どちらも中途半端になる。</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02 ／ 出発点</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1.5分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AI は「何でもは知らない。知っていることだけ」</a:t>
            </a:r>
            <a:endParaRPr lang="en-US" sz="3000" dirty="0"/>
          </a:p>
        </p:txBody>
      </p:sp>
      <p:sp>
        <p:nvSpPr>
          <p:cNvPr id="6" name="Text 3"/>
          <p:cNvSpPr txBox="1"/>
          <p:nvPr/>
        </p:nvSpPr>
        <p:spPr>
          <a:xfrm>
            <a:off x="566928" y="1481328"/>
            <a:ext cx="11064240" cy="45720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ここが分かれ目。質問しても出てこないのは、答えを隠しているからではなく、材料が無いから。</a:t>
            </a:r>
            <a:endParaRPr lang="en-US" sz="1350" dirty="0"/>
          </a:p>
        </p:txBody>
      </p:sp>
      <p:sp>
        <p:nvSpPr>
          <p:cNvPr id="7" name="Text 4"/>
          <p:cNvSpPr txBox="1"/>
          <p:nvPr/>
        </p:nvSpPr>
        <p:spPr>
          <a:xfrm>
            <a:off x="566928" y="2057400"/>
            <a:ext cx="3200400" cy="512064"/>
          </a:xfrm>
          <a:prstGeom prst="rect">
            <a:avLst/>
          </a:prstGeom>
          <a:noFill/>
          <a:ln/>
        </p:spPr>
        <p:txBody>
          <a:bodyPr wrap="square" lIns="0" tIns="0" rIns="0" bIns="0" rtlCol="0" anchor="t"/>
          <a:lstStyle/>
          <a:p>
            <a:pPr indent="0" marL="0">
              <a:lnSpc>
                <a:spcPts val="1500"/>
              </a:lnSpc>
              <a:buNone/>
            </a:pPr>
            <a:r>
              <a:rPr lang="en-US" sz="1150" b="1" dirty="0">
                <a:solidFill>
                  <a:srgbClr val="171A1C"/>
                </a:solidFill>
                <a:latin typeface="Meiryo" pitchFamily="34" charset="0"/>
                <a:ea typeface="Meiryo" pitchFamily="34" charset="-122"/>
                <a:cs typeface="Meiryo" pitchFamily="34" charset="-120"/>
              </a:rPr>
              <a:t>一般的な技術知識</a:t>
            </a:r>
            <a:pPr indent="0" marL="0">
              <a:lnSpc>
                <a:spcPts val="1500"/>
              </a:lnSpc>
              <a:buNone/>
            </a:pPr>
            <a:endParaRPr lang="en-US" sz="1150" dirty="0"/>
          </a:p>
          <a:p>
            <a:pPr indent="0" marL="0">
              <a:lnSpc>
                <a:spcPts val="1500"/>
              </a:lnSpc>
              <a:buNone/>
            </a:pPr>
            <a:r>
              <a:rPr lang="en-US" sz="950" dirty="0">
                <a:solidFill>
                  <a:srgbClr val="626D72"/>
                </a:solidFill>
                <a:latin typeface="Meiryo" pitchFamily="34" charset="0"/>
                <a:ea typeface="Meiryo" pitchFamily="34" charset="-122"/>
                <a:cs typeface="Meiryo" pitchFamily="34" charset="-120"/>
              </a:rPr>
              <a:t>言語仕様・よくある設計・エラーの定石</a:t>
            </a:r>
            <a:endParaRPr lang="en-US" sz="1150" dirty="0"/>
          </a:p>
        </p:txBody>
      </p:sp>
      <p:sp>
        <p:nvSpPr>
          <p:cNvPr id="8" name="Shape 5"/>
          <p:cNvSpPr/>
          <p:nvPr/>
        </p:nvSpPr>
        <p:spPr>
          <a:xfrm>
            <a:off x="3931920" y="2084832"/>
            <a:ext cx="7680960" cy="402336"/>
          </a:xfrm>
          <a:prstGeom prst="rect">
            <a:avLst/>
          </a:prstGeom>
          <a:solidFill>
            <a:srgbClr val="F2F4F3"/>
          </a:solidFill>
          <a:ln w="12700">
            <a:solidFill>
              <a:srgbClr val="F2F4F3"/>
            </a:solidFill>
            <a:prstDash val="solid"/>
          </a:ln>
        </p:spPr>
      </p:sp>
      <p:sp>
        <p:nvSpPr>
          <p:cNvPr id="9" name="Shape 6"/>
          <p:cNvSpPr/>
          <p:nvPr/>
        </p:nvSpPr>
        <p:spPr>
          <a:xfrm>
            <a:off x="3931920" y="2084832"/>
            <a:ext cx="7066483" cy="402336"/>
          </a:xfrm>
          <a:prstGeom prst="rect">
            <a:avLst/>
          </a:prstGeom>
          <a:solidFill>
            <a:srgbClr val="E7ECF7"/>
          </a:solidFill>
          <a:ln w="12700">
            <a:solidFill>
              <a:srgbClr val="E7ECF7"/>
            </a:solidFill>
            <a:prstDash val="solid"/>
          </a:ln>
        </p:spPr>
      </p:sp>
      <p:sp>
        <p:nvSpPr>
          <p:cNvPr id="10" name="Text 7"/>
          <p:cNvSpPr txBox="1"/>
          <p:nvPr/>
        </p:nvSpPr>
        <p:spPr>
          <a:xfrm>
            <a:off x="4059936" y="2084832"/>
            <a:ext cx="7424928" cy="402336"/>
          </a:xfrm>
          <a:prstGeom prst="rect">
            <a:avLst/>
          </a:prstGeom>
          <a:noFill/>
          <a:ln/>
        </p:spPr>
        <p:txBody>
          <a:bodyPr wrap="square" lIns="0" tIns="0" rIns="0" bIns="0" rtlCol="0" anchor="ctr"/>
          <a:lstStyle/>
          <a:p>
            <a:pPr indent="0" marL="0">
              <a:buNone/>
            </a:pPr>
            <a:r>
              <a:rPr lang="en-US" sz="1000" dirty="0">
                <a:solidFill>
                  <a:srgbClr val="27488F"/>
                </a:solidFill>
                <a:latin typeface="Meiryo" pitchFamily="34" charset="0"/>
                <a:ea typeface="Meiryo" pitchFamily="34" charset="-122"/>
                <a:cs typeface="Meiryo" pitchFamily="34" charset="-120"/>
              </a:rPr>
              <a:t>よく知っている</a:t>
            </a:r>
            <a:endParaRPr lang="en-US" sz="1000" dirty="0"/>
          </a:p>
        </p:txBody>
      </p:sp>
      <p:sp>
        <p:nvSpPr>
          <p:cNvPr id="11" name="Text 8"/>
          <p:cNvSpPr txBox="1"/>
          <p:nvPr/>
        </p:nvSpPr>
        <p:spPr>
          <a:xfrm>
            <a:off x="566928" y="2770632"/>
            <a:ext cx="3200400" cy="512064"/>
          </a:xfrm>
          <a:prstGeom prst="rect">
            <a:avLst/>
          </a:prstGeom>
          <a:noFill/>
          <a:ln/>
        </p:spPr>
        <p:txBody>
          <a:bodyPr wrap="square" lIns="0" tIns="0" rIns="0" bIns="0" rtlCol="0" anchor="t"/>
          <a:lstStyle/>
          <a:p>
            <a:pPr indent="0" marL="0">
              <a:lnSpc>
                <a:spcPts val="1500"/>
              </a:lnSpc>
              <a:buNone/>
            </a:pPr>
            <a:r>
              <a:rPr lang="en-US" sz="1150" b="1" dirty="0">
                <a:solidFill>
                  <a:srgbClr val="171A1C"/>
                </a:solidFill>
                <a:latin typeface="Meiryo" pitchFamily="34" charset="0"/>
                <a:ea typeface="Meiryo" pitchFamily="34" charset="-122"/>
                <a:cs typeface="Meiryo" pitchFamily="34" charset="-120"/>
              </a:rPr>
              <a:t>自社の既設システム</a:t>
            </a:r>
            <a:pPr indent="0" marL="0">
              <a:lnSpc>
                <a:spcPts val="1500"/>
              </a:lnSpc>
              <a:buNone/>
            </a:pPr>
            <a:endParaRPr lang="en-US" sz="1150" dirty="0"/>
          </a:p>
          <a:p>
            <a:pPr indent="0" marL="0">
              <a:lnSpc>
                <a:spcPts val="1500"/>
              </a:lnSpc>
              <a:buNone/>
            </a:pPr>
            <a:r>
              <a:rPr lang="en-US" sz="950" dirty="0">
                <a:solidFill>
                  <a:srgbClr val="626D72"/>
                </a:solidFill>
                <a:latin typeface="Meiryo" pitchFamily="34" charset="0"/>
                <a:ea typeface="Meiryo" pitchFamily="34" charset="-122"/>
                <a:cs typeface="Meiryo" pitchFamily="34" charset="-120"/>
              </a:rPr>
              <a:t>業務ルール・命名・歴史的経緯・実装</a:t>
            </a:r>
            <a:endParaRPr lang="en-US" sz="1150" dirty="0"/>
          </a:p>
        </p:txBody>
      </p:sp>
      <p:sp>
        <p:nvSpPr>
          <p:cNvPr id="12" name="Shape 9"/>
          <p:cNvSpPr/>
          <p:nvPr/>
        </p:nvSpPr>
        <p:spPr>
          <a:xfrm>
            <a:off x="3931920" y="2798064"/>
            <a:ext cx="7680960" cy="402336"/>
          </a:xfrm>
          <a:prstGeom prst="rect">
            <a:avLst/>
          </a:prstGeom>
          <a:solidFill>
            <a:srgbClr val="F2F4F3"/>
          </a:solidFill>
          <a:ln w="12700">
            <a:solidFill>
              <a:srgbClr val="F2F4F3"/>
            </a:solidFill>
            <a:prstDash val="solid"/>
          </a:ln>
        </p:spPr>
      </p:sp>
      <p:sp>
        <p:nvSpPr>
          <p:cNvPr id="13" name="Shape 10"/>
          <p:cNvSpPr/>
          <p:nvPr/>
        </p:nvSpPr>
        <p:spPr>
          <a:xfrm>
            <a:off x="3931920" y="2798064"/>
            <a:ext cx="230429" cy="402336"/>
          </a:xfrm>
          <a:prstGeom prst="rect">
            <a:avLst/>
          </a:prstGeom>
          <a:solidFill>
            <a:srgbClr val="A3351D"/>
          </a:solidFill>
          <a:ln w="12700">
            <a:solidFill>
              <a:srgbClr val="A3351D"/>
            </a:solidFill>
            <a:prstDash val="solid"/>
          </a:ln>
        </p:spPr>
      </p:sp>
      <p:sp>
        <p:nvSpPr>
          <p:cNvPr id="14" name="Text 11"/>
          <p:cNvSpPr txBox="1"/>
          <p:nvPr/>
        </p:nvSpPr>
        <p:spPr>
          <a:xfrm>
            <a:off x="4290365" y="2798064"/>
            <a:ext cx="2743200" cy="402336"/>
          </a:xfrm>
          <a:prstGeom prst="rect">
            <a:avLst/>
          </a:prstGeom>
          <a:noFill/>
          <a:ln/>
        </p:spPr>
        <p:txBody>
          <a:bodyPr wrap="square" lIns="0" tIns="0" rIns="0" bIns="0" rtlCol="0" anchor="ctr"/>
          <a:lstStyle/>
          <a:p>
            <a:pPr indent="0" marL="0">
              <a:buNone/>
            </a:pPr>
            <a:r>
              <a:rPr lang="en-US" sz="1000" dirty="0">
                <a:solidFill>
                  <a:srgbClr val="A3351D"/>
                </a:solidFill>
                <a:latin typeface="Meiryo" pitchFamily="34" charset="0"/>
                <a:ea typeface="Meiryo" pitchFamily="34" charset="-122"/>
                <a:cs typeface="Meiryo" pitchFamily="34" charset="-120"/>
              </a:rPr>
              <a:t>ほぼ何も知らない</a:t>
            </a:r>
            <a:endParaRPr lang="en-US" sz="1000" dirty="0"/>
          </a:p>
        </p:txBody>
      </p:sp>
      <p:sp>
        <p:nvSpPr>
          <p:cNvPr id="15" name="Text 12"/>
          <p:cNvSpPr txBox="1"/>
          <p:nvPr/>
        </p:nvSpPr>
        <p:spPr>
          <a:xfrm>
            <a:off x="566928" y="3483864"/>
            <a:ext cx="3200400" cy="512064"/>
          </a:xfrm>
          <a:prstGeom prst="rect">
            <a:avLst/>
          </a:prstGeom>
          <a:noFill/>
          <a:ln/>
        </p:spPr>
        <p:txBody>
          <a:bodyPr wrap="square" lIns="0" tIns="0" rIns="0" bIns="0" rtlCol="0" anchor="t"/>
          <a:lstStyle/>
          <a:p>
            <a:pPr indent="0" marL="0">
              <a:lnSpc>
                <a:spcPts val="1500"/>
              </a:lnSpc>
              <a:buNone/>
            </a:pPr>
            <a:r>
              <a:rPr lang="en-US" sz="1150" b="1" dirty="0">
                <a:solidFill>
                  <a:srgbClr val="171A1C"/>
                </a:solidFill>
                <a:latin typeface="Meiryo" pitchFamily="34" charset="0"/>
                <a:ea typeface="Meiryo" pitchFamily="34" charset="-122"/>
                <a:cs typeface="Meiryo" pitchFamily="34" charset="-120"/>
              </a:rPr>
              <a:t>こちらが渡したもの</a:t>
            </a:r>
            <a:pPr indent="0" marL="0">
              <a:lnSpc>
                <a:spcPts val="1500"/>
              </a:lnSpc>
              <a:buNone/>
            </a:pPr>
            <a:endParaRPr lang="en-US" sz="1150" dirty="0"/>
          </a:p>
          <a:p>
            <a:pPr indent="0" marL="0">
              <a:lnSpc>
                <a:spcPts val="1500"/>
              </a:lnSpc>
              <a:buNone/>
            </a:pPr>
            <a:r>
              <a:rPr lang="en-US" sz="950" dirty="0">
                <a:solidFill>
                  <a:srgbClr val="626D72"/>
                </a:solidFill>
                <a:latin typeface="Meiryo" pitchFamily="34" charset="0"/>
                <a:ea typeface="Meiryo" pitchFamily="34" charset="-122"/>
                <a:cs typeface="Meiryo" pitchFamily="34" charset="-120"/>
              </a:rPr>
              <a:t>文書・画像・指示に書いた前提</a:t>
            </a:r>
            <a:endParaRPr lang="en-US" sz="1150" dirty="0"/>
          </a:p>
        </p:txBody>
      </p:sp>
      <p:sp>
        <p:nvSpPr>
          <p:cNvPr id="16" name="Shape 13"/>
          <p:cNvSpPr/>
          <p:nvPr/>
        </p:nvSpPr>
        <p:spPr>
          <a:xfrm>
            <a:off x="3931920" y="3511296"/>
            <a:ext cx="7680960" cy="402336"/>
          </a:xfrm>
          <a:prstGeom prst="rect">
            <a:avLst/>
          </a:prstGeom>
          <a:solidFill>
            <a:srgbClr val="F2F4F3"/>
          </a:solidFill>
          <a:ln w="12700">
            <a:solidFill>
              <a:srgbClr val="F2F4F3"/>
            </a:solidFill>
            <a:prstDash val="solid"/>
          </a:ln>
        </p:spPr>
      </p:sp>
      <p:sp>
        <p:nvSpPr>
          <p:cNvPr id="17" name="Shape 14"/>
          <p:cNvSpPr/>
          <p:nvPr/>
        </p:nvSpPr>
        <p:spPr>
          <a:xfrm>
            <a:off x="3931920" y="3511296"/>
            <a:ext cx="3533242" cy="402336"/>
          </a:xfrm>
          <a:prstGeom prst="rect">
            <a:avLst/>
          </a:prstGeom>
          <a:solidFill>
            <a:srgbClr val="E2EFEA"/>
          </a:solidFill>
          <a:ln w="12700">
            <a:solidFill>
              <a:srgbClr val="E2EFEA"/>
            </a:solidFill>
            <a:prstDash val="solid"/>
          </a:ln>
        </p:spPr>
      </p:sp>
      <p:sp>
        <p:nvSpPr>
          <p:cNvPr id="18" name="Text 15"/>
          <p:cNvSpPr txBox="1"/>
          <p:nvPr/>
        </p:nvSpPr>
        <p:spPr>
          <a:xfrm>
            <a:off x="4059936" y="3511296"/>
            <a:ext cx="7424928" cy="402336"/>
          </a:xfrm>
          <a:prstGeom prst="rect">
            <a:avLst/>
          </a:prstGeom>
          <a:noFill/>
          <a:ln/>
        </p:spPr>
        <p:txBody>
          <a:bodyPr wrap="square" lIns="0" tIns="0" rIns="0" bIns="0" rtlCol="0" anchor="ctr"/>
          <a:lstStyle/>
          <a:p>
            <a:pPr indent="0" marL="0">
              <a:buNone/>
            </a:pPr>
            <a:r>
              <a:rPr lang="en-US" sz="1000" dirty="0">
                <a:solidFill>
                  <a:srgbClr val="1C6E52"/>
                </a:solidFill>
                <a:latin typeface="Meiryo" pitchFamily="34" charset="0"/>
                <a:ea typeface="Meiryo" pitchFamily="34" charset="-122"/>
                <a:cs typeface="Meiryo" pitchFamily="34" charset="-120"/>
              </a:rPr>
              <a:t>渡した分だけ知る　← ここを増やすのが「発散」</a:t>
            </a:r>
            <a:endParaRPr lang="en-US" sz="1000" dirty="0"/>
          </a:p>
        </p:txBody>
      </p:sp>
      <p:sp>
        <p:nvSpPr>
          <p:cNvPr id="19" name="Shape 16"/>
          <p:cNvSpPr/>
          <p:nvPr/>
        </p:nvSpPr>
        <p:spPr>
          <a:xfrm>
            <a:off x="566928" y="4334256"/>
            <a:ext cx="11055096" cy="2103120"/>
          </a:xfrm>
          <a:prstGeom prst="roundRect">
            <a:avLst>
              <a:gd name="adj" fmla="val 2174"/>
            </a:avLst>
          </a:prstGeom>
          <a:solidFill>
            <a:srgbClr val="E7ECF7"/>
          </a:solidFill>
          <a:ln w="12700">
            <a:solidFill>
              <a:srgbClr val="E7ECF7"/>
            </a:solidFill>
            <a:prstDash val="solid"/>
          </a:ln>
        </p:spPr>
      </p:sp>
      <p:sp>
        <p:nvSpPr>
          <p:cNvPr id="20" name="Text 17"/>
          <p:cNvSpPr txBox="1"/>
          <p:nvPr/>
        </p:nvSpPr>
        <p:spPr>
          <a:xfrm>
            <a:off x="804672" y="4489704"/>
            <a:ext cx="10579608"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この3本目の中身ぜんぶが「コンテクスト」── 前ページの破線の枠がこれ</a:t>
            </a:r>
            <a:endParaRPr lang="en-US" sz="1300" dirty="0"/>
          </a:p>
        </p:txBody>
      </p:sp>
      <p:sp>
        <p:nvSpPr>
          <p:cNvPr id="21" name="Text 18"/>
          <p:cNvSpPr txBox="1"/>
          <p:nvPr/>
        </p:nvSpPr>
        <p:spPr>
          <a:xfrm>
            <a:off x="804672" y="4864608"/>
            <a:ext cx="10607040" cy="256032"/>
          </a:xfrm>
          <a:prstGeom prst="rect">
            <a:avLst/>
          </a:prstGeom>
          <a:noFill/>
          <a:ln/>
        </p:spPr>
        <p:txBody>
          <a:bodyPr wrap="square" lIns="0" tIns="0" rIns="0" bIns="0" rtlCol="0" anchor="ctr"/>
          <a:lstStyle/>
          <a:p>
            <a:pPr indent="0" marL="0">
              <a:buNone/>
            </a:pPr>
            <a:r>
              <a:rPr lang="en-US" sz="1100" dirty="0">
                <a:solidFill>
                  <a:srgbClr val="394246"/>
                </a:solidFill>
                <a:latin typeface="Meiryo" pitchFamily="34" charset="0"/>
                <a:ea typeface="Meiryo" pitchFamily="34" charset="-122"/>
                <a:cs typeface="Meiryo" pitchFamily="34" charset="-120"/>
              </a:rPr>
              <a:t>日本語なら〈いま Copilot に持たせている前提・条件・材料の全部〉。中身は3つ。</a:t>
            </a:r>
            <a:endParaRPr lang="en-US" sz="1100" dirty="0"/>
          </a:p>
        </p:txBody>
      </p:sp>
      <p:sp>
        <p:nvSpPr>
          <p:cNvPr id="22" name="Text 19"/>
          <p:cNvSpPr txBox="1"/>
          <p:nvPr/>
        </p:nvSpPr>
        <p:spPr>
          <a:xfrm>
            <a:off x="914400" y="5138928"/>
            <a:ext cx="10424160" cy="822960"/>
          </a:xfrm>
          <a:prstGeom prst="rect">
            <a:avLst/>
          </a:prstGeom>
          <a:noFill/>
          <a:ln/>
        </p:spPr>
        <p:txBody>
          <a:bodyPr wrap="square" lIns="0" tIns="0" rIns="0" bIns="0" rtlCol="0" anchor="t"/>
          <a:lstStyle/>
          <a:p>
            <a:pPr marL="342900" indent="-342900">
              <a:lnSpc>
                <a:spcPts val="1550"/>
              </a:lnSpc>
              <a:spcAft>
                <a:spcPts val="500"/>
              </a:spcAft>
              <a:buSzPct val="100000"/>
              <a:buChar char="•"/>
            </a:pPr>
            <a:r>
              <a:rPr lang="en-US" sz="1050" dirty="0">
                <a:solidFill>
                  <a:srgbClr val="394246"/>
                </a:solidFill>
                <a:latin typeface="Meiryo" pitchFamily="34" charset="0"/>
                <a:ea typeface="Meiryo" pitchFamily="34" charset="-122"/>
                <a:cs typeface="Meiryo" pitchFamily="34" charset="-120"/>
              </a:rPr>
              <a:t>これまでのやりとり（同じ会話の中でした質問と回答。すべて残る）</a:t>
            </a:r>
            <a:endParaRPr lang="en-US" sz="1050" dirty="0"/>
          </a:p>
          <a:p>
            <a:pPr marL="342900" indent="-342900">
              <a:lnSpc>
                <a:spcPts val="1550"/>
              </a:lnSpc>
              <a:spcAft>
                <a:spcPts val="500"/>
              </a:spcAft>
              <a:buSzPct val="100000"/>
              <a:buChar char="•"/>
            </a:pPr>
            <a:r>
              <a:rPr lang="en-US" sz="1050" dirty="0">
                <a:solidFill>
                  <a:srgbClr val="394246"/>
                </a:solidFill>
                <a:latin typeface="Meiryo" pitchFamily="34" charset="0"/>
                <a:ea typeface="Meiryo" pitchFamily="34" charset="-122"/>
                <a:cs typeface="Meiryo" pitchFamily="34" charset="-120"/>
              </a:rPr>
              <a:t>添付した文書・貼り付けた画像</a:t>
            </a:r>
            <a:endParaRPr lang="en-US" sz="1050" dirty="0"/>
          </a:p>
          <a:p>
            <a:pPr marL="342900" indent="-342900">
              <a:lnSpc>
                <a:spcPts val="1550"/>
              </a:lnSpc>
              <a:spcAft>
                <a:spcPts val="500"/>
              </a:spcAft>
              <a:buSzPct val="100000"/>
              <a:buChar char="•"/>
            </a:pPr>
            <a:r>
              <a:rPr lang="en-US" sz="1050" dirty="0">
                <a:solidFill>
                  <a:srgbClr val="394246"/>
                </a:solidFill>
                <a:latin typeface="Meiryo" pitchFamily="34" charset="0"/>
                <a:ea typeface="Meiryo" pitchFamily="34" charset="-122"/>
                <a:cs typeface="Meiryo" pitchFamily="34" charset="-120"/>
              </a:rPr>
              <a:t>指示に書いた前提・条件・制約</a:t>
            </a:r>
            <a:endParaRPr lang="en-US" sz="1050" dirty="0"/>
          </a:p>
        </p:txBody>
      </p:sp>
      <p:sp>
        <p:nvSpPr>
          <p:cNvPr id="23" name="Text 20"/>
          <p:cNvSpPr txBox="1"/>
          <p:nvPr/>
        </p:nvSpPr>
        <p:spPr>
          <a:xfrm>
            <a:off x="804672" y="6016752"/>
            <a:ext cx="10607040" cy="292608"/>
          </a:xfrm>
          <a:prstGeom prst="rect">
            <a:avLst/>
          </a:prstGeom>
          <a:noFill/>
          <a:ln/>
        </p:spPr>
        <p:txBody>
          <a:bodyPr wrap="square" lIns="0" tIns="0" rIns="0" bIns="0" rtlCol="0" anchor="ctr"/>
          <a:lstStyle/>
          <a:p>
            <a:pPr indent="0" marL="0">
              <a:buNone/>
            </a:pPr>
            <a:r>
              <a:rPr lang="en-US" sz="1100" b="1" dirty="0">
                <a:solidFill>
                  <a:srgbClr val="171A1C"/>
                </a:solidFill>
                <a:latin typeface="Meiryo" pitchFamily="34" charset="0"/>
                <a:ea typeface="Meiryo" pitchFamily="34" charset="-122"/>
                <a:cs typeface="Meiryo" pitchFamily="34" charset="-120"/>
              </a:rPr>
              <a:t>同じ会話を続けるほど、前提を書き直さずに済む。新しい会話を開けば全部ゼロに戻る。</a:t>
            </a:r>
            <a:pPr indent="0" marL="0">
              <a:buNone/>
            </a:pPr>
            <a:r>
              <a:rPr lang="en-US" sz="1100" dirty="0">
                <a:solidFill>
                  <a:srgbClr val="394246"/>
                </a:solidFill>
                <a:latin typeface="Meiryo" pitchFamily="34" charset="0"/>
                <a:ea typeface="Meiryo" pitchFamily="34" charset="-122"/>
                <a:cs typeface="Meiryo" pitchFamily="34" charset="-120"/>
              </a:rPr>
              <a:t>　発散から収束までは同じ会話でやりきる。</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03 ／ 発散の準備</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既設の資産は、Copilot の受け入れ条件と噛み合わない</a:t>
            </a:r>
            <a:endParaRPr lang="en-US" sz="3000" dirty="0"/>
          </a:p>
        </p:txBody>
      </p:sp>
      <p:sp>
        <p:nvSpPr>
          <p:cNvPr id="6" name="Text 3"/>
          <p:cNvSpPr txBox="1"/>
          <p:nvPr/>
        </p:nvSpPr>
        <p:spPr>
          <a:xfrm>
            <a:off x="566928" y="1481328"/>
            <a:ext cx="11064240" cy="54864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資産の側に問題があるわけではない。Copilot 側に受け入れ条件が4つあり、どれも既設資産に不利に働く。だから渡す前にひと手間かける ── まとめて、UTF-8 のテキストにする。</a:t>
            </a:r>
            <a:endParaRPr lang="en-US" sz="1350" dirty="0"/>
          </a:p>
        </p:txBody>
      </p:sp>
      <p:sp>
        <p:nvSpPr>
          <p:cNvPr id="7" name="Shape 4"/>
          <p:cNvSpPr/>
          <p:nvPr/>
        </p:nvSpPr>
        <p:spPr>
          <a:xfrm>
            <a:off x="566928" y="2286000"/>
            <a:ext cx="5431536" cy="1975104"/>
          </a:xfrm>
          <a:prstGeom prst="roundRect">
            <a:avLst>
              <a:gd name="adj" fmla="val 2315"/>
            </a:avLst>
          </a:prstGeom>
          <a:solidFill>
            <a:srgbClr val="F2F4F3"/>
          </a:solidFill>
          <a:ln w="12700">
            <a:solidFill>
              <a:srgbClr val="F2F4F3"/>
            </a:solidFill>
            <a:prstDash val="solid"/>
          </a:ln>
        </p:spPr>
      </p:sp>
      <p:sp>
        <p:nvSpPr>
          <p:cNvPr id="8" name="Shape 5"/>
          <p:cNvSpPr/>
          <p:nvPr/>
        </p:nvSpPr>
        <p:spPr>
          <a:xfrm>
            <a:off x="804672" y="2468880"/>
            <a:ext cx="713232" cy="246888"/>
          </a:xfrm>
          <a:prstGeom prst="roundRect">
            <a:avLst>
              <a:gd name="adj" fmla="val 14815"/>
            </a:avLst>
          </a:prstGeom>
          <a:solidFill>
            <a:srgbClr val="F7E6E1"/>
          </a:solidFill>
          <a:ln w="12700">
            <a:solidFill>
              <a:srgbClr val="F7E6E1"/>
            </a:solidFill>
            <a:prstDash val="solid"/>
          </a:ln>
        </p:spPr>
      </p:sp>
      <p:sp>
        <p:nvSpPr>
          <p:cNvPr id="9" name="Text 6"/>
          <p:cNvSpPr txBox="1"/>
          <p:nvPr/>
        </p:nvSpPr>
        <p:spPr>
          <a:xfrm>
            <a:off x="804672" y="2468880"/>
            <a:ext cx="713232" cy="246888"/>
          </a:xfrm>
          <a:prstGeom prst="rect">
            <a:avLst/>
          </a:prstGeom>
          <a:noFill/>
          <a:ln/>
        </p:spPr>
        <p:txBody>
          <a:bodyPr wrap="square" lIns="0" tIns="0" rIns="0" bIns="0" rtlCol="0" anchor="ctr"/>
          <a:lstStyle/>
          <a:p>
            <a:pPr algn="ctr" indent="0" marL="0">
              <a:buNone/>
            </a:pPr>
            <a:r>
              <a:rPr lang="en-US" sz="1000" b="1" dirty="0">
                <a:solidFill>
                  <a:srgbClr val="A3351D"/>
                </a:solidFill>
                <a:latin typeface="Meiryo" pitchFamily="34" charset="0"/>
                <a:ea typeface="Meiryo" pitchFamily="34" charset="-122"/>
                <a:cs typeface="Meiryo" pitchFamily="34" charset="-120"/>
              </a:rPr>
              <a:t>壁 1</a:t>
            </a:r>
            <a:endParaRPr lang="en-US" sz="1000" dirty="0"/>
          </a:p>
        </p:txBody>
      </p:sp>
      <p:sp>
        <p:nvSpPr>
          <p:cNvPr id="10" name="Text 7"/>
          <p:cNvSpPr txBox="1"/>
          <p:nvPr/>
        </p:nvSpPr>
        <p:spPr>
          <a:xfrm>
            <a:off x="1609344" y="2459736"/>
            <a:ext cx="4151376" cy="274320"/>
          </a:xfrm>
          <a:prstGeom prst="rect">
            <a:avLst/>
          </a:prstGeom>
          <a:noFill/>
          <a:ln/>
        </p:spPr>
        <p:txBody>
          <a:bodyPr wrap="square" lIns="0" tIns="0" rIns="0" bIns="0" rtlCol="0" anchor="ctr"/>
          <a:lstStyle/>
          <a:p>
            <a:pPr indent="0" marL="0">
              <a:buNone/>
            </a:pPr>
            <a:r>
              <a:rPr lang="en-US" sz="1300" b="1" dirty="0">
                <a:solidFill>
                  <a:srgbClr val="171A1C"/>
                </a:solidFill>
                <a:latin typeface="Meiryo" pitchFamily="34" charset="0"/>
                <a:ea typeface="Meiryo" pitchFamily="34" charset="-122"/>
                <a:cs typeface="Meiryo" pitchFamily="34" charset="-120"/>
              </a:rPr>
              <a:t>対応拡張子が決まっている</a:t>
            </a:r>
            <a:endParaRPr lang="en-US" sz="1300" dirty="0"/>
          </a:p>
        </p:txBody>
      </p:sp>
      <p:sp>
        <p:nvSpPr>
          <p:cNvPr id="11" name="Text 8"/>
          <p:cNvSpPr txBox="1"/>
          <p:nvPr/>
        </p:nvSpPr>
        <p:spPr>
          <a:xfrm>
            <a:off x="804672" y="2852928"/>
            <a:ext cx="4956048" cy="124358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通る： .c .cpp .h .cs .sh .sql .xml .ini .txt</a:t>
            </a:r>
            <a:endParaRPr lang="en-US" sz="1050" dirty="0"/>
          </a:p>
          <a:p>
            <a:pPr indent="0" marL="0">
              <a:lnSpc>
                <a:spcPts val="1550"/>
              </a:lnSpc>
              <a:buNone/>
            </a:pPr>
            <a:r>
              <a:rPr lang="en-US" sz="1050" dirty="0">
                <a:solidFill>
                  <a:srgbClr val="394246"/>
                </a:solidFill>
                <a:latin typeface="Meiryo" pitchFamily="34" charset="0"/>
                <a:ea typeface="Meiryo" pitchFamily="34" charset="-122"/>
                <a:cs typeface="Meiryo" pitchFamily="34" charset="-120"/>
              </a:rPr>
              <a:t>通らない： .vb .bat .cmd .ps1 .csproj .resx .frm .bas</a:t>
            </a:r>
            <a:endParaRPr lang="en-US" sz="1050" dirty="0"/>
          </a:p>
          <a:p>
            <a:pPr indent="0" marL="0">
              <a:lnSpc>
                <a:spcPts val="1550"/>
              </a:lnSpc>
              <a:buNone/>
            </a:pPr>
            <a:endParaRPr lang="en-US" sz="1050" dirty="0"/>
          </a:p>
          <a:p>
            <a:pPr indent="0" marL="0">
              <a:lnSpc>
                <a:spcPts val="1550"/>
              </a:lnSpc>
              <a:buNone/>
            </a:pPr>
            <a:r>
              <a:rPr lang="en-US" sz="1050" dirty="0">
                <a:solidFill>
                  <a:srgbClr val="394246"/>
                </a:solidFill>
                <a:latin typeface="Meiryo" pitchFamily="34" charset="0"/>
                <a:ea typeface="Meiryo" pitchFamily="34" charset="-122"/>
                <a:cs typeface="Meiryo" pitchFamily="34" charset="-120"/>
              </a:rPr>
              <a:t>判定は中身ではなく拡張子。プロジェクトファイルは実体が XML でも通らない。裏を返せば、テキストにまとめ直せば通る。</a:t>
            </a:r>
            <a:endParaRPr lang="en-US" sz="1050" dirty="0"/>
          </a:p>
        </p:txBody>
      </p:sp>
      <p:sp>
        <p:nvSpPr>
          <p:cNvPr id="12" name="Shape 9"/>
          <p:cNvSpPr/>
          <p:nvPr/>
        </p:nvSpPr>
        <p:spPr>
          <a:xfrm>
            <a:off x="6537960" y="2286000"/>
            <a:ext cx="5431536" cy="1975104"/>
          </a:xfrm>
          <a:prstGeom prst="roundRect">
            <a:avLst>
              <a:gd name="adj" fmla="val 2315"/>
            </a:avLst>
          </a:prstGeom>
          <a:solidFill>
            <a:srgbClr val="F2F4F3"/>
          </a:solidFill>
          <a:ln w="12700">
            <a:solidFill>
              <a:srgbClr val="F2F4F3"/>
            </a:solidFill>
            <a:prstDash val="solid"/>
          </a:ln>
        </p:spPr>
      </p:sp>
      <p:sp>
        <p:nvSpPr>
          <p:cNvPr id="13" name="Shape 10"/>
          <p:cNvSpPr/>
          <p:nvPr/>
        </p:nvSpPr>
        <p:spPr>
          <a:xfrm>
            <a:off x="6775704" y="2468880"/>
            <a:ext cx="713232" cy="246888"/>
          </a:xfrm>
          <a:prstGeom prst="roundRect">
            <a:avLst>
              <a:gd name="adj" fmla="val 14815"/>
            </a:avLst>
          </a:prstGeom>
          <a:solidFill>
            <a:srgbClr val="F7E6E1"/>
          </a:solidFill>
          <a:ln w="12700">
            <a:solidFill>
              <a:srgbClr val="F7E6E1"/>
            </a:solidFill>
            <a:prstDash val="solid"/>
          </a:ln>
        </p:spPr>
      </p:sp>
      <p:sp>
        <p:nvSpPr>
          <p:cNvPr id="14" name="Text 11"/>
          <p:cNvSpPr txBox="1"/>
          <p:nvPr/>
        </p:nvSpPr>
        <p:spPr>
          <a:xfrm>
            <a:off x="6775704" y="2468880"/>
            <a:ext cx="713232" cy="246888"/>
          </a:xfrm>
          <a:prstGeom prst="rect">
            <a:avLst/>
          </a:prstGeom>
          <a:noFill/>
          <a:ln/>
        </p:spPr>
        <p:txBody>
          <a:bodyPr wrap="square" lIns="0" tIns="0" rIns="0" bIns="0" rtlCol="0" anchor="ctr"/>
          <a:lstStyle/>
          <a:p>
            <a:pPr algn="ctr" indent="0" marL="0">
              <a:buNone/>
            </a:pPr>
            <a:r>
              <a:rPr lang="en-US" sz="1000" b="1" dirty="0">
                <a:solidFill>
                  <a:srgbClr val="A3351D"/>
                </a:solidFill>
                <a:latin typeface="Meiryo" pitchFamily="34" charset="0"/>
                <a:ea typeface="Meiryo" pitchFamily="34" charset="-122"/>
                <a:cs typeface="Meiryo" pitchFamily="34" charset="-120"/>
              </a:rPr>
              <a:t>壁 2</a:t>
            </a:r>
            <a:endParaRPr lang="en-US" sz="1000" dirty="0"/>
          </a:p>
        </p:txBody>
      </p:sp>
      <p:sp>
        <p:nvSpPr>
          <p:cNvPr id="15" name="Text 12"/>
          <p:cNvSpPr txBox="1"/>
          <p:nvPr/>
        </p:nvSpPr>
        <p:spPr>
          <a:xfrm>
            <a:off x="7580376" y="2459736"/>
            <a:ext cx="4151376" cy="274320"/>
          </a:xfrm>
          <a:prstGeom prst="rect">
            <a:avLst/>
          </a:prstGeom>
          <a:noFill/>
          <a:ln/>
        </p:spPr>
        <p:txBody>
          <a:bodyPr wrap="square" lIns="0" tIns="0" rIns="0" bIns="0" rtlCol="0" anchor="ctr"/>
          <a:lstStyle/>
          <a:p>
            <a:pPr indent="0" marL="0">
              <a:buNone/>
            </a:pPr>
            <a:r>
              <a:rPr lang="en-US" sz="1300" b="1" dirty="0">
                <a:solidFill>
                  <a:srgbClr val="171A1C"/>
                </a:solidFill>
                <a:latin typeface="Meiryo" pitchFamily="34" charset="0"/>
                <a:ea typeface="Meiryo" pitchFamily="34" charset="-122"/>
                <a:cs typeface="Meiryo" pitchFamily="34" charset="-120"/>
              </a:rPr>
              <a:t>文字コードの混在</a:t>
            </a:r>
            <a:endParaRPr lang="en-US" sz="1300" dirty="0"/>
          </a:p>
        </p:txBody>
      </p:sp>
      <p:sp>
        <p:nvSpPr>
          <p:cNvPr id="16" name="Text 13"/>
          <p:cNvSpPr txBox="1"/>
          <p:nvPr/>
        </p:nvSpPr>
        <p:spPr>
          <a:xfrm>
            <a:off x="6775704" y="2852928"/>
            <a:ext cx="4956048" cy="124358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CP932 のまま渡せば日本語コメントや項目名が化ける。</a:t>
            </a:r>
            <a:endParaRPr lang="en-US" sz="1050" dirty="0"/>
          </a:p>
          <a:p>
            <a:pPr indent="0" marL="0">
              <a:lnSpc>
                <a:spcPts val="1550"/>
              </a:lnSpc>
              <a:buNone/>
            </a:pPr>
            <a:r>
              <a:rPr lang="en-US" sz="1050" dirty="0">
                <a:solidFill>
                  <a:srgbClr val="394246"/>
                </a:solidFill>
                <a:latin typeface="Meiryo" pitchFamily="34" charset="0"/>
                <a:ea typeface="Meiryo" pitchFamily="34" charset="-122"/>
                <a:cs typeface="Meiryo" pitchFamily="34" charset="-120"/>
              </a:rPr>
              <a:t>調査の手掛かりは日本語コメントそのものだから、ここが壊れれば渡す意味がない。</a:t>
            </a:r>
            <a:endParaRPr lang="en-US" sz="1050" dirty="0"/>
          </a:p>
          <a:p>
            <a:pPr indent="0" marL="0">
              <a:lnSpc>
                <a:spcPts val="1550"/>
              </a:lnSpc>
              <a:buNone/>
            </a:pPr>
            <a:endParaRPr lang="en-US" sz="1050" dirty="0"/>
          </a:p>
          <a:p>
            <a:pPr indent="0" marL="0">
              <a:lnSpc>
                <a:spcPts val="1550"/>
              </a:lnSpc>
              <a:buNone/>
            </a:pPr>
            <a:r>
              <a:rPr lang="en-US" sz="1050" dirty="0">
                <a:solidFill>
                  <a:srgbClr val="394246"/>
                </a:solidFill>
                <a:latin typeface="Meiryo" pitchFamily="34" charset="0"/>
                <a:ea typeface="Meiryo" pitchFamily="34" charset="-122"/>
                <a:cs typeface="Meiryo" pitchFamily="34" charset="-120"/>
              </a:rPr>
              <a:t>まとめる時点で UTF-8 に揃える。</a:t>
            </a:r>
            <a:endParaRPr lang="en-US" sz="1050" dirty="0"/>
          </a:p>
        </p:txBody>
      </p:sp>
      <p:sp>
        <p:nvSpPr>
          <p:cNvPr id="17" name="Shape 14"/>
          <p:cNvSpPr/>
          <p:nvPr/>
        </p:nvSpPr>
        <p:spPr>
          <a:xfrm>
            <a:off x="566928" y="4553712"/>
            <a:ext cx="5431536" cy="1975104"/>
          </a:xfrm>
          <a:prstGeom prst="roundRect">
            <a:avLst>
              <a:gd name="adj" fmla="val 2315"/>
            </a:avLst>
          </a:prstGeom>
          <a:solidFill>
            <a:srgbClr val="F2F4F3"/>
          </a:solidFill>
          <a:ln w="12700">
            <a:solidFill>
              <a:srgbClr val="F2F4F3"/>
            </a:solidFill>
            <a:prstDash val="solid"/>
          </a:ln>
        </p:spPr>
      </p:sp>
      <p:sp>
        <p:nvSpPr>
          <p:cNvPr id="18" name="Shape 15"/>
          <p:cNvSpPr/>
          <p:nvPr/>
        </p:nvSpPr>
        <p:spPr>
          <a:xfrm>
            <a:off x="804672" y="4736592"/>
            <a:ext cx="713232" cy="246888"/>
          </a:xfrm>
          <a:prstGeom prst="roundRect">
            <a:avLst>
              <a:gd name="adj" fmla="val 14815"/>
            </a:avLst>
          </a:prstGeom>
          <a:solidFill>
            <a:srgbClr val="F7E6E1"/>
          </a:solidFill>
          <a:ln w="12700">
            <a:solidFill>
              <a:srgbClr val="F7E6E1"/>
            </a:solidFill>
            <a:prstDash val="solid"/>
          </a:ln>
        </p:spPr>
      </p:sp>
      <p:sp>
        <p:nvSpPr>
          <p:cNvPr id="19" name="Text 16"/>
          <p:cNvSpPr txBox="1"/>
          <p:nvPr/>
        </p:nvSpPr>
        <p:spPr>
          <a:xfrm>
            <a:off x="804672" y="4736592"/>
            <a:ext cx="713232" cy="246888"/>
          </a:xfrm>
          <a:prstGeom prst="rect">
            <a:avLst/>
          </a:prstGeom>
          <a:noFill/>
          <a:ln/>
        </p:spPr>
        <p:txBody>
          <a:bodyPr wrap="square" lIns="0" tIns="0" rIns="0" bIns="0" rtlCol="0" anchor="ctr"/>
          <a:lstStyle/>
          <a:p>
            <a:pPr algn="ctr" indent="0" marL="0">
              <a:buNone/>
            </a:pPr>
            <a:r>
              <a:rPr lang="en-US" sz="1000" b="1" dirty="0">
                <a:solidFill>
                  <a:srgbClr val="A3351D"/>
                </a:solidFill>
                <a:latin typeface="Meiryo" pitchFamily="34" charset="0"/>
                <a:ea typeface="Meiryo" pitchFamily="34" charset="-122"/>
                <a:cs typeface="Meiryo" pitchFamily="34" charset="-120"/>
              </a:rPr>
              <a:t>壁 3</a:t>
            </a:r>
            <a:endParaRPr lang="en-US" sz="1000" dirty="0"/>
          </a:p>
        </p:txBody>
      </p:sp>
      <p:sp>
        <p:nvSpPr>
          <p:cNvPr id="20" name="Text 17"/>
          <p:cNvSpPr txBox="1"/>
          <p:nvPr/>
        </p:nvSpPr>
        <p:spPr>
          <a:xfrm>
            <a:off x="1609344" y="4727448"/>
            <a:ext cx="4151376" cy="274320"/>
          </a:xfrm>
          <a:prstGeom prst="rect">
            <a:avLst/>
          </a:prstGeom>
          <a:noFill/>
          <a:ln/>
        </p:spPr>
        <p:txBody>
          <a:bodyPr wrap="square" lIns="0" tIns="0" rIns="0" bIns="0" rtlCol="0" anchor="ctr"/>
          <a:lstStyle/>
          <a:p>
            <a:pPr indent="0" marL="0">
              <a:buNone/>
            </a:pPr>
            <a:r>
              <a:rPr lang="en-US" sz="1300" b="1" dirty="0">
                <a:solidFill>
                  <a:srgbClr val="171A1C"/>
                </a:solidFill>
                <a:latin typeface="Meiryo" pitchFamily="34" charset="0"/>
                <a:ea typeface="Meiryo" pitchFamily="34" charset="-122"/>
                <a:cs typeface="Meiryo" pitchFamily="34" charset="-120"/>
              </a:rPr>
              <a:t>一度に渡せるファイル数</a:t>
            </a:r>
            <a:endParaRPr lang="en-US" sz="1300" dirty="0"/>
          </a:p>
        </p:txBody>
      </p:sp>
      <p:sp>
        <p:nvSpPr>
          <p:cNvPr id="21" name="Text 18"/>
          <p:cNvSpPr txBox="1"/>
          <p:nvPr/>
        </p:nvSpPr>
        <p:spPr>
          <a:xfrm>
            <a:off x="804672" y="5120640"/>
            <a:ext cx="4956048" cy="124358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面やライセンスによって幅はあるが、いずれにせよ数ファイル単位。</a:t>
            </a:r>
            <a:endParaRPr lang="en-US" sz="1050" dirty="0"/>
          </a:p>
          <a:p>
            <a:pPr indent="0" marL="0">
              <a:lnSpc>
                <a:spcPts val="1550"/>
              </a:lnSpc>
              <a:buNone/>
            </a:pPr>
            <a:endParaRPr lang="en-US" sz="1050" dirty="0"/>
          </a:p>
          <a:p>
            <a:pPr indent="0" marL="0">
              <a:lnSpc>
                <a:spcPts val="1550"/>
              </a:lnSpc>
              <a:buNone/>
            </a:pPr>
            <a:r>
              <a:rPr lang="en-US" sz="1050" dirty="0">
                <a:solidFill>
                  <a:srgbClr val="394246"/>
                </a:solidFill>
                <a:latin typeface="Meiryo" pitchFamily="34" charset="0"/>
                <a:ea typeface="Meiryo" pitchFamily="34" charset="-122"/>
                <a:cs typeface="Meiryo" pitchFamily="34" charset="-120"/>
              </a:rPr>
              <a:t>数百ファイル規模の既設システムとは桁が合わない。</a:t>
            </a:r>
            <a:endParaRPr lang="en-US" sz="1050" dirty="0"/>
          </a:p>
        </p:txBody>
      </p:sp>
      <p:sp>
        <p:nvSpPr>
          <p:cNvPr id="22" name="Shape 19"/>
          <p:cNvSpPr/>
          <p:nvPr/>
        </p:nvSpPr>
        <p:spPr>
          <a:xfrm>
            <a:off x="6537960" y="4553712"/>
            <a:ext cx="5431536" cy="1975104"/>
          </a:xfrm>
          <a:prstGeom prst="roundRect">
            <a:avLst>
              <a:gd name="adj" fmla="val 2315"/>
            </a:avLst>
          </a:prstGeom>
          <a:solidFill>
            <a:srgbClr val="F2F4F3"/>
          </a:solidFill>
          <a:ln w="12700">
            <a:solidFill>
              <a:srgbClr val="F2F4F3"/>
            </a:solidFill>
            <a:prstDash val="solid"/>
          </a:ln>
        </p:spPr>
      </p:sp>
      <p:sp>
        <p:nvSpPr>
          <p:cNvPr id="23" name="Shape 20"/>
          <p:cNvSpPr/>
          <p:nvPr/>
        </p:nvSpPr>
        <p:spPr>
          <a:xfrm>
            <a:off x="6775704" y="4736592"/>
            <a:ext cx="713232" cy="246888"/>
          </a:xfrm>
          <a:prstGeom prst="roundRect">
            <a:avLst>
              <a:gd name="adj" fmla="val 14815"/>
            </a:avLst>
          </a:prstGeom>
          <a:solidFill>
            <a:srgbClr val="F7E6E1"/>
          </a:solidFill>
          <a:ln w="12700">
            <a:solidFill>
              <a:srgbClr val="F7E6E1"/>
            </a:solidFill>
            <a:prstDash val="solid"/>
          </a:ln>
        </p:spPr>
      </p:sp>
      <p:sp>
        <p:nvSpPr>
          <p:cNvPr id="24" name="Text 21"/>
          <p:cNvSpPr txBox="1"/>
          <p:nvPr/>
        </p:nvSpPr>
        <p:spPr>
          <a:xfrm>
            <a:off x="6775704" y="4736592"/>
            <a:ext cx="713232" cy="246888"/>
          </a:xfrm>
          <a:prstGeom prst="rect">
            <a:avLst/>
          </a:prstGeom>
          <a:noFill/>
          <a:ln/>
        </p:spPr>
        <p:txBody>
          <a:bodyPr wrap="square" lIns="0" tIns="0" rIns="0" bIns="0" rtlCol="0" anchor="ctr"/>
          <a:lstStyle/>
          <a:p>
            <a:pPr algn="ctr" indent="0" marL="0">
              <a:buNone/>
            </a:pPr>
            <a:r>
              <a:rPr lang="en-US" sz="1000" b="1" dirty="0">
                <a:solidFill>
                  <a:srgbClr val="A3351D"/>
                </a:solidFill>
                <a:latin typeface="Meiryo" pitchFamily="34" charset="0"/>
                <a:ea typeface="Meiryo" pitchFamily="34" charset="-122"/>
                <a:cs typeface="Meiryo" pitchFamily="34" charset="-120"/>
              </a:rPr>
              <a:t>壁 4</a:t>
            </a:r>
            <a:endParaRPr lang="en-US" sz="1000" dirty="0"/>
          </a:p>
        </p:txBody>
      </p:sp>
      <p:sp>
        <p:nvSpPr>
          <p:cNvPr id="25" name="Text 22"/>
          <p:cNvSpPr txBox="1"/>
          <p:nvPr/>
        </p:nvSpPr>
        <p:spPr>
          <a:xfrm>
            <a:off x="7580376" y="4727448"/>
            <a:ext cx="4151376" cy="274320"/>
          </a:xfrm>
          <a:prstGeom prst="rect">
            <a:avLst/>
          </a:prstGeom>
          <a:noFill/>
          <a:ln/>
        </p:spPr>
        <p:txBody>
          <a:bodyPr wrap="square" lIns="0" tIns="0" rIns="0" bIns="0" rtlCol="0" anchor="ctr"/>
          <a:lstStyle/>
          <a:p>
            <a:pPr indent="0" marL="0">
              <a:buNone/>
            </a:pPr>
            <a:r>
              <a:rPr lang="en-US" sz="1300" b="1" dirty="0">
                <a:solidFill>
                  <a:srgbClr val="171A1C"/>
                </a:solidFill>
                <a:latin typeface="Meiryo" pitchFamily="34" charset="0"/>
                <a:ea typeface="Meiryo" pitchFamily="34" charset="-122"/>
                <a:cs typeface="Meiryo" pitchFamily="34" charset="-120"/>
              </a:rPr>
              <a:t>長すぎると中盤が読まれない</a:t>
            </a:r>
            <a:endParaRPr lang="en-US" sz="1300" dirty="0"/>
          </a:p>
        </p:txBody>
      </p:sp>
      <p:sp>
        <p:nvSpPr>
          <p:cNvPr id="26" name="Text 23"/>
          <p:cNvSpPr txBox="1"/>
          <p:nvPr/>
        </p:nvSpPr>
        <p:spPr>
          <a:xfrm>
            <a:off x="6775704" y="5120640"/>
            <a:ext cx="4956048" cy="124358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公式に「長いファイルは先頭と末尾が優先され、中盤への注意が薄くなる」と明記されている。</a:t>
            </a:r>
            <a:endParaRPr lang="en-US" sz="1050" dirty="0"/>
          </a:p>
          <a:p>
            <a:pPr indent="0" marL="0">
              <a:lnSpc>
                <a:spcPts val="1550"/>
              </a:lnSpc>
              <a:buNone/>
            </a:pPr>
            <a:endParaRPr lang="en-US" sz="1050" dirty="0"/>
          </a:p>
          <a:p>
            <a:pPr indent="0" marL="0">
              <a:lnSpc>
                <a:spcPts val="1550"/>
              </a:lnSpc>
              <a:buNone/>
            </a:pPr>
            <a:r>
              <a:rPr lang="en-US" sz="1050" dirty="0">
                <a:solidFill>
                  <a:srgbClr val="394246"/>
                </a:solidFill>
                <a:latin typeface="Meiryo" pitchFamily="34" charset="0"/>
                <a:ea typeface="Meiryo" pitchFamily="34" charset="-122"/>
                <a:cs typeface="Meiryo" pitchFamily="34" charset="-120"/>
              </a:rPr>
              <a:t>しかもエラーは出ず、黙って落ちる。まとめて全部投げるだけでは足りない。</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04 ／ 発散 その1</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発散の道具：まとめた文書を2本つくる</a:t>
            </a:r>
            <a:endParaRPr lang="en-US" sz="3000" dirty="0"/>
          </a:p>
        </p:txBody>
      </p:sp>
      <p:sp>
        <p:nvSpPr>
          <p:cNvPr id="6" name="Shape 3"/>
          <p:cNvSpPr/>
          <p:nvPr/>
        </p:nvSpPr>
        <p:spPr>
          <a:xfrm>
            <a:off x="566928" y="1572768"/>
            <a:ext cx="5431536" cy="1664208"/>
          </a:xfrm>
          <a:prstGeom prst="roundRect">
            <a:avLst>
              <a:gd name="adj" fmla="val 2747"/>
            </a:avLst>
          </a:prstGeom>
          <a:solidFill>
            <a:srgbClr val="E7ECF7"/>
          </a:solidFill>
          <a:ln w="12700">
            <a:solidFill>
              <a:srgbClr val="E7ECF7"/>
            </a:solidFill>
            <a:prstDash val="solid"/>
          </a:ln>
        </p:spPr>
      </p:sp>
      <p:sp>
        <p:nvSpPr>
          <p:cNvPr id="7" name="Text 4"/>
          <p:cNvSpPr txBox="1"/>
          <p:nvPr/>
        </p:nvSpPr>
        <p:spPr>
          <a:xfrm>
            <a:off x="804672" y="1755648"/>
            <a:ext cx="4956048" cy="274320"/>
          </a:xfrm>
          <a:prstGeom prst="rect">
            <a:avLst/>
          </a:prstGeom>
          <a:noFill/>
          <a:ln/>
        </p:spPr>
        <p:txBody>
          <a:bodyPr wrap="square" lIns="0" tIns="0" rIns="0" bIns="0" rtlCol="0" anchor="ctr"/>
          <a:lstStyle/>
          <a:p>
            <a:pPr indent="0" marL="0">
              <a:buNone/>
            </a:pPr>
            <a:r>
              <a:rPr lang="en-US" sz="1300" b="1" dirty="0">
                <a:solidFill>
                  <a:srgbClr val="27488F"/>
                </a:solidFill>
                <a:latin typeface="Meiryo" pitchFamily="34" charset="0"/>
                <a:ea typeface="Meiryo" pitchFamily="34" charset="-122"/>
                <a:cs typeface="Meiryo" pitchFamily="34" charset="-120"/>
              </a:rPr>
              <a:t>merge_source（仮称）</a:t>
            </a:r>
            <a:pPr indent="0" marL="0">
              <a:buNone/>
            </a:pPr>
            <a:r>
              <a:rPr lang="en-US" sz="1300" dirty="0">
                <a:solidFill>
                  <a:srgbClr val="171A1C"/>
                </a:solidFill>
                <a:latin typeface="Meiryo" pitchFamily="34" charset="0"/>
                <a:ea typeface="Meiryo" pitchFamily="34" charset="-122"/>
                <a:cs typeface="Meiryo" pitchFamily="34" charset="-120"/>
              </a:rPr>
              <a:t>　実装をまとめたもの</a:t>
            </a:r>
            <a:endParaRPr lang="en-US" sz="1300" dirty="0"/>
          </a:p>
        </p:txBody>
      </p:sp>
      <p:sp>
        <p:nvSpPr>
          <p:cNvPr id="8" name="Text 5"/>
          <p:cNvSpPr txBox="1"/>
          <p:nvPr/>
        </p:nvSpPr>
        <p:spPr>
          <a:xfrm>
            <a:off x="804672" y="2084832"/>
            <a:ext cx="4956048" cy="237744"/>
          </a:xfrm>
          <a:prstGeom prst="rect">
            <a:avLst/>
          </a:prstGeom>
          <a:noFill/>
          <a:ln/>
        </p:spPr>
        <p:txBody>
          <a:bodyPr wrap="square" lIns="0" tIns="0" rIns="0" bIns="0" rtlCol="0" anchor="ctr"/>
          <a:lstStyle/>
          <a:p>
            <a:pPr indent="0" marL="0">
              <a:buNone/>
            </a:pPr>
            <a:r>
              <a:rPr lang="en-US" sz="1000" dirty="0">
                <a:solidFill>
                  <a:srgbClr val="626D72"/>
                </a:solidFill>
                <a:latin typeface="Meiryo" pitchFamily="34" charset="0"/>
                <a:ea typeface="Meiryo" pitchFamily="34" charset="-122"/>
                <a:cs typeface="Meiryo" pitchFamily="34" charset="-120"/>
              </a:rPr>
              <a:t>プログラム・スクリプト類をひとまとめに。</a:t>
            </a:r>
            <a:endParaRPr lang="en-US" sz="1000" dirty="0"/>
          </a:p>
        </p:txBody>
      </p:sp>
      <p:sp>
        <p:nvSpPr>
          <p:cNvPr id="9" name="Text 6"/>
          <p:cNvSpPr txBox="1"/>
          <p:nvPr/>
        </p:nvSpPr>
        <p:spPr>
          <a:xfrm>
            <a:off x="804672" y="2395728"/>
            <a:ext cx="4956048" cy="731520"/>
          </a:xfrm>
          <a:prstGeom prst="rect">
            <a:avLst/>
          </a:prstGeom>
          <a:noFill/>
          <a:ln/>
        </p:spPr>
        <p:txBody>
          <a:bodyPr wrap="square" lIns="0" tIns="0" rIns="0" bIns="0" rtlCol="0" anchor="t"/>
          <a:lstStyle/>
          <a:p>
            <a:pPr indent="0" marL="0">
              <a:lnSpc>
                <a:spcPts val="1650"/>
              </a:lnSpc>
              <a:buNone/>
            </a:pPr>
            <a:r>
              <a:rPr lang="en-US" sz="1100" dirty="0">
                <a:solidFill>
                  <a:srgbClr val="394246"/>
                </a:solidFill>
                <a:latin typeface="Meiryo" pitchFamily="34" charset="0"/>
                <a:ea typeface="Meiryo" pitchFamily="34" charset="-122"/>
                <a:cs typeface="Meiryo" pitchFamily="34" charset="-120"/>
              </a:rPr>
              <a:t>答えたい問い：「なぜこう動くのか」</a:t>
            </a:r>
            <a:endParaRPr lang="en-US" sz="1100" dirty="0"/>
          </a:p>
          <a:p>
            <a:pPr indent="0" marL="0">
              <a:lnSpc>
                <a:spcPts val="1650"/>
              </a:lnSpc>
              <a:buNone/>
            </a:pPr>
            <a:r>
              <a:rPr lang="en-US" sz="1100" dirty="0">
                <a:solidFill>
                  <a:srgbClr val="394246"/>
                </a:solidFill>
                <a:latin typeface="Meiryo" pitchFamily="34" charset="0"/>
                <a:ea typeface="Meiryo" pitchFamily="34" charset="-122"/>
                <a:cs typeface="Meiryo" pitchFamily="34" charset="-120"/>
              </a:rPr>
              <a:t>処理の流れ、分岐条件、計算ロジック、呼び出し関係。</a:t>
            </a:r>
            <a:endParaRPr lang="en-US" sz="1100" dirty="0"/>
          </a:p>
        </p:txBody>
      </p:sp>
      <p:sp>
        <p:nvSpPr>
          <p:cNvPr id="10" name="Shape 7"/>
          <p:cNvSpPr/>
          <p:nvPr/>
        </p:nvSpPr>
        <p:spPr>
          <a:xfrm>
            <a:off x="6537960" y="1572768"/>
            <a:ext cx="5431536" cy="1664208"/>
          </a:xfrm>
          <a:prstGeom prst="roundRect">
            <a:avLst>
              <a:gd name="adj" fmla="val 2747"/>
            </a:avLst>
          </a:prstGeom>
          <a:solidFill>
            <a:srgbClr val="E2EFEA"/>
          </a:solidFill>
          <a:ln w="12700">
            <a:solidFill>
              <a:srgbClr val="E2EFEA"/>
            </a:solidFill>
            <a:prstDash val="solid"/>
          </a:ln>
        </p:spPr>
      </p:sp>
      <p:sp>
        <p:nvSpPr>
          <p:cNvPr id="11" name="Text 8"/>
          <p:cNvSpPr txBox="1"/>
          <p:nvPr/>
        </p:nvSpPr>
        <p:spPr>
          <a:xfrm>
            <a:off x="6775704" y="1755648"/>
            <a:ext cx="4956048" cy="274320"/>
          </a:xfrm>
          <a:prstGeom prst="rect">
            <a:avLst/>
          </a:prstGeom>
          <a:noFill/>
          <a:ln/>
        </p:spPr>
        <p:txBody>
          <a:bodyPr wrap="square" lIns="0" tIns="0" rIns="0" bIns="0" rtlCol="0" anchor="ctr"/>
          <a:lstStyle/>
          <a:p>
            <a:pPr indent="0" marL="0">
              <a:buNone/>
            </a:pPr>
            <a:r>
              <a:rPr lang="en-US" sz="1300" b="1" dirty="0">
                <a:solidFill>
                  <a:srgbClr val="1C6E52"/>
                </a:solidFill>
                <a:latin typeface="Meiryo" pitchFamily="34" charset="0"/>
                <a:ea typeface="Meiryo" pitchFamily="34" charset="-122"/>
                <a:cs typeface="Meiryo" pitchFamily="34" charset="-120"/>
              </a:rPr>
              <a:t>merge_config（仮称）</a:t>
            </a:r>
            <a:pPr indent="0" marL="0">
              <a:buNone/>
            </a:pPr>
            <a:r>
              <a:rPr lang="en-US" sz="1300" dirty="0">
                <a:solidFill>
                  <a:srgbClr val="171A1C"/>
                </a:solidFill>
                <a:latin typeface="Meiryo" pitchFamily="34" charset="0"/>
                <a:ea typeface="Meiryo" pitchFamily="34" charset="-122"/>
                <a:cs typeface="Meiryo" pitchFamily="34" charset="-120"/>
              </a:rPr>
              <a:t>　設定・データをまとめたもの</a:t>
            </a:r>
            <a:endParaRPr lang="en-US" sz="1300" dirty="0"/>
          </a:p>
        </p:txBody>
      </p:sp>
      <p:sp>
        <p:nvSpPr>
          <p:cNvPr id="12" name="Text 9"/>
          <p:cNvSpPr txBox="1"/>
          <p:nvPr/>
        </p:nvSpPr>
        <p:spPr>
          <a:xfrm>
            <a:off x="6775704" y="2084832"/>
            <a:ext cx="4956048" cy="237744"/>
          </a:xfrm>
          <a:prstGeom prst="rect">
            <a:avLst/>
          </a:prstGeom>
          <a:noFill/>
          <a:ln/>
        </p:spPr>
        <p:txBody>
          <a:bodyPr wrap="square" lIns="0" tIns="0" rIns="0" bIns="0" rtlCol="0" anchor="ctr"/>
          <a:lstStyle/>
          <a:p>
            <a:pPr indent="0" marL="0">
              <a:buNone/>
            </a:pPr>
            <a:r>
              <a:rPr lang="en-US" sz="1000" dirty="0">
                <a:solidFill>
                  <a:srgbClr val="626D72"/>
                </a:solidFill>
                <a:latin typeface="Meiryo" pitchFamily="34" charset="0"/>
                <a:ea typeface="Meiryo" pitchFamily="34" charset="-122"/>
                <a:cs typeface="Meiryo" pitchFamily="34" charset="-120"/>
              </a:rPr>
              <a:t>設定ファイル・定義データ・マスタ類をひとまとめに。</a:t>
            </a:r>
            <a:endParaRPr lang="en-US" sz="1000" dirty="0"/>
          </a:p>
        </p:txBody>
      </p:sp>
      <p:sp>
        <p:nvSpPr>
          <p:cNvPr id="13" name="Text 10"/>
          <p:cNvSpPr txBox="1"/>
          <p:nvPr/>
        </p:nvSpPr>
        <p:spPr>
          <a:xfrm>
            <a:off x="6775704" y="2395728"/>
            <a:ext cx="4956048" cy="731520"/>
          </a:xfrm>
          <a:prstGeom prst="rect">
            <a:avLst/>
          </a:prstGeom>
          <a:noFill/>
          <a:ln/>
        </p:spPr>
        <p:txBody>
          <a:bodyPr wrap="square" lIns="0" tIns="0" rIns="0" bIns="0" rtlCol="0" anchor="t"/>
          <a:lstStyle/>
          <a:p>
            <a:pPr indent="0" marL="0">
              <a:lnSpc>
                <a:spcPts val="1650"/>
              </a:lnSpc>
              <a:buNone/>
            </a:pPr>
            <a:r>
              <a:rPr lang="en-US" sz="1100" dirty="0">
                <a:solidFill>
                  <a:srgbClr val="394246"/>
                </a:solidFill>
                <a:latin typeface="Meiryo" pitchFamily="34" charset="0"/>
                <a:ea typeface="Meiryo" pitchFamily="34" charset="-122"/>
                <a:cs typeface="Meiryo" pitchFamily="34" charset="-120"/>
              </a:rPr>
              <a:t>答えたい問い：「どこで値が決まるのか」</a:t>
            </a:r>
            <a:endParaRPr lang="en-US" sz="1100" dirty="0"/>
          </a:p>
          <a:p>
            <a:pPr indent="0" marL="0">
              <a:lnSpc>
                <a:spcPts val="1650"/>
              </a:lnSpc>
              <a:buNone/>
            </a:pPr>
            <a:r>
              <a:rPr lang="en-US" sz="1100" dirty="0">
                <a:solidFill>
                  <a:srgbClr val="394246"/>
                </a:solidFill>
                <a:latin typeface="Meiryo" pitchFamily="34" charset="0"/>
                <a:ea typeface="Meiryo" pitchFamily="34" charset="-122"/>
                <a:cs typeface="Meiryo" pitchFamily="34" charset="-120"/>
              </a:rPr>
              <a:t>環境差分、既定値、閾値、コード値の意味。</a:t>
            </a:r>
            <a:endParaRPr lang="en-US" sz="1100" dirty="0"/>
          </a:p>
        </p:txBody>
      </p:sp>
      <p:sp>
        <p:nvSpPr>
          <p:cNvPr id="14" name="Shape 11"/>
          <p:cNvSpPr/>
          <p:nvPr/>
        </p:nvSpPr>
        <p:spPr>
          <a:xfrm>
            <a:off x="566928" y="3511296"/>
            <a:ext cx="5431536" cy="1517904"/>
          </a:xfrm>
          <a:prstGeom prst="roundRect">
            <a:avLst>
              <a:gd name="adj" fmla="val 3012"/>
            </a:avLst>
          </a:prstGeom>
          <a:solidFill>
            <a:srgbClr val="F2F4F3"/>
          </a:solidFill>
          <a:ln w="12700">
            <a:solidFill>
              <a:srgbClr val="F2F4F3"/>
            </a:solidFill>
            <a:prstDash val="solid"/>
          </a:ln>
        </p:spPr>
      </p:sp>
      <p:sp>
        <p:nvSpPr>
          <p:cNvPr id="15" name="Text 12"/>
          <p:cNvSpPr txBox="1"/>
          <p:nvPr/>
        </p:nvSpPr>
        <p:spPr>
          <a:xfrm>
            <a:off x="804672" y="3666744"/>
            <a:ext cx="4956048" cy="292608"/>
          </a:xfrm>
          <a:prstGeom prst="rect">
            <a:avLst/>
          </a:prstGeom>
          <a:noFill/>
          <a:ln/>
        </p:spPr>
        <p:txBody>
          <a:bodyPr wrap="square" lIns="0" tIns="0" rIns="0" bIns="0" rtlCol="0" anchor="t"/>
          <a:lstStyle/>
          <a:p>
            <a:pPr indent="0" marL="0">
              <a:buNone/>
            </a:pPr>
            <a:r>
              <a:rPr lang="en-US" sz="1300" b="1" dirty="0">
                <a:solidFill>
                  <a:srgbClr val="171A1C"/>
                </a:solidFill>
                <a:latin typeface="Meiryo" pitchFamily="34" charset="0"/>
                <a:ea typeface="Meiryo" pitchFamily="34" charset="-122"/>
                <a:cs typeface="Meiryo" pitchFamily="34" charset="-120"/>
              </a:rPr>
              <a:t>2本に分ける理由</a:t>
            </a:r>
            <a:endParaRPr lang="en-US" sz="1300" dirty="0"/>
          </a:p>
        </p:txBody>
      </p:sp>
      <p:sp>
        <p:nvSpPr>
          <p:cNvPr id="16" name="Text 13"/>
          <p:cNvSpPr txBox="1"/>
          <p:nvPr/>
        </p:nvSpPr>
        <p:spPr>
          <a:xfrm>
            <a:off x="896112" y="4041648"/>
            <a:ext cx="4846320" cy="877824"/>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読める分量を食い合わない</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問いの粒度が違う（同時に聞いても精度が出ない）</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更新頻度が違う（設定は環境ごとに差し替わる）</a:t>
            </a:r>
            <a:endParaRPr lang="en-US" sz="1100" dirty="0"/>
          </a:p>
        </p:txBody>
      </p:sp>
      <p:sp>
        <p:nvSpPr>
          <p:cNvPr id="17" name="Shape 14"/>
          <p:cNvSpPr/>
          <p:nvPr/>
        </p:nvSpPr>
        <p:spPr>
          <a:xfrm>
            <a:off x="6537960" y="3511296"/>
            <a:ext cx="5084064" cy="1517904"/>
          </a:xfrm>
          <a:prstGeom prst="roundRect">
            <a:avLst>
              <a:gd name="adj" fmla="val 3012"/>
            </a:avLst>
          </a:prstGeom>
          <a:solidFill>
            <a:srgbClr val="F6EFDC"/>
          </a:solidFill>
          <a:ln w="12700">
            <a:solidFill>
              <a:srgbClr val="F6EFDC"/>
            </a:solidFill>
            <a:prstDash val="solid"/>
          </a:ln>
        </p:spPr>
      </p:sp>
      <p:sp>
        <p:nvSpPr>
          <p:cNvPr id="18" name="Text 15"/>
          <p:cNvSpPr txBox="1"/>
          <p:nvPr/>
        </p:nvSpPr>
        <p:spPr>
          <a:xfrm>
            <a:off x="6775704" y="3666744"/>
            <a:ext cx="4608576" cy="292608"/>
          </a:xfrm>
          <a:prstGeom prst="rect">
            <a:avLst/>
          </a:prstGeom>
          <a:noFill/>
          <a:ln/>
        </p:spPr>
        <p:txBody>
          <a:bodyPr wrap="square" lIns="0" tIns="0" rIns="0" bIns="0" rtlCol="0" anchor="t"/>
          <a:lstStyle/>
          <a:p>
            <a:pPr indent="0" marL="0">
              <a:buNone/>
            </a:pPr>
            <a:r>
              <a:rPr lang="en-US" sz="1300" b="1" dirty="0">
                <a:solidFill>
                  <a:srgbClr val="8D6408"/>
                </a:solidFill>
                <a:latin typeface="Meiryo" pitchFamily="34" charset="0"/>
                <a:ea typeface="Meiryo" pitchFamily="34" charset="-122"/>
                <a:cs typeface="Meiryo" pitchFamily="34" charset="-120"/>
              </a:rPr>
              <a:t>まとめるときの必須要件は3つだけ</a:t>
            </a:r>
            <a:endParaRPr lang="en-US" sz="1300" dirty="0"/>
          </a:p>
        </p:txBody>
      </p:sp>
      <p:sp>
        <p:nvSpPr>
          <p:cNvPr id="19" name="Text 16"/>
          <p:cNvSpPr txBox="1"/>
          <p:nvPr/>
        </p:nvSpPr>
        <p:spPr>
          <a:xfrm>
            <a:off x="6867144" y="4041648"/>
            <a:ext cx="4480560" cy="877824"/>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UTF-8 に統一し、拡張子はテキストにする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先頭に索引をつける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ファイルの境目に区切り行を入れる</a:t>
            </a:r>
            <a:endParaRPr lang="en-US" sz="1100" dirty="0"/>
          </a:p>
        </p:txBody>
      </p:sp>
      <p:sp>
        <p:nvSpPr>
          <p:cNvPr id="20" name="Shape 17"/>
          <p:cNvSpPr/>
          <p:nvPr/>
        </p:nvSpPr>
        <p:spPr>
          <a:xfrm>
            <a:off x="566928" y="5303520"/>
            <a:ext cx="11055096" cy="987552"/>
          </a:xfrm>
          <a:prstGeom prst="roundRect">
            <a:avLst>
              <a:gd name="adj" fmla="val 4630"/>
            </a:avLst>
          </a:prstGeom>
          <a:solidFill>
            <a:srgbClr val="E7ECF7"/>
          </a:solidFill>
          <a:ln w="12700">
            <a:solidFill>
              <a:srgbClr val="E7ECF7"/>
            </a:solidFill>
            <a:prstDash val="solid"/>
          </a:ln>
        </p:spPr>
      </p:sp>
      <p:sp>
        <p:nvSpPr>
          <p:cNvPr id="21" name="Text 18"/>
          <p:cNvSpPr txBox="1"/>
          <p:nvPr/>
        </p:nvSpPr>
        <p:spPr>
          <a:xfrm>
            <a:off x="804672" y="5468112"/>
            <a:ext cx="10607040" cy="694944"/>
          </a:xfrm>
          <a:prstGeom prst="rect">
            <a:avLst/>
          </a:prstGeom>
          <a:noFill/>
          <a:ln/>
        </p:spPr>
        <p:txBody>
          <a:bodyPr wrap="square" lIns="0" tIns="0" rIns="0" bIns="0" rtlCol="0" anchor="t"/>
          <a:lstStyle/>
          <a:p>
            <a:pPr indent="0" marL="0">
              <a:lnSpc>
                <a:spcPts val="1700"/>
              </a:lnSpc>
              <a:buNone/>
            </a:pPr>
            <a:r>
              <a:rPr lang="en-US" sz="1150" b="1" dirty="0">
                <a:solidFill>
                  <a:srgbClr val="27488F"/>
                </a:solidFill>
                <a:latin typeface="Meiryo" pitchFamily="34" charset="0"/>
                <a:ea typeface="Meiryo" pitchFamily="34" charset="-122"/>
                <a:cs typeface="Meiryo" pitchFamily="34" charset="-120"/>
              </a:rPr>
              <a:t>特に索引。これが収束の起点になる。</a:t>
            </a:r>
            <a:pPr indent="0" marL="0">
              <a:lnSpc>
                <a:spcPts val="1700"/>
              </a:lnSpc>
              <a:buNone/>
            </a:pPr>
            <a:endParaRPr lang="en-US" sz="1150" dirty="0"/>
          </a:p>
          <a:p>
            <a:pPr indent="0" marL="0">
              <a:lnSpc>
                <a:spcPts val="1700"/>
              </a:lnSpc>
              <a:buNone/>
            </a:pPr>
            <a:r>
              <a:rPr lang="en-US" sz="1150" dirty="0">
                <a:solidFill>
                  <a:srgbClr val="394246"/>
                </a:solidFill>
                <a:latin typeface="Meiryo" pitchFamily="34" charset="0"/>
                <a:ea typeface="Meiryo" pitchFamily="34" charset="-122"/>
                <a:cs typeface="Meiryo" pitchFamily="34" charset="-120"/>
              </a:rPr>
              <a:t>索引だけなら短いので丸ごと渡せる。業務の言葉と実装を橋渡しする、この仕掛けの肝。まとめ処理そのものは使い捨てのスクリプトで足りる。</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05 ／ 発散 その2</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問いの入口は、コードの言葉ではなくドキュメントの言葉で</a:t>
            </a:r>
            <a:endParaRPr lang="en-US" sz="3000" dirty="0"/>
          </a:p>
        </p:txBody>
      </p:sp>
      <p:sp>
        <p:nvSpPr>
          <p:cNvPr id="6" name="Shape 3"/>
          <p:cNvSpPr/>
          <p:nvPr/>
        </p:nvSpPr>
        <p:spPr>
          <a:xfrm>
            <a:off x="566928" y="1737360"/>
            <a:ext cx="5431536" cy="2286000"/>
          </a:xfrm>
          <a:prstGeom prst="roundRect">
            <a:avLst>
              <a:gd name="adj" fmla="val 2000"/>
            </a:avLst>
          </a:prstGeom>
          <a:solidFill>
            <a:srgbClr val="F7E6E1"/>
          </a:solidFill>
          <a:ln w="12700">
            <a:solidFill>
              <a:srgbClr val="F7E6E1"/>
            </a:solidFill>
            <a:prstDash val="solid"/>
          </a:ln>
        </p:spPr>
      </p:sp>
      <p:sp>
        <p:nvSpPr>
          <p:cNvPr id="7" name="Text 4"/>
          <p:cNvSpPr txBox="1"/>
          <p:nvPr/>
        </p:nvSpPr>
        <p:spPr>
          <a:xfrm>
            <a:off x="804672" y="1892808"/>
            <a:ext cx="4956048" cy="292608"/>
          </a:xfrm>
          <a:prstGeom prst="rect">
            <a:avLst/>
          </a:prstGeom>
          <a:noFill/>
          <a:ln/>
        </p:spPr>
        <p:txBody>
          <a:bodyPr wrap="square" lIns="0" tIns="0" rIns="0" bIns="0" rtlCol="0" anchor="t"/>
          <a:lstStyle/>
          <a:p>
            <a:pPr indent="0" marL="0">
              <a:buNone/>
            </a:pPr>
            <a:r>
              <a:rPr lang="en-US" sz="1300" b="1" dirty="0">
                <a:solidFill>
                  <a:srgbClr val="A3351D"/>
                </a:solidFill>
                <a:latin typeface="Meiryo" pitchFamily="34" charset="0"/>
                <a:ea typeface="Meiryo" pitchFamily="34" charset="-122"/>
                <a:cs typeface="Meiryo" pitchFamily="34" charset="-120"/>
              </a:rPr>
              <a:t>コードの言葉から入ると詰まる</a:t>
            </a:r>
            <a:endParaRPr lang="en-US" sz="1300" dirty="0"/>
          </a:p>
        </p:txBody>
      </p:sp>
      <p:sp>
        <p:nvSpPr>
          <p:cNvPr id="8" name="Text 5"/>
          <p:cNvSpPr txBox="1"/>
          <p:nvPr/>
        </p:nvSpPr>
        <p:spPr>
          <a:xfrm>
            <a:off x="896112" y="2286000"/>
            <a:ext cx="4773168" cy="155448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150" dirty="0">
                <a:solidFill>
                  <a:srgbClr val="394246"/>
                </a:solidFill>
                <a:latin typeface="Meiryo" pitchFamily="34" charset="0"/>
                <a:ea typeface="Meiryo" pitchFamily="34" charset="-122"/>
                <a:cs typeface="Meiryo" pitchFamily="34" charset="-120"/>
              </a:rPr>
              <a:t>既設システムの識別子はローマ字略号・連番・歴史的経緯の産物で、業務の言葉と一致しない</a:t>
            </a:r>
            <a:endParaRPr lang="en-US" sz="1150" dirty="0"/>
          </a:p>
          <a:p>
            <a:pPr marL="342900" indent="-342900">
              <a:lnSpc>
                <a:spcPts val="1800"/>
              </a:lnSpc>
              <a:spcAft>
                <a:spcPts val="500"/>
              </a:spcAft>
              <a:buSzPct val="100000"/>
              <a:buChar char="•"/>
            </a:pPr>
            <a:r>
              <a:rPr lang="en-US" sz="1150" dirty="0">
                <a:solidFill>
                  <a:srgbClr val="394246"/>
                </a:solidFill>
                <a:latin typeface="Meiryo" pitchFamily="34" charset="0"/>
                <a:ea typeface="Meiryo" pitchFamily="34" charset="-122"/>
                <a:cs typeface="Meiryo" pitchFamily="34" charset="-120"/>
              </a:rPr>
              <a:t>知らない名前は永遠に引っかからない</a:t>
            </a:r>
            <a:endParaRPr lang="en-US" sz="1150" dirty="0"/>
          </a:p>
          <a:p>
            <a:pPr marL="342900" indent="-342900">
              <a:lnSpc>
                <a:spcPts val="1800"/>
              </a:lnSpc>
              <a:spcAft>
                <a:spcPts val="500"/>
              </a:spcAft>
              <a:buSzPct val="100000"/>
              <a:buChar char="•"/>
            </a:pPr>
            <a:r>
              <a:rPr lang="en-US" sz="1150" dirty="0">
                <a:solidFill>
                  <a:srgbClr val="394246"/>
                </a:solidFill>
                <a:latin typeface="Meiryo" pitchFamily="34" charset="0"/>
                <a:ea typeface="Meiryo" pitchFamily="34" charset="-122"/>
                <a:cs typeface="Meiryo" pitchFamily="34" charset="-120"/>
              </a:rPr>
              <a:t>調査は「知らないもの」を探す作業なのに</a:t>
            </a:r>
            <a:endParaRPr lang="en-US" sz="1150" dirty="0"/>
          </a:p>
        </p:txBody>
      </p:sp>
      <p:sp>
        <p:nvSpPr>
          <p:cNvPr id="9" name="Shape 6"/>
          <p:cNvSpPr/>
          <p:nvPr/>
        </p:nvSpPr>
        <p:spPr>
          <a:xfrm>
            <a:off x="6537960" y="1737360"/>
            <a:ext cx="5084064" cy="2286000"/>
          </a:xfrm>
          <a:prstGeom prst="roundRect">
            <a:avLst>
              <a:gd name="adj" fmla="val 2000"/>
            </a:avLst>
          </a:prstGeom>
          <a:solidFill>
            <a:srgbClr val="E2EFEA"/>
          </a:solidFill>
          <a:ln w="12700">
            <a:solidFill>
              <a:srgbClr val="E2EFEA"/>
            </a:solidFill>
            <a:prstDash val="solid"/>
          </a:ln>
        </p:spPr>
      </p:sp>
      <p:sp>
        <p:nvSpPr>
          <p:cNvPr id="10" name="Text 7"/>
          <p:cNvSpPr txBox="1"/>
          <p:nvPr/>
        </p:nvSpPr>
        <p:spPr>
          <a:xfrm>
            <a:off x="6775704" y="1892808"/>
            <a:ext cx="4608576" cy="292608"/>
          </a:xfrm>
          <a:prstGeom prst="rect">
            <a:avLst/>
          </a:prstGeom>
          <a:noFill/>
          <a:ln/>
        </p:spPr>
        <p:txBody>
          <a:bodyPr wrap="square" lIns="0" tIns="0" rIns="0" bIns="0" rtlCol="0" anchor="t"/>
          <a:lstStyle/>
          <a:p>
            <a:pPr indent="0" marL="0">
              <a:buNone/>
            </a:pPr>
            <a:r>
              <a:rPr lang="en-US" sz="1300" b="1" dirty="0">
                <a:solidFill>
                  <a:srgbClr val="1C6E52"/>
                </a:solidFill>
                <a:latin typeface="Meiryo" pitchFamily="34" charset="0"/>
                <a:ea typeface="Meiryo" pitchFamily="34" charset="-122"/>
                <a:cs typeface="Meiryo" pitchFamily="34" charset="-120"/>
              </a:rPr>
              <a:t>ドキュメントの言葉から入る</a:t>
            </a:r>
            <a:endParaRPr lang="en-US" sz="1300" dirty="0"/>
          </a:p>
        </p:txBody>
      </p:sp>
      <p:sp>
        <p:nvSpPr>
          <p:cNvPr id="11" name="Text 8"/>
          <p:cNvSpPr txBox="1"/>
          <p:nvPr/>
        </p:nvSpPr>
        <p:spPr>
          <a:xfrm>
            <a:off x="6867144" y="2286000"/>
            <a:ext cx="4425696" cy="155448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150" dirty="0">
                <a:solidFill>
                  <a:srgbClr val="394246"/>
                </a:solidFill>
                <a:latin typeface="Meiryo" pitchFamily="34" charset="0"/>
                <a:ea typeface="Meiryo" pitchFamily="34" charset="-122"/>
                <a:cs typeface="Meiryo" pitchFamily="34" charset="-120"/>
              </a:rPr>
              <a:t>仕様書・運用手順書・帳票名・画面名・業務用語で問う</a:t>
            </a:r>
            <a:endParaRPr lang="en-US" sz="1150" dirty="0"/>
          </a:p>
          <a:p>
            <a:pPr marL="342900" indent="-342900">
              <a:lnSpc>
                <a:spcPts val="1800"/>
              </a:lnSpc>
              <a:spcAft>
                <a:spcPts val="500"/>
              </a:spcAft>
              <a:buSzPct val="100000"/>
              <a:buChar char="•"/>
            </a:pPr>
            <a:r>
              <a:rPr lang="en-US" sz="1150" dirty="0">
                <a:solidFill>
                  <a:srgbClr val="394246"/>
                </a:solidFill>
                <a:latin typeface="Meiryo" pitchFamily="34" charset="0"/>
                <a:ea typeface="Meiryo" pitchFamily="34" charset="-122"/>
                <a:cs typeface="Meiryo" pitchFamily="34" charset="-120"/>
              </a:rPr>
              <a:t>索引が、業務の言葉と実装の橋渡しをする</a:t>
            </a:r>
            <a:endParaRPr lang="en-US" sz="1150" dirty="0"/>
          </a:p>
          <a:p>
            <a:pPr marL="342900" indent="-342900">
              <a:lnSpc>
                <a:spcPts val="1800"/>
              </a:lnSpc>
              <a:spcAft>
                <a:spcPts val="500"/>
              </a:spcAft>
              <a:buSzPct val="100000"/>
              <a:buChar char="•"/>
            </a:pPr>
            <a:r>
              <a:rPr lang="en-US" sz="1150" dirty="0">
                <a:solidFill>
                  <a:srgbClr val="394246"/>
                </a:solidFill>
                <a:latin typeface="Meiryo" pitchFamily="34" charset="0"/>
                <a:ea typeface="Meiryo" pitchFamily="34" charset="-122"/>
                <a:cs typeface="Meiryo" pitchFamily="34" charset="-120"/>
              </a:rPr>
              <a:t>知りたい単位で候補が出る</a:t>
            </a:r>
            <a:endParaRPr lang="en-US" sz="1150" dirty="0"/>
          </a:p>
        </p:txBody>
      </p:sp>
      <p:sp>
        <p:nvSpPr>
          <p:cNvPr id="12" name="Shape 9"/>
          <p:cNvSpPr/>
          <p:nvPr/>
        </p:nvSpPr>
        <p:spPr>
          <a:xfrm>
            <a:off x="566928" y="4261104"/>
            <a:ext cx="11055096" cy="2176272"/>
          </a:xfrm>
          <a:prstGeom prst="roundRect">
            <a:avLst>
              <a:gd name="adj" fmla="val 2101"/>
            </a:avLst>
          </a:prstGeom>
          <a:solidFill>
            <a:srgbClr val="E7ECF7"/>
          </a:solidFill>
          <a:ln w="12700">
            <a:solidFill>
              <a:srgbClr val="E7ECF7"/>
            </a:solidFill>
            <a:prstDash val="solid"/>
          </a:ln>
        </p:spPr>
      </p:sp>
      <p:sp>
        <p:nvSpPr>
          <p:cNvPr id="13" name="Text 10"/>
          <p:cNvSpPr txBox="1"/>
          <p:nvPr/>
        </p:nvSpPr>
        <p:spPr>
          <a:xfrm>
            <a:off x="804672" y="4416552"/>
            <a:ext cx="10579608"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発散フェーズのプロンプトの型</a:t>
            </a:r>
            <a:endParaRPr lang="en-US" sz="1300" dirty="0"/>
          </a:p>
        </p:txBody>
      </p:sp>
      <p:sp>
        <p:nvSpPr>
          <p:cNvPr id="14" name="Shape 11"/>
          <p:cNvSpPr/>
          <p:nvPr/>
        </p:nvSpPr>
        <p:spPr>
          <a:xfrm>
            <a:off x="804672" y="4773168"/>
            <a:ext cx="10579608" cy="841248"/>
          </a:xfrm>
          <a:prstGeom prst="rect">
            <a:avLst/>
          </a:prstGeom>
          <a:solidFill>
            <a:srgbClr val="FFFFFF"/>
          </a:solidFill>
          <a:ln w="12700">
            <a:solidFill>
              <a:srgbClr val="FFFFFF"/>
            </a:solidFill>
            <a:prstDash val="solid"/>
          </a:ln>
        </p:spPr>
      </p:sp>
      <p:sp>
        <p:nvSpPr>
          <p:cNvPr id="15" name="Text 12"/>
          <p:cNvSpPr txBox="1"/>
          <p:nvPr/>
        </p:nvSpPr>
        <p:spPr>
          <a:xfrm>
            <a:off x="987552" y="4882896"/>
            <a:ext cx="10241280" cy="640080"/>
          </a:xfrm>
          <a:prstGeom prst="rect">
            <a:avLst/>
          </a:prstGeom>
          <a:noFill/>
          <a:ln/>
        </p:spPr>
        <p:txBody>
          <a:bodyPr wrap="square" lIns="0" tIns="0" rIns="0" bIns="0" rtlCol="0" anchor="t"/>
          <a:lstStyle/>
          <a:p>
            <a:pPr indent="0" marL="0">
              <a:lnSpc>
                <a:spcPts val="1900"/>
              </a:lnSpc>
              <a:buNone/>
            </a:pPr>
            <a:r>
              <a:rPr lang="en-US" sz="1200" dirty="0">
                <a:solidFill>
                  <a:srgbClr val="171A1C"/>
                </a:solidFill>
                <a:latin typeface="Meiryo" pitchFamily="34" charset="0"/>
                <a:ea typeface="Meiryo" pitchFamily="34" charset="-122"/>
                <a:cs typeface="Meiryo" pitchFamily="34" charset="-120"/>
              </a:rPr>
              <a:t>「添付は既設システムの索引です。〇〇（帳票名・画面名・業務用語）に関係していそうなものを、</a:t>
            </a:r>
            <a:endParaRPr lang="en-US" sz="1200" dirty="0"/>
          </a:p>
          <a:p>
            <a:pPr indent="0" marL="0">
              <a:lnSpc>
                <a:spcPts val="1900"/>
              </a:lnSpc>
              <a:buNone/>
            </a:pPr>
            <a:r>
              <a:rPr lang="en-US" sz="1200" dirty="0">
                <a:solidFill>
                  <a:srgbClr val="171A1C"/>
                </a:solidFill>
                <a:latin typeface="Meiryo" pitchFamily="34" charset="0"/>
                <a:ea typeface="Meiryo" pitchFamily="34" charset="-122"/>
                <a:cs typeface="Meiryo" pitchFamily="34" charset="-120"/>
              </a:rPr>
              <a:t>判断の根拠つきで5〜10件挙げてください。確信度も併記してください。」</a:t>
            </a:r>
            <a:endParaRPr lang="en-US" sz="1200" dirty="0"/>
          </a:p>
        </p:txBody>
      </p:sp>
      <p:sp>
        <p:nvSpPr>
          <p:cNvPr id="16" name="Text 13"/>
          <p:cNvSpPr txBox="1"/>
          <p:nvPr/>
        </p:nvSpPr>
        <p:spPr>
          <a:xfrm>
            <a:off x="804672" y="5815584"/>
            <a:ext cx="10607040" cy="329184"/>
          </a:xfrm>
          <a:prstGeom prst="rect">
            <a:avLst/>
          </a:prstGeom>
          <a:noFill/>
          <a:ln/>
        </p:spPr>
        <p:txBody>
          <a:bodyPr wrap="square" lIns="0" tIns="0" rIns="0" bIns="0" rtlCol="0" anchor="ctr"/>
          <a:lstStyle/>
          <a:p>
            <a:pPr indent="0" marL="0">
              <a:buNone/>
            </a:pPr>
            <a:r>
              <a:rPr lang="en-US" sz="1150" b="1" dirty="0">
                <a:solidFill>
                  <a:srgbClr val="171A1C"/>
                </a:solidFill>
                <a:latin typeface="Meiryo" pitchFamily="34" charset="0"/>
                <a:ea typeface="Meiryo" pitchFamily="34" charset="-122"/>
                <a:cs typeface="Meiryo" pitchFamily="34" charset="-120"/>
              </a:rPr>
              <a:t>ここでは絞らせない。</a:t>
            </a:r>
            <a:pPr indent="0" marL="0">
              <a:buNone/>
            </a:pPr>
            <a:r>
              <a:rPr lang="en-US" sz="1150" dirty="0">
                <a:solidFill>
                  <a:srgbClr val="394246"/>
                </a:solidFill>
                <a:latin typeface="Meiryo" pitchFamily="34" charset="0"/>
                <a:ea typeface="Meiryo" pitchFamily="34" charset="-122"/>
                <a:cs typeface="Meiryo" pitchFamily="34" charset="-120"/>
              </a:rPr>
              <a:t>　多めに出させて、外れを収束フェーズで落とす。「1つに絞って」と聞けば、根拠の薄い1つが返る。</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06 ／ 収束 その1</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収束＝切り分け。対話と手元の検索で進める</a:t>
            </a:r>
            <a:endParaRPr lang="en-US" sz="3000" dirty="0"/>
          </a:p>
        </p:txBody>
      </p:sp>
      <p:sp>
        <p:nvSpPr>
          <p:cNvPr id="6" name="Text 3"/>
          <p:cNvSpPr txBox="1"/>
          <p:nvPr/>
        </p:nvSpPr>
        <p:spPr>
          <a:xfrm>
            <a:off x="566928" y="1481328"/>
            <a:ext cx="11064240" cy="54864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収束とは、目的外の情報を落として範囲を確定する「切り分け」のこと。Copilot に全部やらせない。得意なことが正反対の grep と組み合わせると急に強くなる。</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194560"/>
          <a:ext cx="11055096" cy="914400"/>
        </p:xfrm>
        <a:graphic>
          <a:graphicData uri="http://schemas.openxmlformats.org/drawingml/2006/table">
            <a:tbl>
              <a:tblPr/>
              <a:tblGrid>
                <a:gridCol w="1463040"/>
                <a:gridCol w="4846320"/>
                <a:gridCol w="4745736"/>
              </a:tblGrid>
              <a:tr h="274320">
                <a:tc>
                  <a:txBody>
                    <a:bodyPr/>
                    <a:lstStyle/>
                    <a:p>
                      <a:pPr indent="0" marL="0">
                        <a:buNone/>
                      </a:pPr>
                      <a:endParaRPr lang="en-US" sz="105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c>
                  <a:txBody>
                    <a:bodyPr/>
                    <a:lstStyle/>
                    <a:p>
                      <a:pPr indent="0" marL="0">
                        <a:buNone/>
                      </a:pPr>
                      <a:r>
                        <a:rPr lang="en-US" sz="1000" b="1" dirty="0">
                          <a:solidFill>
                            <a:srgbClr val="626D72"/>
                          </a:solidFill>
                          <a:latin typeface="Meiryo" pitchFamily="34" charset="0"/>
                          <a:ea typeface="Meiryo" pitchFamily="34" charset="-122"/>
                          <a:cs typeface="Meiryo" pitchFamily="34" charset="-120"/>
                        </a:rPr>
                        <a:t>得意</a:t>
                      </a:r>
                      <a:endParaRPr lang="en-US" sz="100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c>
                  <a:txBody>
                    <a:bodyPr/>
                    <a:lstStyle/>
                    <a:p>
                      <a:pPr indent="0" marL="0">
                        <a:buNone/>
                      </a:pPr>
                      <a:r>
                        <a:rPr lang="en-US" sz="1000" b="1" dirty="0">
                          <a:solidFill>
                            <a:srgbClr val="626D72"/>
                          </a:solidFill>
                          <a:latin typeface="Meiryo" pitchFamily="34" charset="0"/>
                          <a:ea typeface="Meiryo" pitchFamily="34" charset="-122"/>
                          <a:cs typeface="Meiryo" pitchFamily="34" charset="-120"/>
                        </a:rPr>
                        <a:t>不得意</a:t>
                      </a:r>
                      <a:endParaRPr lang="en-US" sz="100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71A1C"/>
                          </a:solidFill>
                          <a:latin typeface="Meiryo" pitchFamily="34" charset="0"/>
                          <a:ea typeface="Meiryo" pitchFamily="34" charset="-122"/>
                          <a:cs typeface="Meiryo" pitchFamily="34" charset="-120"/>
                        </a:rPr>
                        <a:t>Copilot</a:t>
                      </a:r>
                      <a:endParaRPr lang="en-US" sz="105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c>
                  <a:txBody>
                    <a:bodyPr/>
                    <a:lstStyle/>
                    <a:p>
                      <a:pPr indent="0" marL="0">
                        <a:buNone/>
                      </a:pPr>
                      <a:r>
                        <a:rPr lang="en-US" sz="1050" dirty="0">
                          <a:solidFill>
                            <a:srgbClr val="394246"/>
                          </a:solidFill>
                          <a:latin typeface="Meiryo" pitchFamily="34" charset="0"/>
                          <a:ea typeface="Meiryo" pitchFamily="34" charset="-122"/>
                          <a:cs typeface="Meiryo" pitchFamily="34" charset="-120"/>
                        </a:rPr>
                        <a:t>当たりをつける／意味で探す／要約する</a:t>
                      </a:r>
                      <a:endParaRPr lang="en-US" sz="1050" dirty="0">
                        <a:latin typeface="Meiryo" charset="0"/>
                        <a:ea typeface="Meiryo" charset="0"/>
                        <a:cs typeface="Meiryo" charset="0"/>
                      </a:endParaRPr>
                    </a:p>
                    <a:p>
                      <a:pPr indent="0" marL="0">
                        <a:buNone/>
                      </a:pPr>
                      <a:r>
                        <a:rPr lang="en-US" sz="1050" dirty="0">
                          <a:solidFill>
                            <a:srgbClr val="394246"/>
                          </a:solidFill>
                          <a:latin typeface="Meiryo" pitchFamily="34" charset="0"/>
                          <a:ea typeface="Meiryo" pitchFamily="34" charset="-122"/>
                          <a:cs typeface="Meiryo" pitchFamily="34" charset="-120"/>
                        </a:rPr>
                        <a:t>「金額を確定していそうな箇所は？」に答えられる</a:t>
                      </a:r>
                      <a:endParaRPr lang="en-US" sz="105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c>
                  <a:txBody>
                    <a:bodyPr/>
                    <a:lstStyle/>
                    <a:p>
                      <a:pPr indent="0" marL="0">
                        <a:buNone/>
                      </a:pPr>
                      <a:r>
                        <a:rPr lang="en-US" sz="1050" dirty="0">
                          <a:solidFill>
                            <a:srgbClr val="394246"/>
                          </a:solidFill>
                          <a:latin typeface="Meiryo" pitchFamily="34" charset="0"/>
                          <a:ea typeface="Meiryo" pitchFamily="34" charset="-122"/>
                          <a:cs typeface="Meiryo" pitchFamily="34" charset="-120"/>
                        </a:rPr>
                        <a:t>網羅・悉皆調査</a:t>
                      </a:r>
                      <a:endParaRPr lang="en-US" sz="1050" dirty="0">
                        <a:latin typeface="Meiryo" charset="0"/>
                        <a:ea typeface="Meiryo" charset="0"/>
                        <a:cs typeface="Meiryo" charset="0"/>
                      </a:endParaRPr>
                    </a:p>
                    <a:p>
                      <a:pPr indent="0" marL="0">
                        <a:buNone/>
                      </a:pPr>
                      <a:r>
                        <a:rPr lang="en-US" sz="1050" dirty="0">
                          <a:solidFill>
                            <a:srgbClr val="394246"/>
                          </a:solidFill>
                          <a:latin typeface="Meiryo" pitchFamily="34" charset="0"/>
                          <a:ea typeface="Meiryo" pitchFamily="34" charset="-122"/>
                          <a:cs typeface="Meiryo" pitchFamily="34" charset="-120"/>
                        </a:rPr>
                        <a:t>「全部で何箇所あるか」は信用できない</a:t>
                      </a:r>
                      <a:endParaRPr lang="en-US" sz="105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71A1C"/>
                          </a:solidFill>
                          <a:latin typeface="Meiryo" pitchFamily="34" charset="0"/>
                          <a:ea typeface="Meiryo" pitchFamily="34" charset="-122"/>
                          <a:cs typeface="Meiryo" pitchFamily="34" charset="-120"/>
                        </a:rPr>
                        <a:t>grep</a:t>
                      </a:r>
                      <a:endParaRPr lang="en-US" sz="105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c>
                  <a:txBody>
                    <a:bodyPr/>
                    <a:lstStyle/>
                    <a:p>
                      <a:pPr indent="0" marL="0">
                        <a:buNone/>
                      </a:pPr>
                      <a:r>
                        <a:rPr lang="en-US" sz="1050" dirty="0">
                          <a:solidFill>
                            <a:srgbClr val="394246"/>
                          </a:solidFill>
                          <a:latin typeface="Meiryo" pitchFamily="34" charset="0"/>
                          <a:ea typeface="Meiryo" pitchFamily="34" charset="-122"/>
                          <a:cs typeface="Meiryo" pitchFamily="34" charset="-120"/>
                        </a:rPr>
                        <a:t>網羅・悉皆調査</a:t>
                      </a:r>
                      <a:endParaRPr lang="en-US" sz="1050" dirty="0">
                        <a:latin typeface="Meiryo" charset="0"/>
                        <a:ea typeface="Meiryo" charset="0"/>
                        <a:cs typeface="Meiryo" charset="0"/>
                      </a:endParaRPr>
                    </a:p>
                    <a:p>
                      <a:pPr indent="0" marL="0">
                        <a:buNone/>
                      </a:pPr>
                      <a:r>
                        <a:rPr lang="en-US" sz="1050" dirty="0">
                          <a:solidFill>
                            <a:srgbClr val="394246"/>
                          </a:solidFill>
                          <a:latin typeface="Meiryo" pitchFamily="34" charset="0"/>
                          <a:ea typeface="Meiryo" pitchFamily="34" charset="-122"/>
                          <a:cs typeface="Meiryo" pitchFamily="34" charset="-120"/>
                        </a:rPr>
                        <a:t>件数と場所が確実に出る</a:t>
                      </a:r>
                      <a:endParaRPr lang="en-US" sz="105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c>
                  <a:txBody>
                    <a:bodyPr/>
                    <a:lstStyle/>
                    <a:p>
                      <a:pPr indent="0" marL="0">
                        <a:buNone/>
                      </a:pPr>
                      <a:r>
                        <a:rPr lang="en-US" sz="1050" dirty="0">
                          <a:solidFill>
                            <a:srgbClr val="394246"/>
                          </a:solidFill>
                          <a:latin typeface="Meiryo" pitchFamily="34" charset="0"/>
                          <a:ea typeface="Meiryo" pitchFamily="34" charset="-122"/>
                          <a:cs typeface="Meiryo" pitchFamily="34" charset="-120"/>
                        </a:rPr>
                        <a:t>当たりをつける</a:t>
                      </a:r>
                      <a:endParaRPr lang="en-US" sz="1050" dirty="0">
                        <a:latin typeface="Meiryo" charset="0"/>
                        <a:ea typeface="Meiryo" charset="0"/>
                        <a:cs typeface="Meiryo" charset="0"/>
                      </a:endParaRPr>
                    </a:p>
                    <a:p>
                      <a:pPr indent="0" marL="0">
                        <a:buNone/>
                      </a:pPr>
                      <a:r>
                        <a:rPr lang="en-US" sz="1050" dirty="0">
                          <a:solidFill>
                            <a:srgbClr val="394246"/>
                          </a:solidFill>
                          <a:latin typeface="Meiryo" pitchFamily="34" charset="0"/>
                          <a:ea typeface="Meiryo" pitchFamily="34" charset="-122"/>
                          <a:cs typeface="Meiryo" pitchFamily="34" charset="-120"/>
                        </a:rPr>
                        <a:t>検索語が分からなければ何もできない</a:t>
                      </a:r>
                      <a:endParaRPr lang="en-US" sz="1050" dirty="0">
                        <a:latin typeface="Meiryo" charset="0"/>
                        <a:ea typeface="Meiryo" charset="0"/>
                        <a:cs typeface="Meiryo" charset="0"/>
                      </a:endParaRPr>
                    </a:p>
                  </a:txBody>
                  <a:tcPr marL="91440" marR="91440" marT="45720" marB="45720" anchor="ctr">
                    <a:lnL w="6350" cap="flat" cmpd="sng" algn="ctr">
                      <a:solidFill>
                        <a:srgbClr val="D3D9D6"/>
                      </a:solidFill>
                      <a:prstDash val="solid"/>
                      <a:round/>
                      <a:headEnd type="none" w="med" len="med"/>
                      <a:tailEnd type="none" w="med" len="med"/>
                    </a:lnL>
                    <a:lnR w="6350" cap="flat" cmpd="sng" algn="ctr">
                      <a:solidFill>
                        <a:srgbClr val="D3D9D6"/>
                      </a:solidFill>
                      <a:prstDash val="solid"/>
                      <a:round/>
                      <a:headEnd type="none" w="med" len="med"/>
                      <a:tailEnd type="none" w="med" len="med"/>
                    </a:lnR>
                    <a:lnT w="6350" cap="flat" cmpd="sng" algn="ctr">
                      <a:solidFill>
                        <a:srgbClr val="D3D9D6"/>
                      </a:solidFill>
                      <a:prstDash val="solid"/>
                      <a:round/>
                      <a:headEnd type="none" w="med" len="med"/>
                      <a:tailEnd type="none" w="med" len="med"/>
                    </a:lnT>
                    <a:lnB w="6350" cap="flat" cmpd="sng" algn="ctr">
                      <a:solidFill>
                        <a:srgbClr val="D3D9D6"/>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3913632"/>
            <a:ext cx="3566160" cy="1481328"/>
          </a:xfrm>
          <a:prstGeom prst="roundRect">
            <a:avLst>
              <a:gd name="adj" fmla="val 3086"/>
            </a:avLst>
          </a:prstGeom>
          <a:solidFill>
            <a:srgbClr val="F2F4F3"/>
          </a:solidFill>
          <a:ln w="12700">
            <a:solidFill>
              <a:srgbClr val="F2F4F3"/>
            </a:solidFill>
            <a:prstDash val="solid"/>
          </a:ln>
        </p:spPr>
      </p:sp>
      <p:sp>
        <p:nvSpPr>
          <p:cNvPr id="9" name="Text 5"/>
          <p:cNvSpPr txBox="1"/>
          <p:nvPr/>
        </p:nvSpPr>
        <p:spPr>
          <a:xfrm>
            <a:off x="804672" y="4059936"/>
            <a:ext cx="3090672" cy="219456"/>
          </a:xfrm>
          <a:prstGeom prst="rect">
            <a:avLst/>
          </a:prstGeom>
          <a:noFill/>
          <a:ln/>
        </p:spPr>
        <p:txBody>
          <a:bodyPr wrap="square" lIns="0" tIns="0" rIns="0" bIns="0" rtlCol="0" anchor="ctr"/>
          <a:lstStyle/>
          <a:p>
            <a:pPr indent="0" marL="0">
              <a:buNone/>
            </a:pPr>
            <a:r>
              <a:rPr lang="en-US" sz="950" b="1" spc="120" kern="0" dirty="0">
                <a:solidFill>
                  <a:srgbClr val="8D6408"/>
                </a:solidFill>
                <a:latin typeface="Meiryo" pitchFamily="34" charset="0"/>
                <a:ea typeface="Meiryo" pitchFamily="34" charset="-122"/>
                <a:cs typeface="Meiryo" pitchFamily="34" charset="-120"/>
              </a:rPr>
              <a:t>STEP 1</a:t>
            </a:r>
            <a:endParaRPr lang="en-US" sz="950" dirty="0"/>
          </a:p>
        </p:txBody>
      </p:sp>
      <p:sp>
        <p:nvSpPr>
          <p:cNvPr id="10" name="Text 6"/>
          <p:cNvSpPr txBox="1"/>
          <p:nvPr/>
        </p:nvSpPr>
        <p:spPr>
          <a:xfrm>
            <a:off x="804672" y="4315968"/>
            <a:ext cx="3090672" cy="274320"/>
          </a:xfrm>
          <a:prstGeom prst="rect">
            <a:avLst/>
          </a:prstGeom>
          <a:noFill/>
          <a:ln/>
        </p:spPr>
        <p:txBody>
          <a:bodyPr wrap="square" lIns="0" tIns="0" rIns="0" bIns="0" rtlCol="0" anchor="ctr"/>
          <a:lstStyle/>
          <a:p>
            <a:pPr indent="0" marL="0">
              <a:buNone/>
            </a:pPr>
            <a:r>
              <a:rPr lang="en-US" sz="1200" b="1" dirty="0">
                <a:solidFill>
                  <a:srgbClr val="171A1C"/>
                </a:solidFill>
                <a:latin typeface="Meiryo" pitchFamily="34" charset="0"/>
                <a:ea typeface="Meiryo" pitchFamily="34" charset="-122"/>
                <a:cs typeface="Meiryo" pitchFamily="34" charset="-120"/>
              </a:rPr>
              <a:t>Copilot に当たりをつけさせる</a:t>
            </a:r>
            <a:endParaRPr lang="en-US" sz="1200" dirty="0"/>
          </a:p>
        </p:txBody>
      </p:sp>
      <p:sp>
        <p:nvSpPr>
          <p:cNvPr id="11" name="Text 7"/>
          <p:cNvSpPr txBox="1"/>
          <p:nvPr/>
        </p:nvSpPr>
        <p:spPr>
          <a:xfrm>
            <a:off x="804672" y="4645152"/>
            <a:ext cx="3090672" cy="621792"/>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索引と該当箇所を渡し、ファイル名と行番号つきで説明させる。</a:t>
            </a:r>
            <a:endParaRPr lang="en-US" sz="1050" dirty="0"/>
          </a:p>
        </p:txBody>
      </p:sp>
      <p:sp>
        <p:nvSpPr>
          <p:cNvPr id="12" name="Shape 8"/>
          <p:cNvSpPr/>
          <p:nvPr/>
        </p:nvSpPr>
        <p:spPr>
          <a:xfrm>
            <a:off x="4315968" y="3913632"/>
            <a:ext cx="3566160" cy="1481328"/>
          </a:xfrm>
          <a:prstGeom prst="roundRect">
            <a:avLst>
              <a:gd name="adj" fmla="val 3086"/>
            </a:avLst>
          </a:prstGeom>
          <a:solidFill>
            <a:srgbClr val="F2F4F3"/>
          </a:solidFill>
          <a:ln w="12700">
            <a:solidFill>
              <a:srgbClr val="F2F4F3"/>
            </a:solidFill>
            <a:prstDash val="solid"/>
          </a:ln>
        </p:spPr>
      </p:sp>
      <p:sp>
        <p:nvSpPr>
          <p:cNvPr id="13" name="Text 9"/>
          <p:cNvSpPr txBox="1"/>
          <p:nvPr/>
        </p:nvSpPr>
        <p:spPr>
          <a:xfrm>
            <a:off x="4553712" y="4059936"/>
            <a:ext cx="3090672" cy="219456"/>
          </a:xfrm>
          <a:prstGeom prst="rect">
            <a:avLst/>
          </a:prstGeom>
          <a:noFill/>
          <a:ln/>
        </p:spPr>
        <p:txBody>
          <a:bodyPr wrap="square" lIns="0" tIns="0" rIns="0" bIns="0" rtlCol="0" anchor="ctr"/>
          <a:lstStyle/>
          <a:p>
            <a:pPr indent="0" marL="0">
              <a:buNone/>
            </a:pPr>
            <a:r>
              <a:rPr lang="en-US" sz="950" b="1" spc="120" kern="0" dirty="0">
                <a:solidFill>
                  <a:srgbClr val="27488F"/>
                </a:solidFill>
                <a:latin typeface="Meiryo" pitchFamily="34" charset="0"/>
                <a:ea typeface="Meiryo" pitchFamily="34" charset="-122"/>
                <a:cs typeface="Meiryo" pitchFamily="34" charset="-120"/>
              </a:rPr>
              <a:t>STEP 2</a:t>
            </a:r>
            <a:endParaRPr lang="en-US" sz="950" dirty="0"/>
          </a:p>
        </p:txBody>
      </p:sp>
      <p:sp>
        <p:nvSpPr>
          <p:cNvPr id="14" name="Text 10"/>
          <p:cNvSpPr txBox="1"/>
          <p:nvPr/>
        </p:nvSpPr>
        <p:spPr>
          <a:xfrm>
            <a:off x="4553712" y="4315968"/>
            <a:ext cx="3090672" cy="274320"/>
          </a:xfrm>
          <a:prstGeom prst="rect">
            <a:avLst/>
          </a:prstGeom>
          <a:noFill/>
          <a:ln/>
        </p:spPr>
        <p:txBody>
          <a:bodyPr wrap="square" lIns="0" tIns="0" rIns="0" bIns="0" rtlCol="0" anchor="ctr"/>
          <a:lstStyle/>
          <a:p>
            <a:pPr indent="0" marL="0">
              <a:buNone/>
            </a:pPr>
            <a:r>
              <a:rPr lang="en-US" sz="1200" b="1" dirty="0">
                <a:solidFill>
                  <a:srgbClr val="171A1C"/>
                </a:solidFill>
                <a:latin typeface="Meiryo" pitchFamily="34" charset="0"/>
                <a:ea typeface="Meiryo" pitchFamily="34" charset="-122"/>
                <a:cs typeface="Meiryo" pitchFamily="34" charset="-120"/>
              </a:rPr>
              <a:t>出てきた語で検索する</a:t>
            </a:r>
            <a:endParaRPr lang="en-US" sz="1200" dirty="0"/>
          </a:p>
        </p:txBody>
      </p:sp>
      <p:sp>
        <p:nvSpPr>
          <p:cNvPr id="15" name="Text 11"/>
          <p:cNvSpPr txBox="1"/>
          <p:nvPr/>
        </p:nvSpPr>
        <p:spPr>
          <a:xfrm>
            <a:off x="4553712" y="4645152"/>
            <a:ext cx="3090672" cy="621792"/>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挙がった識別子・定数名を検索語にして、手元のソースを網羅的に確認する。</a:t>
            </a:r>
            <a:endParaRPr lang="en-US" sz="1050" dirty="0"/>
          </a:p>
        </p:txBody>
      </p:sp>
      <p:sp>
        <p:nvSpPr>
          <p:cNvPr id="16" name="Shape 12"/>
          <p:cNvSpPr/>
          <p:nvPr/>
        </p:nvSpPr>
        <p:spPr>
          <a:xfrm>
            <a:off x="8065008" y="3913632"/>
            <a:ext cx="3566160" cy="1481328"/>
          </a:xfrm>
          <a:prstGeom prst="roundRect">
            <a:avLst>
              <a:gd name="adj" fmla="val 3086"/>
            </a:avLst>
          </a:prstGeom>
          <a:solidFill>
            <a:srgbClr val="F2F4F3"/>
          </a:solidFill>
          <a:ln w="12700">
            <a:solidFill>
              <a:srgbClr val="F2F4F3"/>
            </a:solidFill>
            <a:prstDash val="solid"/>
          </a:ln>
        </p:spPr>
      </p:sp>
      <p:sp>
        <p:nvSpPr>
          <p:cNvPr id="17" name="Text 13"/>
          <p:cNvSpPr txBox="1"/>
          <p:nvPr/>
        </p:nvSpPr>
        <p:spPr>
          <a:xfrm>
            <a:off x="8302752" y="4059936"/>
            <a:ext cx="3090672" cy="219456"/>
          </a:xfrm>
          <a:prstGeom prst="rect">
            <a:avLst/>
          </a:prstGeom>
          <a:noFill/>
          <a:ln/>
        </p:spPr>
        <p:txBody>
          <a:bodyPr wrap="square" lIns="0" tIns="0" rIns="0" bIns="0" rtlCol="0" anchor="ctr"/>
          <a:lstStyle/>
          <a:p>
            <a:pPr indent="0" marL="0">
              <a:buNone/>
            </a:pPr>
            <a:r>
              <a:rPr lang="en-US" sz="950" b="1" spc="120" kern="0" dirty="0">
                <a:solidFill>
                  <a:srgbClr val="1C6E52"/>
                </a:solidFill>
                <a:latin typeface="Meiryo" pitchFamily="34" charset="0"/>
                <a:ea typeface="Meiryo" pitchFamily="34" charset="-122"/>
                <a:cs typeface="Meiryo" pitchFamily="34" charset="-120"/>
              </a:rPr>
              <a:t>STEP 3</a:t>
            </a:r>
            <a:endParaRPr lang="en-US" sz="950" dirty="0"/>
          </a:p>
        </p:txBody>
      </p:sp>
      <p:sp>
        <p:nvSpPr>
          <p:cNvPr id="18" name="Text 14"/>
          <p:cNvSpPr txBox="1"/>
          <p:nvPr/>
        </p:nvSpPr>
        <p:spPr>
          <a:xfrm>
            <a:off x="8302752" y="4315968"/>
            <a:ext cx="3090672" cy="274320"/>
          </a:xfrm>
          <a:prstGeom prst="rect">
            <a:avLst/>
          </a:prstGeom>
          <a:noFill/>
          <a:ln/>
        </p:spPr>
        <p:txBody>
          <a:bodyPr wrap="square" lIns="0" tIns="0" rIns="0" bIns="0" rtlCol="0" anchor="ctr"/>
          <a:lstStyle/>
          <a:p>
            <a:pPr indent="0" marL="0">
              <a:buNone/>
            </a:pPr>
            <a:r>
              <a:rPr lang="en-US" sz="1200" b="1" dirty="0">
                <a:solidFill>
                  <a:srgbClr val="171A1C"/>
                </a:solidFill>
                <a:latin typeface="Meiryo" pitchFamily="34" charset="0"/>
                <a:ea typeface="Meiryo" pitchFamily="34" charset="-122"/>
                <a:cs typeface="Meiryo" pitchFamily="34" charset="-120"/>
              </a:rPr>
              <a:t>差分を Copilot に返す</a:t>
            </a:r>
            <a:endParaRPr lang="en-US" sz="1200" dirty="0"/>
          </a:p>
        </p:txBody>
      </p:sp>
      <p:sp>
        <p:nvSpPr>
          <p:cNvPr id="19" name="Text 15"/>
          <p:cNvSpPr txBox="1"/>
          <p:nvPr/>
        </p:nvSpPr>
        <p:spPr>
          <a:xfrm>
            <a:off x="8302752" y="4645152"/>
            <a:ext cx="3090672" cy="621792"/>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「検索するとここにも出た。これは何か」と聞き直す。ここで精度が跳ね上がる。</a:t>
            </a:r>
            <a:endParaRPr lang="en-US" sz="1050" dirty="0"/>
          </a:p>
        </p:txBody>
      </p:sp>
      <p:sp>
        <p:nvSpPr>
          <p:cNvPr id="20" name="Shape 16"/>
          <p:cNvSpPr/>
          <p:nvPr/>
        </p:nvSpPr>
        <p:spPr>
          <a:xfrm>
            <a:off x="566928" y="5577840"/>
            <a:ext cx="11055096" cy="859536"/>
          </a:xfrm>
          <a:prstGeom prst="roundRect">
            <a:avLst>
              <a:gd name="adj" fmla="val 5319"/>
            </a:avLst>
          </a:prstGeom>
          <a:solidFill>
            <a:srgbClr val="F6EFDC"/>
          </a:solidFill>
          <a:ln w="12700">
            <a:solidFill>
              <a:srgbClr val="F6EFDC"/>
            </a:solidFill>
            <a:prstDash val="solid"/>
          </a:ln>
        </p:spPr>
      </p:sp>
      <p:sp>
        <p:nvSpPr>
          <p:cNvPr id="21" name="Text 17"/>
          <p:cNvSpPr txBox="1"/>
          <p:nvPr/>
        </p:nvSpPr>
        <p:spPr>
          <a:xfrm>
            <a:off x="804672" y="5724144"/>
            <a:ext cx="10607040" cy="603504"/>
          </a:xfrm>
          <a:prstGeom prst="rect">
            <a:avLst/>
          </a:prstGeom>
          <a:noFill/>
          <a:ln/>
        </p:spPr>
        <p:txBody>
          <a:bodyPr wrap="square" lIns="0" tIns="0" rIns="0" bIns="0" rtlCol="0" anchor="t"/>
          <a:lstStyle/>
          <a:p>
            <a:pPr indent="0" marL="0">
              <a:lnSpc>
                <a:spcPts val="1650"/>
              </a:lnSpc>
              <a:buNone/>
            </a:pPr>
            <a:r>
              <a:rPr lang="en-US" sz="1100" b="1" dirty="0">
                <a:solidFill>
                  <a:srgbClr val="171A1C"/>
                </a:solidFill>
                <a:latin typeface="Meiryo" pitchFamily="34" charset="0"/>
                <a:ea typeface="Meiryo" pitchFamily="34" charset="-122"/>
                <a:cs typeface="Meiryo" pitchFamily="34" charset="-120"/>
              </a:rPr>
              <a:t>毎回つける一言：「ファイル名と行番号を示して」「該当が無ければ無いと答えて」</a:t>
            </a:r>
            <a:pPr indent="0" marL="0">
              <a:lnSpc>
                <a:spcPts val="1650"/>
              </a:lnSpc>
              <a:buNone/>
            </a:pPr>
            <a:endParaRPr lang="en-US" sz="1100" dirty="0"/>
          </a:p>
          <a:p>
            <a:pPr indent="0" marL="0">
              <a:lnSpc>
                <a:spcPts val="1650"/>
              </a:lnSpc>
              <a:buNone/>
            </a:pPr>
            <a:r>
              <a:rPr lang="en-US" sz="1100" dirty="0">
                <a:solidFill>
                  <a:srgbClr val="394246"/>
                </a:solidFill>
                <a:latin typeface="Meiryo" pitchFamily="34" charset="0"/>
                <a:ea typeface="Meiryo" pitchFamily="34" charset="-122"/>
                <a:cs typeface="Meiryo" pitchFamily="34" charset="-120"/>
              </a:rPr>
              <a:t>この2つが、もっともらしい作り話を見つける検出器になる。示された行を1つ開いて照合すれば、その回答全体が信用できるか判定できる。</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07 ／ 収束 その2</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手元の調査コマンドを教えて、次の一手を出させる</a:t>
            </a:r>
            <a:endParaRPr lang="en-US" sz="3000" dirty="0"/>
          </a:p>
        </p:txBody>
      </p:sp>
      <p:sp>
        <p:nvSpPr>
          <p:cNvPr id="6" name="Text 3"/>
          <p:cNvSpPr txBox="1"/>
          <p:nvPr/>
        </p:nvSpPr>
        <p:spPr>
          <a:xfrm>
            <a:off x="566928" y="1481328"/>
            <a:ext cx="11064240" cy="45720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調査用に自作したコマンドがあるなら、その使い方を最初に Copilot へ教えてしまう。「次に何を叩くべきか」を相談できる相手になる。</a:t>
            </a:r>
            <a:endParaRPr lang="en-US" sz="1350" dirty="0"/>
          </a:p>
        </p:txBody>
      </p:sp>
      <p:sp>
        <p:nvSpPr>
          <p:cNvPr id="7" name="Shape 4"/>
          <p:cNvSpPr/>
          <p:nvPr/>
        </p:nvSpPr>
        <p:spPr>
          <a:xfrm>
            <a:off x="566928" y="2139696"/>
            <a:ext cx="3566160" cy="1920240"/>
          </a:xfrm>
          <a:prstGeom prst="roundRect">
            <a:avLst>
              <a:gd name="adj" fmla="val 2381"/>
            </a:avLst>
          </a:prstGeom>
          <a:solidFill>
            <a:srgbClr val="F2F4F3"/>
          </a:solidFill>
          <a:ln w="12700">
            <a:solidFill>
              <a:srgbClr val="F2F4F3"/>
            </a:solidFill>
            <a:prstDash val="solid"/>
          </a:ln>
        </p:spPr>
      </p:sp>
      <p:sp>
        <p:nvSpPr>
          <p:cNvPr id="8" name="Text 5"/>
          <p:cNvSpPr txBox="1"/>
          <p:nvPr/>
        </p:nvSpPr>
        <p:spPr>
          <a:xfrm>
            <a:off x="804672" y="2286000"/>
            <a:ext cx="3090672" cy="219456"/>
          </a:xfrm>
          <a:prstGeom prst="rect">
            <a:avLst/>
          </a:prstGeom>
          <a:noFill/>
          <a:ln/>
        </p:spPr>
        <p:txBody>
          <a:bodyPr wrap="square" lIns="0" tIns="0" rIns="0" bIns="0" rtlCol="0" anchor="ctr"/>
          <a:lstStyle/>
          <a:p>
            <a:pPr indent="0" marL="0">
              <a:buNone/>
            </a:pPr>
            <a:r>
              <a:rPr lang="en-US" sz="950" b="1" spc="120" kern="0" dirty="0">
                <a:solidFill>
                  <a:srgbClr val="8D6408"/>
                </a:solidFill>
                <a:latin typeface="Meiryo" pitchFamily="34" charset="0"/>
                <a:ea typeface="Meiryo" pitchFamily="34" charset="-122"/>
                <a:cs typeface="Meiryo" pitchFamily="34" charset="-120"/>
              </a:rPr>
              <a:t>1　道具を宣言する</a:t>
            </a:r>
            <a:endParaRPr lang="en-US" sz="950" dirty="0"/>
          </a:p>
        </p:txBody>
      </p:sp>
      <p:sp>
        <p:nvSpPr>
          <p:cNvPr id="9" name="Text 6"/>
          <p:cNvSpPr txBox="1"/>
          <p:nvPr/>
        </p:nvSpPr>
        <p:spPr>
          <a:xfrm>
            <a:off x="804672" y="2542032"/>
            <a:ext cx="3090672" cy="274320"/>
          </a:xfrm>
          <a:prstGeom prst="rect">
            <a:avLst/>
          </a:prstGeom>
          <a:noFill/>
          <a:ln/>
        </p:spPr>
        <p:txBody>
          <a:bodyPr wrap="square" lIns="0" tIns="0" rIns="0" bIns="0" rtlCol="0" anchor="ctr"/>
          <a:lstStyle/>
          <a:p>
            <a:pPr indent="0" marL="0">
              <a:buNone/>
            </a:pPr>
            <a:r>
              <a:rPr lang="en-US" sz="1200" b="1" dirty="0">
                <a:solidFill>
                  <a:srgbClr val="171A1C"/>
                </a:solidFill>
                <a:latin typeface="Meiryo" pitchFamily="34" charset="0"/>
                <a:ea typeface="Meiryo" pitchFamily="34" charset="-122"/>
                <a:cs typeface="Meiryo" pitchFamily="34" charset="-120"/>
              </a:rPr>
              <a:t>使い方と出力形式を貼る</a:t>
            </a:r>
            <a:endParaRPr lang="en-US" sz="1200" dirty="0"/>
          </a:p>
        </p:txBody>
      </p:sp>
      <p:sp>
        <p:nvSpPr>
          <p:cNvPr id="10" name="Text 7"/>
          <p:cNvSpPr txBox="1"/>
          <p:nvPr/>
        </p:nvSpPr>
        <p:spPr>
          <a:xfrm>
            <a:off x="804672" y="2871216"/>
            <a:ext cx="3090672" cy="106070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「調査にはこのコマンドを使う」と、オプションと出力例をそのまま貼る。出力形式まで教えるのが肝で、結果の読み方込みで相談できるようになる。</a:t>
            </a:r>
            <a:endParaRPr lang="en-US" sz="1050" dirty="0"/>
          </a:p>
        </p:txBody>
      </p:sp>
      <p:sp>
        <p:nvSpPr>
          <p:cNvPr id="11" name="Shape 8"/>
          <p:cNvSpPr/>
          <p:nvPr/>
        </p:nvSpPr>
        <p:spPr>
          <a:xfrm>
            <a:off x="4315968" y="2139696"/>
            <a:ext cx="3566160" cy="1920240"/>
          </a:xfrm>
          <a:prstGeom prst="roundRect">
            <a:avLst>
              <a:gd name="adj" fmla="val 2381"/>
            </a:avLst>
          </a:prstGeom>
          <a:solidFill>
            <a:srgbClr val="F2F4F3"/>
          </a:solidFill>
          <a:ln w="12700">
            <a:solidFill>
              <a:srgbClr val="F2F4F3"/>
            </a:solidFill>
            <a:prstDash val="solid"/>
          </a:ln>
        </p:spPr>
      </p:sp>
      <p:sp>
        <p:nvSpPr>
          <p:cNvPr id="12" name="Text 9"/>
          <p:cNvSpPr txBox="1"/>
          <p:nvPr/>
        </p:nvSpPr>
        <p:spPr>
          <a:xfrm>
            <a:off x="4553712" y="2286000"/>
            <a:ext cx="3090672" cy="219456"/>
          </a:xfrm>
          <a:prstGeom prst="rect">
            <a:avLst/>
          </a:prstGeom>
          <a:noFill/>
          <a:ln/>
        </p:spPr>
        <p:txBody>
          <a:bodyPr wrap="square" lIns="0" tIns="0" rIns="0" bIns="0" rtlCol="0" anchor="ctr"/>
          <a:lstStyle/>
          <a:p>
            <a:pPr indent="0" marL="0">
              <a:buNone/>
            </a:pPr>
            <a:r>
              <a:rPr lang="en-US" sz="950" b="1" spc="120" kern="0" dirty="0">
                <a:solidFill>
                  <a:srgbClr val="27488F"/>
                </a:solidFill>
                <a:latin typeface="Meiryo" pitchFamily="34" charset="0"/>
                <a:ea typeface="Meiryo" pitchFamily="34" charset="-122"/>
                <a:cs typeface="Meiryo" pitchFamily="34" charset="-120"/>
              </a:rPr>
              <a:t>2　次の一手を問う</a:t>
            </a:r>
            <a:endParaRPr lang="en-US" sz="950" dirty="0"/>
          </a:p>
        </p:txBody>
      </p:sp>
      <p:sp>
        <p:nvSpPr>
          <p:cNvPr id="13" name="Text 10"/>
          <p:cNvSpPr txBox="1"/>
          <p:nvPr/>
        </p:nvSpPr>
        <p:spPr>
          <a:xfrm>
            <a:off x="4553712" y="2542032"/>
            <a:ext cx="3090672" cy="274320"/>
          </a:xfrm>
          <a:prstGeom prst="rect">
            <a:avLst/>
          </a:prstGeom>
          <a:noFill/>
          <a:ln/>
        </p:spPr>
        <p:txBody>
          <a:bodyPr wrap="square" lIns="0" tIns="0" rIns="0" bIns="0" rtlCol="0" anchor="ctr"/>
          <a:lstStyle/>
          <a:p>
            <a:pPr indent="0" marL="0">
              <a:buNone/>
            </a:pPr>
            <a:r>
              <a:rPr lang="en-US" sz="1200" b="1" dirty="0">
                <a:solidFill>
                  <a:srgbClr val="171A1C"/>
                </a:solidFill>
                <a:latin typeface="Meiryo" pitchFamily="34" charset="0"/>
                <a:ea typeface="Meiryo" pitchFamily="34" charset="-122"/>
                <a:cs typeface="Meiryo" pitchFamily="34" charset="-120"/>
              </a:rPr>
              <a:t>叩くべきコマンドを出させる</a:t>
            </a:r>
            <a:endParaRPr lang="en-US" sz="1200" dirty="0"/>
          </a:p>
        </p:txBody>
      </p:sp>
      <p:sp>
        <p:nvSpPr>
          <p:cNvPr id="14" name="Text 11"/>
          <p:cNvSpPr txBox="1"/>
          <p:nvPr/>
        </p:nvSpPr>
        <p:spPr>
          <a:xfrm>
            <a:off x="4553712" y="2871216"/>
            <a:ext cx="3090672" cy="106070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「この論点を詰めたい。どう検索すべきか、対象範囲と除外条件つきで具体的なコマンドを出して」と頼む。</a:t>
            </a:r>
            <a:endParaRPr lang="en-US" sz="1050" dirty="0"/>
          </a:p>
        </p:txBody>
      </p:sp>
      <p:sp>
        <p:nvSpPr>
          <p:cNvPr id="15" name="Shape 12"/>
          <p:cNvSpPr/>
          <p:nvPr/>
        </p:nvSpPr>
        <p:spPr>
          <a:xfrm>
            <a:off x="8065008" y="2139696"/>
            <a:ext cx="3566160" cy="1920240"/>
          </a:xfrm>
          <a:prstGeom prst="roundRect">
            <a:avLst>
              <a:gd name="adj" fmla="val 2381"/>
            </a:avLst>
          </a:prstGeom>
          <a:solidFill>
            <a:srgbClr val="F2F4F3"/>
          </a:solidFill>
          <a:ln w="12700">
            <a:solidFill>
              <a:srgbClr val="F2F4F3"/>
            </a:solidFill>
            <a:prstDash val="solid"/>
          </a:ln>
        </p:spPr>
      </p:sp>
      <p:sp>
        <p:nvSpPr>
          <p:cNvPr id="16" name="Text 13"/>
          <p:cNvSpPr txBox="1"/>
          <p:nvPr/>
        </p:nvSpPr>
        <p:spPr>
          <a:xfrm>
            <a:off x="8302752" y="2286000"/>
            <a:ext cx="3090672" cy="219456"/>
          </a:xfrm>
          <a:prstGeom prst="rect">
            <a:avLst/>
          </a:prstGeom>
          <a:noFill/>
          <a:ln/>
        </p:spPr>
        <p:txBody>
          <a:bodyPr wrap="square" lIns="0" tIns="0" rIns="0" bIns="0" rtlCol="0" anchor="ctr"/>
          <a:lstStyle/>
          <a:p>
            <a:pPr indent="0" marL="0">
              <a:buNone/>
            </a:pPr>
            <a:r>
              <a:rPr lang="en-US" sz="950" b="1" spc="120" kern="0" dirty="0">
                <a:solidFill>
                  <a:srgbClr val="1C6E52"/>
                </a:solidFill>
                <a:latin typeface="Meiryo" pitchFamily="34" charset="0"/>
                <a:ea typeface="Meiryo" pitchFamily="34" charset="-122"/>
                <a:cs typeface="Meiryo" pitchFamily="34" charset="-120"/>
              </a:rPr>
              <a:t>3　結果を貼り戻す</a:t>
            </a:r>
            <a:endParaRPr lang="en-US" sz="950" dirty="0"/>
          </a:p>
        </p:txBody>
      </p:sp>
      <p:sp>
        <p:nvSpPr>
          <p:cNvPr id="17" name="Text 14"/>
          <p:cNvSpPr txBox="1"/>
          <p:nvPr/>
        </p:nvSpPr>
        <p:spPr>
          <a:xfrm>
            <a:off x="8302752" y="2542032"/>
            <a:ext cx="3090672" cy="274320"/>
          </a:xfrm>
          <a:prstGeom prst="rect">
            <a:avLst/>
          </a:prstGeom>
          <a:noFill/>
          <a:ln/>
        </p:spPr>
        <p:txBody>
          <a:bodyPr wrap="square" lIns="0" tIns="0" rIns="0" bIns="0" rtlCol="0" anchor="ctr"/>
          <a:lstStyle/>
          <a:p>
            <a:pPr indent="0" marL="0">
              <a:buNone/>
            </a:pPr>
            <a:r>
              <a:rPr lang="en-US" sz="1200" b="1" dirty="0">
                <a:solidFill>
                  <a:srgbClr val="171A1C"/>
                </a:solidFill>
                <a:latin typeface="Meiryo" pitchFamily="34" charset="0"/>
                <a:ea typeface="Meiryo" pitchFamily="34" charset="-122"/>
                <a:cs typeface="Meiryo" pitchFamily="34" charset="-120"/>
              </a:rPr>
              <a:t>件数と該当箇所を返す</a:t>
            </a:r>
            <a:endParaRPr lang="en-US" sz="1200" dirty="0"/>
          </a:p>
        </p:txBody>
      </p:sp>
      <p:sp>
        <p:nvSpPr>
          <p:cNvPr id="18" name="Text 15"/>
          <p:cNvSpPr txBox="1"/>
          <p:nvPr/>
        </p:nvSpPr>
        <p:spPr>
          <a:xfrm>
            <a:off x="8302752" y="2871216"/>
            <a:ext cx="3090672" cy="106070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「この結果になった。ここからどう切り分けるか」で次へ。往復するたびに候補が落ちる。</a:t>
            </a:r>
            <a:endParaRPr lang="en-US" sz="1050" dirty="0"/>
          </a:p>
        </p:txBody>
      </p:sp>
      <p:sp>
        <p:nvSpPr>
          <p:cNvPr id="19" name="Shape 16"/>
          <p:cNvSpPr/>
          <p:nvPr/>
        </p:nvSpPr>
        <p:spPr>
          <a:xfrm>
            <a:off x="566928" y="4315968"/>
            <a:ext cx="11055096" cy="2121408"/>
          </a:xfrm>
          <a:prstGeom prst="roundRect">
            <a:avLst>
              <a:gd name="adj" fmla="val 2155"/>
            </a:avLst>
          </a:prstGeom>
          <a:solidFill>
            <a:srgbClr val="E7ECF7"/>
          </a:solidFill>
          <a:ln w="12700">
            <a:solidFill>
              <a:srgbClr val="E7ECF7"/>
            </a:solidFill>
            <a:prstDash val="solid"/>
          </a:ln>
        </p:spPr>
      </p:sp>
      <p:sp>
        <p:nvSpPr>
          <p:cNvPr id="20" name="Text 17"/>
          <p:cNvSpPr txBox="1"/>
          <p:nvPr/>
        </p:nvSpPr>
        <p:spPr>
          <a:xfrm>
            <a:off x="804672" y="4471416"/>
            <a:ext cx="10579608"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なぜこれが効くのか</a:t>
            </a:r>
            <a:endParaRPr lang="en-US" sz="1300" dirty="0"/>
          </a:p>
        </p:txBody>
      </p:sp>
      <p:sp>
        <p:nvSpPr>
          <p:cNvPr id="21" name="Text 18"/>
          <p:cNvSpPr txBox="1"/>
          <p:nvPr/>
        </p:nvSpPr>
        <p:spPr>
          <a:xfrm>
            <a:off x="896112" y="4864608"/>
            <a:ext cx="10424160" cy="1371600"/>
          </a:xfrm>
          <a:prstGeom prst="rect">
            <a:avLst/>
          </a:prstGeom>
          <a:noFill/>
          <a:ln/>
        </p:spPr>
        <p:txBody>
          <a:bodyPr wrap="square" lIns="0" tIns="0" rIns="0" bIns="0" rtlCol="0" anchor="t"/>
          <a:lstStyle/>
          <a:p>
            <a:pPr marL="342900" indent="-342900">
              <a:lnSpc>
                <a:spcPts val="1900"/>
              </a:lnSpc>
              <a:spcAft>
                <a:spcPts val="500"/>
              </a:spcAft>
              <a:buSzPct val="100000"/>
              <a:buChar char="•"/>
            </a:pPr>
            <a:r>
              <a:rPr lang="en-US" sz="1200" dirty="0">
                <a:solidFill>
                  <a:srgbClr val="394246"/>
                </a:solidFill>
                <a:latin typeface="Meiryo" pitchFamily="34" charset="0"/>
                <a:ea typeface="Meiryo" pitchFamily="34" charset="-122"/>
                <a:cs typeface="Meiryo" pitchFamily="34" charset="-120"/>
              </a:rPr>
              <a:t>役割分担がそのまま形になる ── 検索語を考えるのは Copilot、実行と網羅は手元のコマンド</a:t>
            </a:r>
            <a:endParaRPr lang="en-US" sz="1200" dirty="0"/>
          </a:p>
          <a:p>
            <a:pPr marL="342900" indent="-342900">
              <a:lnSpc>
                <a:spcPts val="1900"/>
              </a:lnSpc>
              <a:spcAft>
                <a:spcPts val="500"/>
              </a:spcAft>
              <a:buSzPct val="100000"/>
              <a:buChar char="•"/>
            </a:pPr>
            <a:r>
              <a:rPr lang="en-US" sz="1200" dirty="0">
                <a:solidFill>
                  <a:srgbClr val="394246"/>
                </a:solidFill>
                <a:latin typeface="Meiryo" pitchFamily="34" charset="0"/>
                <a:ea typeface="Meiryo" pitchFamily="34" charset="-122"/>
                <a:cs typeface="Meiryo" pitchFamily="34" charset="-120"/>
              </a:rPr>
              <a:t>結果を貼り戻すたび、材料が積み上がる ── 同じ会話の中だから、前提を毎回書き直さずに済む</a:t>
            </a:r>
            <a:endParaRPr lang="en-US" sz="1200" dirty="0"/>
          </a:p>
          <a:p>
            <a:pPr marL="342900" indent="-342900">
              <a:lnSpc>
                <a:spcPts val="1900"/>
              </a:lnSpc>
              <a:spcAft>
                <a:spcPts val="500"/>
              </a:spcAft>
              <a:buSzPct val="100000"/>
              <a:buChar char="•"/>
            </a:pPr>
            <a:r>
              <a:rPr lang="en-US" sz="1200" dirty="0">
                <a:solidFill>
                  <a:srgbClr val="394246"/>
                </a:solidFill>
                <a:latin typeface="Meiryo" pitchFamily="34" charset="0"/>
                <a:ea typeface="Meiryo" pitchFamily="34" charset="-122"/>
                <a:cs typeface="Meiryo" pitchFamily="34" charset="-120"/>
              </a:rPr>
              <a:t>人は判断に集中できる ── 検索語をひねり出す時間が、そのまま判断の時間に変わる</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08 ／ 収束 その3</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どこで止めるか ── 目的の何割に届いたか</a:t>
            </a:r>
            <a:endParaRPr lang="en-US" sz="3000" dirty="0"/>
          </a:p>
        </p:txBody>
      </p:sp>
      <p:sp>
        <p:nvSpPr>
          <p:cNvPr id="6" name="Text 3"/>
          <p:cNvSpPr txBox="1"/>
          <p:nvPr/>
        </p:nvSpPr>
        <p:spPr>
          <a:xfrm>
            <a:off x="566928" y="1481328"/>
            <a:ext cx="11064240" cy="45720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ここを決めずに始めれば、いつまでも終わらない。100% は狙わない。残りの2割にかかる手間は、前半の8割と同じかそれ以上。</a:t>
            </a:r>
            <a:endParaRPr lang="en-US" sz="1350" dirty="0"/>
          </a:p>
        </p:txBody>
      </p:sp>
      <p:sp>
        <p:nvSpPr>
          <p:cNvPr id="7" name="Shape 4"/>
          <p:cNvSpPr/>
          <p:nvPr/>
        </p:nvSpPr>
        <p:spPr>
          <a:xfrm>
            <a:off x="566928" y="2194560"/>
            <a:ext cx="3566160" cy="2139696"/>
          </a:xfrm>
          <a:prstGeom prst="roundRect">
            <a:avLst>
              <a:gd name="adj" fmla="val 2137"/>
            </a:avLst>
          </a:prstGeom>
          <a:solidFill>
            <a:srgbClr val="F2F4F3"/>
          </a:solidFill>
          <a:ln w="12700">
            <a:solidFill>
              <a:srgbClr val="F2F4F3"/>
            </a:solidFill>
            <a:prstDash val="solid"/>
          </a:ln>
        </p:spPr>
      </p:sp>
      <p:sp>
        <p:nvSpPr>
          <p:cNvPr id="8" name="Text 5"/>
          <p:cNvSpPr txBox="1"/>
          <p:nvPr/>
        </p:nvSpPr>
        <p:spPr>
          <a:xfrm>
            <a:off x="804672" y="2377440"/>
            <a:ext cx="3090672" cy="603504"/>
          </a:xfrm>
          <a:prstGeom prst="rect">
            <a:avLst/>
          </a:prstGeom>
          <a:noFill/>
          <a:ln/>
        </p:spPr>
        <p:txBody>
          <a:bodyPr wrap="square" lIns="0" tIns="0" rIns="0" bIns="0" rtlCol="0" anchor="t"/>
          <a:lstStyle/>
          <a:p>
            <a:pPr indent="0" marL="0">
              <a:buNone/>
            </a:pPr>
            <a:r>
              <a:rPr lang="en-US" sz="3400" b="1" dirty="0">
                <a:solidFill>
                  <a:srgbClr val="1C6E52"/>
                </a:solidFill>
                <a:latin typeface="Meiryo" pitchFamily="34" charset="0"/>
                <a:ea typeface="Meiryo" pitchFamily="34" charset="-122"/>
                <a:cs typeface="Meiryo" pitchFamily="34" charset="-120"/>
              </a:rPr>
              <a:t>6割</a:t>
            </a:r>
            <a:endParaRPr lang="en-US" sz="3400" dirty="0"/>
          </a:p>
        </p:txBody>
      </p:sp>
      <p:sp>
        <p:nvSpPr>
          <p:cNvPr id="9" name="Text 6"/>
          <p:cNvSpPr txBox="1"/>
          <p:nvPr/>
        </p:nvSpPr>
        <p:spPr>
          <a:xfrm>
            <a:off x="804672" y="3035808"/>
            <a:ext cx="3090672" cy="256032"/>
          </a:xfrm>
          <a:prstGeom prst="rect">
            <a:avLst/>
          </a:prstGeom>
          <a:noFill/>
          <a:ln/>
        </p:spPr>
        <p:txBody>
          <a:bodyPr wrap="square" lIns="0" tIns="0" rIns="0" bIns="0" rtlCol="0" anchor="ctr"/>
          <a:lstStyle/>
          <a:p>
            <a:pPr indent="0" marL="0">
              <a:buNone/>
            </a:pPr>
            <a:r>
              <a:rPr lang="en-US" sz="1150" b="1" dirty="0">
                <a:solidFill>
                  <a:srgbClr val="171A1C"/>
                </a:solidFill>
                <a:latin typeface="Meiryo" pitchFamily="34" charset="0"/>
                <a:ea typeface="Meiryo" pitchFamily="34" charset="-122"/>
                <a:cs typeface="Meiryo" pitchFamily="34" charset="-120"/>
              </a:rPr>
              <a:t>方式検討・概算見積</a:t>
            </a:r>
            <a:endParaRPr lang="en-US" sz="1150" dirty="0"/>
          </a:p>
        </p:txBody>
      </p:sp>
      <p:sp>
        <p:nvSpPr>
          <p:cNvPr id="10" name="Shape 7"/>
          <p:cNvSpPr/>
          <p:nvPr/>
        </p:nvSpPr>
        <p:spPr>
          <a:xfrm>
            <a:off x="804672" y="3364992"/>
            <a:ext cx="3090672" cy="146304"/>
          </a:xfrm>
          <a:prstGeom prst="roundRect">
            <a:avLst>
              <a:gd name="adj" fmla="val 50000"/>
            </a:avLst>
          </a:prstGeom>
          <a:solidFill>
            <a:srgbClr val="D3D9D6"/>
          </a:solidFill>
          <a:ln w="12700">
            <a:solidFill>
              <a:srgbClr val="D3D9D6"/>
            </a:solidFill>
            <a:prstDash val="solid"/>
          </a:ln>
        </p:spPr>
      </p:sp>
      <p:sp>
        <p:nvSpPr>
          <p:cNvPr id="11" name="Shape 8"/>
          <p:cNvSpPr/>
          <p:nvPr/>
        </p:nvSpPr>
        <p:spPr>
          <a:xfrm>
            <a:off x="804672" y="3364992"/>
            <a:ext cx="1854403" cy="146304"/>
          </a:xfrm>
          <a:prstGeom prst="roundRect">
            <a:avLst>
              <a:gd name="adj" fmla="val 50000"/>
            </a:avLst>
          </a:prstGeom>
          <a:solidFill>
            <a:srgbClr val="1C6E52"/>
          </a:solidFill>
          <a:ln w="12700">
            <a:solidFill>
              <a:srgbClr val="1C6E52"/>
            </a:solidFill>
            <a:prstDash val="solid"/>
          </a:ln>
        </p:spPr>
      </p:sp>
      <p:sp>
        <p:nvSpPr>
          <p:cNvPr id="12" name="Text 9"/>
          <p:cNvSpPr txBox="1"/>
          <p:nvPr/>
        </p:nvSpPr>
        <p:spPr>
          <a:xfrm>
            <a:off x="804672" y="3621024"/>
            <a:ext cx="3090672" cy="60350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方向性が決まればいい。詳細は設計時に潰せる。ここで深追いしても捨てる情報が増えるだけ。</a:t>
            </a:r>
            <a:endParaRPr lang="en-US" sz="1050" dirty="0"/>
          </a:p>
        </p:txBody>
      </p:sp>
      <p:sp>
        <p:nvSpPr>
          <p:cNvPr id="13" name="Shape 10"/>
          <p:cNvSpPr/>
          <p:nvPr/>
        </p:nvSpPr>
        <p:spPr>
          <a:xfrm>
            <a:off x="4315968" y="2194560"/>
            <a:ext cx="3566160" cy="2139696"/>
          </a:xfrm>
          <a:prstGeom prst="roundRect">
            <a:avLst>
              <a:gd name="adj" fmla="val 2137"/>
            </a:avLst>
          </a:prstGeom>
          <a:solidFill>
            <a:srgbClr val="F2F4F3"/>
          </a:solidFill>
          <a:ln w="12700">
            <a:solidFill>
              <a:srgbClr val="F2F4F3"/>
            </a:solidFill>
            <a:prstDash val="solid"/>
          </a:ln>
        </p:spPr>
      </p:sp>
      <p:sp>
        <p:nvSpPr>
          <p:cNvPr id="14" name="Text 11"/>
          <p:cNvSpPr txBox="1"/>
          <p:nvPr/>
        </p:nvSpPr>
        <p:spPr>
          <a:xfrm>
            <a:off x="4553712" y="2377440"/>
            <a:ext cx="3090672" cy="603504"/>
          </a:xfrm>
          <a:prstGeom prst="rect">
            <a:avLst/>
          </a:prstGeom>
          <a:noFill/>
          <a:ln/>
        </p:spPr>
        <p:txBody>
          <a:bodyPr wrap="square" lIns="0" tIns="0" rIns="0" bIns="0" rtlCol="0" anchor="t"/>
          <a:lstStyle/>
          <a:p>
            <a:pPr indent="0" marL="0">
              <a:buNone/>
            </a:pPr>
            <a:r>
              <a:rPr lang="en-US" sz="3400" b="1" dirty="0">
                <a:solidFill>
                  <a:srgbClr val="1C6E52"/>
                </a:solidFill>
                <a:latin typeface="Meiryo" pitchFamily="34" charset="0"/>
                <a:ea typeface="Meiryo" pitchFamily="34" charset="-122"/>
                <a:cs typeface="Meiryo" pitchFamily="34" charset="-120"/>
              </a:rPr>
              <a:t>8割</a:t>
            </a:r>
            <a:endParaRPr lang="en-US" sz="3400" dirty="0"/>
          </a:p>
        </p:txBody>
      </p:sp>
      <p:sp>
        <p:nvSpPr>
          <p:cNvPr id="15" name="Text 12"/>
          <p:cNvSpPr txBox="1"/>
          <p:nvPr/>
        </p:nvSpPr>
        <p:spPr>
          <a:xfrm>
            <a:off x="4553712" y="3035808"/>
            <a:ext cx="3090672" cy="256032"/>
          </a:xfrm>
          <a:prstGeom prst="rect">
            <a:avLst/>
          </a:prstGeom>
          <a:noFill/>
          <a:ln/>
        </p:spPr>
        <p:txBody>
          <a:bodyPr wrap="square" lIns="0" tIns="0" rIns="0" bIns="0" rtlCol="0" anchor="ctr"/>
          <a:lstStyle/>
          <a:p>
            <a:pPr indent="0" marL="0">
              <a:buNone/>
            </a:pPr>
            <a:r>
              <a:rPr lang="en-US" sz="1150" b="1" dirty="0">
                <a:solidFill>
                  <a:srgbClr val="171A1C"/>
                </a:solidFill>
                <a:latin typeface="Meiryo" pitchFamily="34" charset="0"/>
                <a:ea typeface="Meiryo" pitchFamily="34" charset="-122"/>
                <a:cs typeface="Meiryo" pitchFamily="34" charset="-120"/>
              </a:rPr>
              <a:t>改修範囲の特定</a:t>
            </a:r>
            <a:endParaRPr lang="en-US" sz="1150" dirty="0"/>
          </a:p>
        </p:txBody>
      </p:sp>
      <p:sp>
        <p:nvSpPr>
          <p:cNvPr id="16" name="Shape 13"/>
          <p:cNvSpPr/>
          <p:nvPr/>
        </p:nvSpPr>
        <p:spPr>
          <a:xfrm>
            <a:off x="4553712" y="3364992"/>
            <a:ext cx="3090672" cy="146304"/>
          </a:xfrm>
          <a:prstGeom prst="roundRect">
            <a:avLst>
              <a:gd name="adj" fmla="val 50000"/>
            </a:avLst>
          </a:prstGeom>
          <a:solidFill>
            <a:srgbClr val="D3D9D6"/>
          </a:solidFill>
          <a:ln w="12700">
            <a:solidFill>
              <a:srgbClr val="D3D9D6"/>
            </a:solidFill>
            <a:prstDash val="solid"/>
          </a:ln>
        </p:spPr>
      </p:sp>
      <p:sp>
        <p:nvSpPr>
          <p:cNvPr id="17" name="Shape 14"/>
          <p:cNvSpPr/>
          <p:nvPr/>
        </p:nvSpPr>
        <p:spPr>
          <a:xfrm>
            <a:off x="4553712" y="3364992"/>
            <a:ext cx="2472538" cy="146304"/>
          </a:xfrm>
          <a:prstGeom prst="roundRect">
            <a:avLst>
              <a:gd name="adj" fmla="val 50000"/>
            </a:avLst>
          </a:prstGeom>
          <a:solidFill>
            <a:srgbClr val="1C6E52"/>
          </a:solidFill>
          <a:ln w="12700">
            <a:solidFill>
              <a:srgbClr val="1C6E52"/>
            </a:solidFill>
            <a:prstDash val="solid"/>
          </a:ln>
        </p:spPr>
      </p:sp>
      <p:sp>
        <p:nvSpPr>
          <p:cNvPr id="18" name="Text 15"/>
          <p:cNvSpPr txBox="1"/>
          <p:nvPr/>
        </p:nvSpPr>
        <p:spPr>
          <a:xfrm>
            <a:off x="4553712" y="3621024"/>
            <a:ext cx="3090672" cy="60350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漏れが直接手戻りになる。ただし残り2割は読みでは埋まらない。実機確認で補う前提にする。</a:t>
            </a:r>
            <a:endParaRPr lang="en-US" sz="1050" dirty="0"/>
          </a:p>
        </p:txBody>
      </p:sp>
      <p:sp>
        <p:nvSpPr>
          <p:cNvPr id="19" name="Shape 16"/>
          <p:cNvSpPr/>
          <p:nvPr/>
        </p:nvSpPr>
        <p:spPr>
          <a:xfrm>
            <a:off x="8065008" y="2194560"/>
            <a:ext cx="3566160" cy="2139696"/>
          </a:xfrm>
          <a:prstGeom prst="roundRect">
            <a:avLst>
              <a:gd name="adj" fmla="val 2137"/>
            </a:avLst>
          </a:prstGeom>
          <a:solidFill>
            <a:srgbClr val="F2F4F3"/>
          </a:solidFill>
          <a:ln w="12700">
            <a:solidFill>
              <a:srgbClr val="F2F4F3"/>
            </a:solidFill>
            <a:prstDash val="solid"/>
          </a:ln>
        </p:spPr>
      </p:sp>
      <p:sp>
        <p:nvSpPr>
          <p:cNvPr id="20" name="Text 17"/>
          <p:cNvSpPr txBox="1"/>
          <p:nvPr/>
        </p:nvSpPr>
        <p:spPr>
          <a:xfrm>
            <a:off x="8302752" y="2377440"/>
            <a:ext cx="3090672" cy="603504"/>
          </a:xfrm>
          <a:prstGeom prst="rect">
            <a:avLst/>
          </a:prstGeom>
          <a:noFill/>
          <a:ln/>
        </p:spPr>
        <p:txBody>
          <a:bodyPr wrap="square" lIns="0" tIns="0" rIns="0" bIns="0" rtlCol="0" anchor="t"/>
          <a:lstStyle/>
          <a:p>
            <a:pPr indent="0" marL="0">
              <a:buNone/>
            </a:pPr>
            <a:r>
              <a:rPr lang="en-US" sz="3400" b="1" dirty="0">
                <a:solidFill>
                  <a:srgbClr val="1C6E52"/>
                </a:solidFill>
                <a:latin typeface="Meiryo" pitchFamily="34" charset="0"/>
                <a:ea typeface="Meiryo" pitchFamily="34" charset="-122"/>
                <a:cs typeface="Meiryo" pitchFamily="34" charset="-120"/>
              </a:rPr>
              <a:t>実機まで</a:t>
            </a:r>
            <a:endParaRPr lang="en-US" sz="3400" dirty="0"/>
          </a:p>
        </p:txBody>
      </p:sp>
      <p:sp>
        <p:nvSpPr>
          <p:cNvPr id="21" name="Text 18"/>
          <p:cNvSpPr txBox="1"/>
          <p:nvPr/>
        </p:nvSpPr>
        <p:spPr>
          <a:xfrm>
            <a:off x="8302752" y="3035808"/>
            <a:ext cx="3090672" cy="256032"/>
          </a:xfrm>
          <a:prstGeom prst="rect">
            <a:avLst/>
          </a:prstGeom>
          <a:noFill/>
          <a:ln/>
        </p:spPr>
        <p:txBody>
          <a:bodyPr wrap="square" lIns="0" tIns="0" rIns="0" bIns="0" rtlCol="0" anchor="ctr"/>
          <a:lstStyle/>
          <a:p>
            <a:pPr indent="0" marL="0">
              <a:buNone/>
            </a:pPr>
            <a:r>
              <a:rPr lang="en-US" sz="1150" b="1" dirty="0">
                <a:solidFill>
                  <a:srgbClr val="171A1C"/>
                </a:solidFill>
                <a:latin typeface="Meiryo" pitchFamily="34" charset="0"/>
                <a:ea typeface="Meiryo" pitchFamily="34" charset="-122"/>
                <a:cs typeface="Meiryo" pitchFamily="34" charset="-120"/>
              </a:rPr>
              <a:t>影響調査・リリース判断</a:t>
            </a:r>
            <a:endParaRPr lang="en-US" sz="1150" dirty="0"/>
          </a:p>
        </p:txBody>
      </p:sp>
      <p:sp>
        <p:nvSpPr>
          <p:cNvPr id="22" name="Shape 19"/>
          <p:cNvSpPr/>
          <p:nvPr/>
        </p:nvSpPr>
        <p:spPr>
          <a:xfrm>
            <a:off x="8302752" y="3364992"/>
            <a:ext cx="3090672" cy="146304"/>
          </a:xfrm>
          <a:prstGeom prst="roundRect">
            <a:avLst>
              <a:gd name="adj" fmla="val 50000"/>
            </a:avLst>
          </a:prstGeom>
          <a:solidFill>
            <a:srgbClr val="D3D9D6"/>
          </a:solidFill>
          <a:ln w="12700">
            <a:solidFill>
              <a:srgbClr val="D3D9D6"/>
            </a:solidFill>
            <a:prstDash val="solid"/>
          </a:ln>
        </p:spPr>
      </p:sp>
      <p:sp>
        <p:nvSpPr>
          <p:cNvPr id="23" name="Shape 20"/>
          <p:cNvSpPr/>
          <p:nvPr/>
        </p:nvSpPr>
        <p:spPr>
          <a:xfrm>
            <a:off x="8302752" y="3364992"/>
            <a:ext cx="3090672" cy="146304"/>
          </a:xfrm>
          <a:prstGeom prst="roundRect">
            <a:avLst>
              <a:gd name="adj" fmla="val 50000"/>
            </a:avLst>
          </a:prstGeom>
          <a:solidFill>
            <a:srgbClr val="1C6E52"/>
          </a:solidFill>
          <a:ln w="12700">
            <a:solidFill>
              <a:srgbClr val="1C6E52"/>
            </a:solidFill>
            <a:prstDash val="solid"/>
          </a:ln>
        </p:spPr>
      </p:sp>
      <p:sp>
        <p:nvSpPr>
          <p:cNvPr id="24" name="Text 21"/>
          <p:cNvSpPr txBox="1"/>
          <p:nvPr/>
        </p:nvSpPr>
        <p:spPr>
          <a:xfrm>
            <a:off x="8302752" y="3621024"/>
            <a:ext cx="3090672" cy="603504"/>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読みだけでは確定しない。Copilot の役割は「実機で何を確認すべきかのリストを作ること」までと割り切る。</a:t>
            </a:r>
            <a:endParaRPr lang="en-US" sz="1050" dirty="0"/>
          </a:p>
        </p:txBody>
      </p:sp>
      <p:sp>
        <p:nvSpPr>
          <p:cNvPr id="25" name="Shape 22"/>
          <p:cNvSpPr/>
          <p:nvPr/>
        </p:nvSpPr>
        <p:spPr>
          <a:xfrm>
            <a:off x="566928" y="4590288"/>
            <a:ext cx="11055096" cy="1847088"/>
          </a:xfrm>
          <a:prstGeom prst="roundRect">
            <a:avLst>
              <a:gd name="adj" fmla="val 2475"/>
            </a:avLst>
          </a:prstGeom>
          <a:solidFill>
            <a:srgbClr val="E7ECF7"/>
          </a:solidFill>
          <a:ln w="12700">
            <a:solidFill>
              <a:srgbClr val="E7ECF7"/>
            </a:solidFill>
            <a:prstDash val="solid"/>
          </a:ln>
        </p:spPr>
      </p:sp>
      <p:sp>
        <p:nvSpPr>
          <p:cNvPr id="26" name="Text 23"/>
          <p:cNvSpPr txBox="1"/>
          <p:nvPr/>
        </p:nvSpPr>
        <p:spPr>
          <a:xfrm>
            <a:off x="804672" y="4745736"/>
            <a:ext cx="10579608"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割合の見立て方</a:t>
            </a:r>
            <a:endParaRPr lang="en-US" sz="1300" dirty="0"/>
          </a:p>
        </p:txBody>
      </p:sp>
      <p:sp>
        <p:nvSpPr>
          <p:cNvPr id="27" name="Text 24"/>
          <p:cNvSpPr txBox="1"/>
          <p:nvPr/>
        </p:nvSpPr>
        <p:spPr>
          <a:xfrm>
            <a:off x="804672" y="5120640"/>
            <a:ext cx="10607040" cy="1097280"/>
          </a:xfrm>
          <a:prstGeom prst="rect">
            <a:avLst/>
          </a:prstGeom>
          <a:noFill/>
          <a:ln/>
        </p:spPr>
        <p:txBody>
          <a:bodyPr wrap="square" lIns="0" tIns="0" rIns="0" bIns="0" rtlCol="0" anchor="t"/>
          <a:lstStyle/>
          <a:p>
            <a:pPr indent="0" marL="0">
              <a:lnSpc>
                <a:spcPts val="2100"/>
              </a:lnSpc>
              <a:buNone/>
            </a:pPr>
            <a:r>
              <a:rPr lang="en-US" sz="1300" b="1" dirty="0">
                <a:solidFill>
                  <a:srgbClr val="171A1C"/>
                </a:solidFill>
                <a:latin typeface="Meiryo" pitchFamily="34" charset="0"/>
                <a:ea typeface="Meiryo" pitchFamily="34" charset="-122"/>
                <a:cs typeface="Meiryo" pitchFamily="34" charset="-120"/>
              </a:rPr>
              <a:t>厳密な数字は要らない。「この状態で判断して大丈夫か」を自分に問うだけでいい。</a:t>
            </a:r>
            <a:pPr indent="0" marL="0">
              <a:lnSpc>
                <a:spcPts val="2100"/>
              </a:lnSpc>
              <a:buNone/>
            </a:pPr>
            <a:endParaRPr lang="en-US" sz="1300" dirty="0"/>
          </a:p>
          <a:p>
            <a:pPr indent="0" marL="0">
              <a:lnSpc>
                <a:spcPts val="2100"/>
              </a:lnSpc>
              <a:buNone/>
            </a:pPr>
            <a:endParaRPr lang="en-US" sz="1300" dirty="0"/>
          </a:p>
          <a:p>
            <a:pPr indent="0" marL="0">
              <a:lnSpc>
                <a:spcPts val="2100"/>
              </a:lnSpc>
              <a:buNone/>
            </a:pPr>
            <a:r>
              <a:rPr lang="en-US" sz="1300" dirty="0">
                <a:solidFill>
                  <a:srgbClr val="394246"/>
                </a:solidFill>
                <a:latin typeface="Meiryo" pitchFamily="34" charset="0"/>
                <a:ea typeface="Meiryo" pitchFamily="34" charset="-122"/>
                <a:cs typeface="Meiryo" pitchFamily="34" charset="-120"/>
              </a:rPr>
              <a:t>判断できるなら、そこが止めどころ。判断できないなら、足りないものを言葉にして、それを次の問いにする。</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09 ／ 収束 その4</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切り分けきれない分は、材料を足してもう一周</a:t>
            </a:r>
            <a:endParaRPr lang="en-US" sz="3000" dirty="0"/>
          </a:p>
        </p:txBody>
      </p:sp>
      <p:sp>
        <p:nvSpPr>
          <p:cNvPr id="6" name="Text 3"/>
          <p:cNvSpPr txBox="1"/>
          <p:nvPr/>
        </p:nvSpPr>
        <p:spPr>
          <a:xfrm>
            <a:off x="566928" y="1481328"/>
            <a:ext cx="11064240" cy="45720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読みだけで決まらないことは必ず出る。そこで止めず、もう一周する。回し方は2種類ある。</a:t>
            </a:r>
            <a:endParaRPr lang="en-US" sz="1350" dirty="0"/>
          </a:p>
        </p:txBody>
      </p:sp>
      <p:sp>
        <p:nvSpPr>
          <p:cNvPr id="7" name="Shape 4"/>
          <p:cNvSpPr/>
          <p:nvPr/>
        </p:nvSpPr>
        <p:spPr>
          <a:xfrm>
            <a:off x="566928" y="2103120"/>
            <a:ext cx="5431536" cy="2286000"/>
          </a:xfrm>
          <a:prstGeom prst="roundRect">
            <a:avLst>
              <a:gd name="adj" fmla="val 2000"/>
            </a:avLst>
          </a:prstGeom>
          <a:solidFill>
            <a:srgbClr val="E7ECF7"/>
          </a:solidFill>
          <a:ln w="12700">
            <a:solidFill>
              <a:srgbClr val="E7ECF7"/>
            </a:solidFill>
            <a:prstDash val="solid"/>
          </a:ln>
        </p:spPr>
      </p:sp>
      <p:sp>
        <p:nvSpPr>
          <p:cNvPr id="8" name="Text 5"/>
          <p:cNvSpPr txBox="1"/>
          <p:nvPr/>
        </p:nvSpPr>
        <p:spPr>
          <a:xfrm>
            <a:off x="804672" y="2267712"/>
            <a:ext cx="4956048" cy="274320"/>
          </a:xfrm>
          <a:prstGeom prst="rect">
            <a:avLst/>
          </a:prstGeom>
          <a:noFill/>
          <a:ln/>
        </p:spPr>
        <p:txBody>
          <a:bodyPr wrap="square" lIns="0" tIns="0" rIns="0" bIns="0" rtlCol="0" anchor="ctr"/>
          <a:lstStyle/>
          <a:p>
            <a:pPr indent="0" marL="0">
              <a:buNone/>
            </a:pPr>
            <a:r>
              <a:rPr lang="en-US" sz="1300" b="1" dirty="0">
                <a:solidFill>
                  <a:srgbClr val="27488F"/>
                </a:solidFill>
                <a:latin typeface="Meiryo" pitchFamily="34" charset="0"/>
                <a:ea typeface="Meiryo" pitchFamily="34" charset="-122"/>
                <a:cs typeface="Meiryo" pitchFamily="34" charset="-120"/>
              </a:rPr>
              <a:t>内側の周回</a:t>
            </a:r>
            <a:pPr indent="0" marL="0">
              <a:buNone/>
            </a:pPr>
            <a:r>
              <a:rPr lang="en-US" sz="1300" dirty="0">
                <a:solidFill>
                  <a:srgbClr val="171A1C"/>
                </a:solidFill>
                <a:latin typeface="Meiryo" pitchFamily="34" charset="0"/>
                <a:ea typeface="Meiryo" pitchFamily="34" charset="-122"/>
                <a:cs typeface="Meiryo" pitchFamily="34" charset="-120"/>
              </a:rPr>
              <a:t>　同じ会話の中で回す</a:t>
            </a:r>
            <a:endParaRPr lang="en-US" sz="1300" dirty="0"/>
          </a:p>
        </p:txBody>
      </p:sp>
      <p:sp>
        <p:nvSpPr>
          <p:cNvPr id="9" name="Text 6"/>
          <p:cNvSpPr txBox="1"/>
          <p:nvPr/>
        </p:nvSpPr>
        <p:spPr>
          <a:xfrm>
            <a:off x="804672" y="2596896"/>
            <a:ext cx="4956048" cy="274320"/>
          </a:xfrm>
          <a:prstGeom prst="rect">
            <a:avLst/>
          </a:prstGeom>
          <a:noFill/>
          <a:ln/>
        </p:spPr>
        <p:txBody>
          <a:bodyPr wrap="square" lIns="0" tIns="0" rIns="0" bIns="0" rtlCol="0" anchor="ctr"/>
          <a:lstStyle/>
          <a:p>
            <a:pPr indent="0" marL="0">
              <a:buNone/>
            </a:pPr>
            <a:r>
              <a:rPr lang="en-US" sz="1000" dirty="0">
                <a:solidFill>
                  <a:srgbClr val="626D72"/>
                </a:solidFill>
                <a:latin typeface="Meiryo" pitchFamily="34" charset="0"/>
                <a:ea typeface="Meiryo" pitchFamily="34" charset="-122"/>
                <a:cs typeface="Meiryo" pitchFamily="34" charset="-120"/>
              </a:rPr>
              <a:t>新しい材料を足さなくても回る。問い方を変えて何度か通し、結論を固める。</a:t>
            </a:r>
            <a:endParaRPr lang="en-US" sz="1000" dirty="0"/>
          </a:p>
        </p:txBody>
      </p:sp>
      <p:sp>
        <p:nvSpPr>
          <p:cNvPr id="10" name="Text 7"/>
          <p:cNvSpPr txBox="1"/>
          <p:nvPr/>
        </p:nvSpPr>
        <p:spPr>
          <a:xfrm>
            <a:off x="896112" y="2962656"/>
            <a:ext cx="4773168" cy="1280160"/>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同じ論点を別の切り口から聞き直す</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出てきた説明の前提を疑い、根拠を問い直す</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発散で拾いきれなかった関連ドキュメントを、穴埋めとして1〜2本だけ足す</a:t>
            </a:r>
            <a:endParaRPr lang="en-US" sz="1100" dirty="0"/>
          </a:p>
        </p:txBody>
      </p:sp>
      <p:sp>
        <p:nvSpPr>
          <p:cNvPr id="11" name="Shape 8"/>
          <p:cNvSpPr/>
          <p:nvPr/>
        </p:nvSpPr>
        <p:spPr>
          <a:xfrm>
            <a:off x="6537960" y="2103120"/>
            <a:ext cx="5084064" cy="2286000"/>
          </a:xfrm>
          <a:prstGeom prst="roundRect">
            <a:avLst>
              <a:gd name="adj" fmla="val 2000"/>
            </a:avLst>
          </a:prstGeom>
          <a:solidFill>
            <a:srgbClr val="E2EFEA"/>
          </a:solidFill>
          <a:ln w="12700">
            <a:solidFill>
              <a:srgbClr val="E2EFEA"/>
            </a:solidFill>
            <a:prstDash val="solid"/>
          </a:ln>
        </p:spPr>
      </p:sp>
      <p:sp>
        <p:nvSpPr>
          <p:cNvPr id="12" name="Text 9"/>
          <p:cNvSpPr txBox="1"/>
          <p:nvPr/>
        </p:nvSpPr>
        <p:spPr>
          <a:xfrm>
            <a:off x="6775704" y="2267712"/>
            <a:ext cx="4608576" cy="274320"/>
          </a:xfrm>
          <a:prstGeom prst="rect">
            <a:avLst/>
          </a:prstGeom>
          <a:noFill/>
          <a:ln/>
        </p:spPr>
        <p:txBody>
          <a:bodyPr wrap="square" lIns="0" tIns="0" rIns="0" bIns="0" rtlCol="0" anchor="ctr"/>
          <a:lstStyle/>
          <a:p>
            <a:pPr indent="0" marL="0">
              <a:buNone/>
            </a:pPr>
            <a:r>
              <a:rPr lang="en-US" sz="1300" b="1" dirty="0">
                <a:solidFill>
                  <a:srgbClr val="1C6E52"/>
                </a:solidFill>
                <a:latin typeface="Meiryo" pitchFamily="34" charset="0"/>
                <a:ea typeface="Meiryo" pitchFamily="34" charset="-122"/>
                <a:cs typeface="Meiryo" pitchFamily="34" charset="-120"/>
              </a:rPr>
              <a:t>外側の周回</a:t>
            </a:r>
            <a:pPr indent="0" marL="0">
              <a:buNone/>
            </a:pPr>
            <a:r>
              <a:rPr lang="en-US" sz="1300" dirty="0">
                <a:solidFill>
                  <a:srgbClr val="171A1C"/>
                </a:solidFill>
                <a:latin typeface="Meiryo" pitchFamily="34" charset="0"/>
                <a:ea typeface="Meiryo" pitchFamily="34" charset="-122"/>
                <a:cs typeface="Meiryo" pitchFamily="34" charset="-120"/>
              </a:rPr>
              <a:t>　確かめてから戻る</a:t>
            </a:r>
            <a:endParaRPr lang="en-US" sz="1300" dirty="0"/>
          </a:p>
        </p:txBody>
      </p:sp>
      <p:sp>
        <p:nvSpPr>
          <p:cNvPr id="13" name="Text 10"/>
          <p:cNvSpPr txBox="1"/>
          <p:nvPr/>
        </p:nvSpPr>
        <p:spPr>
          <a:xfrm>
            <a:off x="6775704" y="2596896"/>
            <a:ext cx="4608576" cy="274320"/>
          </a:xfrm>
          <a:prstGeom prst="rect">
            <a:avLst/>
          </a:prstGeom>
          <a:noFill/>
          <a:ln/>
        </p:spPr>
        <p:txBody>
          <a:bodyPr wrap="square" lIns="0" tIns="0" rIns="0" bIns="0" rtlCol="0" anchor="ctr"/>
          <a:lstStyle/>
          <a:p>
            <a:pPr indent="0" marL="0">
              <a:buNone/>
            </a:pPr>
            <a:r>
              <a:rPr lang="en-US" sz="1000" dirty="0">
                <a:solidFill>
                  <a:srgbClr val="626D72"/>
                </a:solidFill>
                <a:latin typeface="Meiryo" pitchFamily="34" charset="0"/>
                <a:ea typeface="Meiryo" pitchFamily="34" charset="-122"/>
                <a:cs typeface="Meiryo" pitchFamily="34" charset="-120"/>
              </a:rPr>
              <a:t>固めた結論を持って調べに行き、その結果を返す。ここで候補が一気に落ちる。</a:t>
            </a:r>
            <a:endParaRPr lang="en-US" sz="1000" dirty="0"/>
          </a:p>
        </p:txBody>
      </p:sp>
      <p:sp>
        <p:nvSpPr>
          <p:cNvPr id="14" name="Text 11"/>
          <p:cNvSpPr txBox="1"/>
          <p:nvPr/>
        </p:nvSpPr>
        <p:spPr>
          <a:xfrm>
            <a:off x="6867144" y="2962656"/>
            <a:ext cx="4425696" cy="1280160"/>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コードを読む、実機を動かす、ログや DB の中身を見る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関係者に聞く、過去の経緯を当たる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「調べたらこうだった。整合する説明はどれか」と聞き直す</a:t>
            </a:r>
            <a:endParaRPr lang="en-US" sz="1100" dirty="0"/>
          </a:p>
        </p:txBody>
      </p:sp>
      <p:sp>
        <p:nvSpPr>
          <p:cNvPr id="15" name="Shape 12"/>
          <p:cNvSpPr/>
          <p:nvPr/>
        </p:nvSpPr>
        <p:spPr>
          <a:xfrm>
            <a:off x="566928" y="4626864"/>
            <a:ext cx="11055096" cy="786384"/>
          </a:xfrm>
          <a:prstGeom prst="roundRect">
            <a:avLst>
              <a:gd name="adj" fmla="val 5814"/>
            </a:avLst>
          </a:prstGeom>
          <a:solidFill>
            <a:srgbClr val="F6EFDC"/>
          </a:solidFill>
          <a:ln w="12700">
            <a:solidFill>
              <a:srgbClr val="F6EFDC"/>
            </a:solidFill>
            <a:prstDash val="solid"/>
          </a:ln>
        </p:spPr>
      </p:sp>
      <p:sp>
        <p:nvSpPr>
          <p:cNvPr id="16" name="Text 13"/>
          <p:cNvSpPr txBox="1"/>
          <p:nvPr/>
        </p:nvSpPr>
        <p:spPr>
          <a:xfrm>
            <a:off x="804672" y="4809744"/>
            <a:ext cx="10607040" cy="457200"/>
          </a:xfrm>
          <a:prstGeom prst="rect">
            <a:avLst/>
          </a:prstGeom>
          <a:noFill/>
          <a:ln/>
        </p:spPr>
        <p:txBody>
          <a:bodyPr wrap="square" lIns="0" tIns="0" rIns="0" bIns="0" rtlCol="0" anchor="t"/>
          <a:lstStyle/>
          <a:p>
            <a:pPr indent="0" marL="0">
              <a:lnSpc>
                <a:spcPts val="1700"/>
              </a:lnSpc>
              <a:buNone/>
            </a:pPr>
            <a:r>
              <a:rPr lang="en-US" sz="1150" b="1" dirty="0">
                <a:solidFill>
                  <a:srgbClr val="171A1C"/>
                </a:solidFill>
                <a:latin typeface="Meiryo" pitchFamily="34" charset="0"/>
                <a:ea typeface="Meiryo" pitchFamily="34" charset="-122"/>
                <a:cs typeface="Meiryo" pitchFamily="34" charset="-120"/>
              </a:rPr>
              <a:t>内側の周回で、材料を足しすぎない。</a:t>
            </a:r>
            <a:pPr indent="0" marL="0">
              <a:lnSpc>
                <a:spcPts val="1700"/>
              </a:lnSpc>
              <a:buNone/>
            </a:pPr>
            <a:r>
              <a:rPr lang="en-US" sz="1150" dirty="0">
                <a:solidFill>
                  <a:srgbClr val="394246"/>
                </a:solidFill>
                <a:latin typeface="Meiryo" pitchFamily="34" charset="0"/>
                <a:ea typeface="Meiryo" pitchFamily="34" charset="-122"/>
                <a:cs typeface="Meiryo" pitchFamily="34" charset="-120"/>
              </a:rPr>
              <a:t>　大量に足せば、収束のつもりが発散に逆戻りする。「この論点のこの穴を埋める」と決めてから、その1〜2本だけ足す。</a:t>
            </a:r>
            <a:endParaRPr lang="en-US" sz="1150" dirty="0"/>
          </a:p>
        </p:txBody>
      </p:sp>
      <p:sp>
        <p:nvSpPr>
          <p:cNvPr id="17" name="Shape 14"/>
          <p:cNvSpPr/>
          <p:nvPr/>
        </p:nvSpPr>
        <p:spPr>
          <a:xfrm>
            <a:off x="566928" y="5614416"/>
            <a:ext cx="11055096" cy="822960"/>
          </a:xfrm>
          <a:prstGeom prst="roundRect">
            <a:avLst>
              <a:gd name="adj" fmla="val 5556"/>
            </a:avLst>
          </a:prstGeom>
          <a:solidFill>
            <a:srgbClr val="E2EFEA"/>
          </a:solidFill>
          <a:ln w="12700">
            <a:solidFill>
              <a:srgbClr val="E2EFEA"/>
            </a:solidFill>
            <a:prstDash val="solid"/>
          </a:ln>
        </p:spPr>
      </p:sp>
      <p:sp>
        <p:nvSpPr>
          <p:cNvPr id="18" name="Text 15"/>
          <p:cNvSpPr txBox="1"/>
          <p:nvPr/>
        </p:nvSpPr>
        <p:spPr>
          <a:xfrm>
            <a:off x="804672" y="5797296"/>
            <a:ext cx="10607040" cy="493776"/>
          </a:xfrm>
          <a:prstGeom prst="rect">
            <a:avLst/>
          </a:prstGeom>
          <a:noFill/>
          <a:ln/>
        </p:spPr>
        <p:txBody>
          <a:bodyPr wrap="square" lIns="0" tIns="0" rIns="0" bIns="0" rtlCol="0" anchor="t"/>
          <a:lstStyle/>
          <a:p>
            <a:pPr indent="0" marL="0">
              <a:lnSpc>
                <a:spcPts val="1700"/>
              </a:lnSpc>
              <a:buNone/>
            </a:pPr>
            <a:r>
              <a:rPr lang="en-US" sz="1150" b="1" dirty="0">
                <a:solidFill>
                  <a:srgbClr val="171A1C"/>
                </a:solidFill>
                <a:latin typeface="Meiryo" pitchFamily="34" charset="0"/>
                <a:ea typeface="Meiryo" pitchFamily="34" charset="-122"/>
                <a:cs typeface="Meiryo" pitchFamily="34" charset="-120"/>
              </a:rPr>
              <a:t>Copilot は渡した分しか知らない ── 最初の話に戻る。</a:t>
            </a:r>
            <a:pPr indent="0" marL="0">
              <a:lnSpc>
                <a:spcPts val="1700"/>
              </a:lnSpc>
              <a:buNone/>
            </a:pPr>
            <a:r>
              <a:rPr lang="en-US" sz="1150" dirty="0">
                <a:solidFill>
                  <a:srgbClr val="394246"/>
                </a:solidFill>
                <a:latin typeface="Meiryo" pitchFamily="34" charset="0"/>
                <a:ea typeface="Meiryo" pitchFamily="34" charset="-122"/>
                <a:cs typeface="Meiryo" pitchFamily="34" charset="-120"/>
              </a:rPr>
              <a:t>　自分で確かめた事実は、世の中のどこにも無く、こちらしか持っていない材料だ。それを渡せる人が、いちばん良い答えを引き出せる。</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10 ／ 仕上げ</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結論が出たら、図にする</a:t>
            </a:r>
            <a:endParaRPr lang="en-US" sz="3000" dirty="0"/>
          </a:p>
        </p:txBody>
      </p:sp>
      <p:sp>
        <p:nvSpPr>
          <p:cNvPr id="6" name="Shape 3"/>
          <p:cNvSpPr/>
          <p:nvPr/>
        </p:nvSpPr>
        <p:spPr>
          <a:xfrm>
            <a:off x="566928" y="1627632"/>
            <a:ext cx="5431536" cy="1792224"/>
          </a:xfrm>
          <a:prstGeom prst="roundRect">
            <a:avLst>
              <a:gd name="adj" fmla="val 2551"/>
            </a:avLst>
          </a:prstGeom>
          <a:solidFill>
            <a:srgbClr val="F2F4F3"/>
          </a:solidFill>
          <a:ln w="12700">
            <a:solidFill>
              <a:srgbClr val="F2F4F3"/>
            </a:solidFill>
            <a:prstDash val="solid"/>
          </a:ln>
        </p:spPr>
      </p:sp>
      <p:sp>
        <p:nvSpPr>
          <p:cNvPr id="7" name="Text 4"/>
          <p:cNvSpPr txBox="1"/>
          <p:nvPr/>
        </p:nvSpPr>
        <p:spPr>
          <a:xfrm>
            <a:off x="804672" y="1783080"/>
            <a:ext cx="4956048" cy="292608"/>
          </a:xfrm>
          <a:prstGeom prst="rect">
            <a:avLst/>
          </a:prstGeom>
          <a:noFill/>
          <a:ln/>
        </p:spPr>
        <p:txBody>
          <a:bodyPr wrap="square" lIns="0" tIns="0" rIns="0" bIns="0" rtlCol="0" anchor="t"/>
          <a:lstStyle/>
          <a:p>
            <a:pPr indent="0" marL="0">
              <a:buNone/>
            </a:pPr>
            <a:r>
              <a:rPr lang="en-US" sz="1300" b="1" dirty="0">
                <a:solidFill>
                  <a:srgbClr val="171A1C"/>
                </a:solidFill>
                <a:latin typeface="Meiryo" pitchFamily="34" charset="0"/>
                <a:ea typeface="Meiryo" pitchFamily="34" charset="-122"/>
                <a:cs typeface="Meiryo" pitchFamily="34" charset="-120"/>
              </a:rPr>
              <a:t>なぜ図にするのか</a:t>
            </a:r>
            <a:endParaRPr lang="en-US" sz="1300" dirty="0"/>
          </a:p>
        </p:txBody>
      </p:sp>
      <p:sp>
        <p:nvSpPr>
          <p:cNvPr id="8" name="Text 5"/>
          <p:cNvSpPr txBox="1"/>
          <p:nvPr/>
        </p:nvSpPr>
        <p:spPr>
          <a:xfrm>
            <a:off x="896112" y="2157984"/>
            <a:ext cx="4773168" cy="1097280"/>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間違いに気づける ── 図の誤りは違和感で気づく。検算になる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共有が速い ── 説明する時間が桁で変わる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抜けが見える ── 線がつながらない箇所が調べ残し</a:t>
            </a:r>
            <a:endParaRPr lang="en-US" sz="1100" dirty="0"/>
          </a:p>
        </p:txBody>
      </p:sp>
      <p:sp>
        <p:nvSpPr>
          <p:cNvPr id="9" name="Shape 6"/>
          <p:cNvSpPr/>
          <p:nvPr/>
        </p:nvSpPr>
        <p:spPr>
          <a:xfrm>
            <a:off x="6537960" y="1627632"/>
            <a:ext cx="5084064" cy="1792224"/>
          </a:xfrm>
          <a:prstGeom prst="roundRect">
            <a:avLst>
              <a:gd name="adj" fmla="val 2551"/>
            </a:avLst>
          </a:prstGeom>
          <a:solidFill>
            <a:srgbClr val="F2F4F3"/>
          </a:solidFill>
          <a:ln w="12700">
            <a:solidFill>
              <a:srgbClr val="F2F4F3"/>
            </a:solidFill>
            <a:prstDash val="solid"/>
          </a:ln>
        </p:spPr>
      </p:sp>
      <p:sp>
        <p:nvSpPr>
          <p:cNvPr id="10" name="Text 7"/>
          <p:cNvSpPr txBox="1"/>
          <p:nvPr/>
        </p:nvSpPr>
        <p:spPr>
          <a:xfrm>
            <a:off x="6775704" y="1783080"/>
            <a:ext cx="4608576" cy="292608"/>
          </a:xfrm>
          <a:prstGeom prst="rect">
            <a:avLst/>
          </a:prstGeom>
          <a:noFill/>
          <a:ln/>
        </p:spPr>
        <p:txBody>
          <a:bodyPr wrap="square" lIns="0" tIns="0" rIns="0" bIns="0" rtlCol="0" anchor="t"/>
          <a:lstStyle/>
          <a:p>
            <a:pPr indent="0" marL="0">
              <a:buNone/>
            </a:pPr>
            <a:r>
              <a:rPr lang="en-US" sz="1300" b="1" dirty="0">
                <a:solidFill>
                  <a:srgbClr val="171A1C"/>
                </a:solidFill>
                <a:latin typeface="Meiryo" pitchFamily="34" charset="0"/>
                <a:ea typeface="Meiryo" pitchFamily="34" charset="-122"/>
                <a:cs typeface="Meiryo" pitchFamily="34" charset="-120"/>
              </a:rPr>
              <a:t>出させると効くもの</a:t>
            </a:r>
            <a:endParaRPr lang="en-US" sz="1300" dirty="0"/>
          </a:p>
        </p:txBody>
      </p:sp>
      <p:sp>
        <p:nvSpPr>
          <p:cNvPr id="11" name="Text 8"/>
          <p:cNvSpPr txBox="1"/>
          <p:nvPr/>
        </p:nvSpPr>
        <p:spPr>
          <a:xfrm>
            <a:off x="6867144" y="2157984"/>
            <a:ext cx="4425696" cy="1097280"/>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処理フロー（どの順で何が起きるか）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呼び出し関係・依存関係</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画面遷移・帳票の出力経路</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データの流れ（どこで発生し、どこで確定するか）</a:t>
            </a:r>
            <a:endParaRPr lang="en-US" sz="1100" dirty="0"/>
          </a:p>
        </p:txBody>
      </p:sp>
      <p:sp>
        <p:nvSpPr>
          <p:cNvPr id="12" name="Shape 9"/>
          <p:cNvSpPr/>
          <p:nvPr/>
        </p:nvSpPr>
        <p:spPr>
          <a:xfrm>
            <a:off x="566928" y="3675888"/>
            <a:ext cx="5431536" cy="2761488"/>
          </a:xfrm>
          <a:prstGeom prst="roundRect">
            <a:avLst>
              <a:gd name="adj" fmla="val 1656"/>
            </a:avLst>
          </a:prstGeom>
          <a:solidFill>
            <a:srgbClr val="F7E6E1"/>
          </a:solidFill>
          <a:ln w="12700">
            <a:solidFill>
              <a:srgbClr val="F7E6E1"/>
            </a:solidFill>
            <a:prstDash val="solid"/>
          </a:ln>
        </p:spPr>
      </p:sp>
      <p:sp>
        <p:nvSpPr>
          <p:cNvPr id="13" name="Shape 10"/>
          <p:cNvSpPr/>
          <p:nvPr/>
        </p:nvSpPr>
        <p:spPr>
          <a:xfrm>
            <a:off x="804672" y="3858768"/>
            <a:ext cx="914400" cy="246888"/>
          </a:xfrm>
          <a:prstGeom prst="roundRect">
            <a:avLst>
              <a:gd name="adj" fmla="val 14815"/>
            </a:avLst>
          </a:prstGeom>
          <a:solidFill>
            <a:srgbClr val="A3351D"/>
          </a:solidFill>
          <a:ln w="12700">
            <a:solidFill>
              <a:srgbClr val="A3351D"/>
            </a:solidFill>
            <a:prstDash val="solid"/>
          </a:ln>
        </p:spPr>
      </p:sp>
      <p:sp>
        <p:nvSpPr>
          <p:cNvPr id="14" name="Text 11"/>
          <p:cNvSpPr txBox="1"/>
          <p:nvPr/>
        </p:nvSpPr>
        <p:spPr>
          <a:xfrm>
            <a:off x="804672" y="3858768"/>
            <a:ext cx="9144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使わない</a:t>
            </a:r>
            <a:endParaRPr lang="en-US" sz="1000" dirty="0"/>
          </a:p>
        </p:txBody>
      </p:sp>
      <p:sp>
        <p:nvSpPr>
          <p:cNvPr id="15" name="Text 12"/>
          <p:cNvSpPr txBox="1"/>
          <p:nvPr/>
        </p:nvSpPr>
        <p:spPr>
          <a:xfrm>
            <a:off x="1810512" y="3840480"/>
            <a:ext cx="4023360" cy="274320"/>
          </a:xfrm>
          <a:prstGeom prst="rect">
            <a:avLst/>
          </a:prstGeom>
          <a:noFill/>
          <a:ln/>
        </p:spPr>
        <p:txBody>
          <a:bodyPr wrap="square" lIns="0" tIns="0" rIns="0" bIns="0" rtlCol="0" anchor="ctr"/>
          <a:lstStyle/>
          <a:p>
            <a:pPr indent="0" marL="0">
              <a:buNone/>
            </a:pPr>
            <a:r>
              <a:rPr lang="en-US" sz="1300" b="1" dirty="0">
                <a:solidFill>
                  <a:srgbClr val="171A1C"/>
                </a:solidFill>
                <a:latin typeface="Meiryo" pitchFamily="34" charset="0"/>
                <a:ea typeface="Meiryo" pitchFamily="34" charset="-122"/>
                <a:cs typeface="Meiryo" pitchFamily="34" charset="-120"/>
              </a:rPr>
              <a:t>＋ボタンの「画像を生成する」</a:t>
            </a:r>
            <a:endParaRPr lang="en-US" sz="1300" dirty="0"/>
          </a:p>
        </p:txBody>
      </p:sp>
      <p:sp>
        <p:nvSpPr>
          <p:cNvPr id="16" name="Text 13"/>
          <p:cNvSpPr txBox="1"/>
          <p:nvPr/>
        </p:nvSpPr>
        <p:spPr>
          <a:xfrm>
            <a:off x="804672" y="4279392"/>
            <a:ext cx="4956048" cy="1975104"/>
          </a:xfrm>
          <a:prstGeom prst="rect">
            <a:avLst/>
          </a:prstGeom>
          <a:noFill/>
          <a:ln/>
        </p:spPr>
        <p:txBody>
          <a:bodyPr wrap="square" lIns="0" tIns="0" rIns="0" bIns="0" rtlCol="0" anchor="t"/>
          <a:lstStyle/>
          <a:p>
            <a:pPr indent="0" marL="0">
              <a:lnSpc>
                <a:spcPts val="1700"/>
              </a:lnSpc>
              <a:buNone/>
            </a:pPr>
            <a:r>
              <a:rPr lang="en-US" sz="1100" dirty="0">
                <a:solidFill>
                  <a:srgbClr val="394246"/>
                </a:solidFill>
                <a:latin typeface="Meiryo" pitchFamily="34" charset="0"/>
                <a:ea typeface="Meiryo" pitchFamily="34" charset="-122"/>
                <a:cs typeface="Meiryo" pitchFamily="34" charset="-120"/>
              </a:rPr>
              <a:t>写真やイラストを作る別サービスの呼び出し。構成図の道具ではない。</a:t>
            </a:r>
            <a:endParaRPr lang="en-US" sz="1100" dirty="0"/>
          </a:p>
          <a:p>
            <a:pPr indent="0" marL="0">
              <a:lnSpc>
                <a:spcPts val="1700"/>
              </a:lnSpc>
              <a:buNone/>
            </a:pPr>
            <a:endParaRPr lang="en-US" sz="1100" dirty="0"/>
          </a:p>
          <a:p>
            <a:pPr indent="0" marL="0">
              <a:lnSpc>
                <a:spcPts val="1700"/>
              </a:lnSpc>
              <a:buNone/>
            </a:pPr>
            <a:r>
              <a:rPr lang="en-US" sz="1100" dirty="0">
                <a:solidFill>
                  <a:srgbClr val="394246"/>
                </a:solidFill>
                <a:latin typeface="Meiryo" pitchFamily="34" charset="0"/>
                <a:ea typeface="Meiryo" pitchFamily="34" charset="-122"/>
                <a:cs typeface="Meiryo" pitchFamily="34" charset="-120"/>
              </a:rPr>
              <a:t>・文字ラベルが崩れる</a:t>
            </a:r>
            <a:endParaRPr lang="en-US" sz="1100" dirty="0"/>
          </a:p>
          <a:p>
            <a:pPr indent="0" marL="0">
              <a:lnSpc>
                <a:spcPts val="1700"/>
              </a:lnSpc>
              <a:buNone/>
            </a:pPr>
            <a:r>
              <a:rPr lang="en-US" sz="1100" dirty="0">
                <a:solidFill>
                  <a:srgbClr val="394246"/>
                </a:solidFill>
                <a:latin typeface="Meiryo" pitchFamily="34" charset="0"/>
                <a:ea typeface="Meiryo" pitchFamily="34" charset="-122"/>
                <a:cs typeface="Meiryo" pitchFamily="34" charset="-120"/>
              </a:rPr>
              <a:t>・線のつながりに意味は保証されない</a:t>
            </a:r>
            <a:endParaRPr lang="en-US" sz="1100" dirty="0"/>
          </a:p>
          <a:p>
            <a:pPr indent="0" marL="0">
              <a:lnSpc>
                <a:spcPts val="1700"/>
              </a:lnSpc>
              <a:buNone/>
            </a:pPr>
            <a:r>
              <a:rPr lang="en-US" sz="1100" dirty="0">
                <a:solidFill>
                  <a:srgbClr val="394246"/>
                </a:solidFill>
                <a:latin typeface="Meiryo" pitchFamily="34" charset="0"/>
                <a:ea typeface="Meiryo" pitchFamily="34" charset="-122"/>
                <a:cs typeface="Meiryo" pitchFamily="34" charset="-120"/>
              </a:rPr>
              <a:t>・出てきた図を直せない</a:t>
            </a:r>
            <a:endParaRPr lang="en-US" sz="1100" dirty="0"/>
          </a:p>
          <a:p>
            <a:pPr indent="0" marL="0">
              <a:lnSpc>
                <a:spcPts val="1700"/>
              </a:lnSpc>
              <a:buNone/>
            </a:pPr>
            <a:endParaRPr lang="en-US" sz="1100" dirty="0"/>
          </a:p>
          <a:p>
            <a:pPr indent="0" marL="0">
              <a:lnSpc>
                <a:spcPts val="1700"/>
              </a:lnSpc>
              <a:buNone/>
            </a:pPr>
            <a:r>
              <a:rPr lang="en-US" sz="1100" dirty="0">
                <a:solidFill>
                  <a:srgbClr val="394246"/>
                </a:solidFill>
                <a:latin typeface="Meiryo" pitchFamily="34" charset="0"/>
                <a:ea typeface="Meiryo" pitchFamily="34" charset="-122"/>
                <a:cs typeface="Meiryo" pitchFamily="34" charset="-120"/>
              </a:rPr>
              <a:t>似て非なる機能なので、ここでは選ばない。</a:t>
            </a:r>
            <a:endParaRPr lang="en-US" sz="1100" dirty="0"/>
          </a:p>
        </p:txBody>
      </p:sp>
      <p:sp>
        <p:nvSpPr>
          <p:cNvPr id="17" name="Shape 14"/>
          <p:cNvSpPr/>
          <p:nvPr/>
        </p:nvSpPr>
        <p:spPr>
          <a:xfrm>
            <a:off x="6537960" y="3675888"/>
            <a:ext cx="5084064" cy="2761488"/>
          </a:xfrm>
          <a:prstGeom prst="roundRect">
            <a:avLst>
              <a:gd name="adj" fmla="val 1656"/>
            </a:avLst>
          </a:prstGeom>
          <a:solidFill>
            <a:srgbClr val="E2EFEA"/>
          </a:solidFill>
          <a:ln w="12700">
            <a:solidFill>
              <a:srgbClr val="E2EFEA"/>
            </a:solidFill>
            <a:prstDash val="solid"/>
          </a:ln>
        </p:spPr>
      </p:sp>
      <p:sp>
        <p:nvSpPr>
          <p:cNvPr id="18" name="Shape 15"/>
          <p:cNvSpPr/>
          <p:nvPr/>
        </p:nvSpPr>
        <p:spPr>
          <a:xfrm>
            <a:off x="6775704" y="3858768"/>
            <a:ext cx="713232" cy="246888"/>
          </a:xfrm>
          <a:prstGeom prst="roundRect">
            <a:avLst>
              <a:gd name="adj" fmla="val 14815"/>
            </a:avLst>
          </a:prstGeom>
          <a:solidFill>
            <a:srgbClr val="1C6E52"/>
          </a:solidFill>
          <a:ln w="12700">
            <a:solidFill>
              <a:srgbClr val="1C6E52"/>
            </a:solidFill>
            <a:prstDash val="solid"/>
          </a:ln>
        </p:spPr>
      </p:sp>
      <p:sp>
        <p:nvSpPr>
          <p:cNvPr id="19" name="Text 16"/>
          <p:cNvSpPr txBox="1"/>
          <p:nvPr/>
        </p:nvSpPr>
        <p:spPr>
          <a:xfrm>
            <a:off x="6775704" y="3858768"/>
            <a:ext cx="713232"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使う</a:t>
            </a:r>
            <a:endParaRPr lang="en-US" sz="1000" dirty="0"/>
          </a:p>
        </p:txBody>
      </p:sp>
      <p:sp>
        <p:nvSpPr>
          <p:cNvPr id="20" name="Text 17"/>
          <p:cNvSpPr txBox="1"/>
          <p:nvPr/>
        </p:nvSpPr>
        <p:spPr>
          <a:xfrm>
            <a:off x="7580376" y="3840480"/>
            <a:ext cx="3840480" cy="274320"/>
          </a:xfrm>
          <a:prstGeom prst="rect">
            <a:avLst/>
          </a:prstGeom>
          <a:noFill/>
          <a:ln/>
        </p:spPr>
        <p:txBody>
          <a:bodyPr wrap="square" lIns="0" tIns="0" rIns="0" bIns="0" rtlCol="0" anchor="ctr"/>
          <a:lstStyle/>
          <a:p>
            <a:pPr indent="0" marL="0">
              <a:buNone/>
            </a:pPr>
            <a:r>
              <a:rPr lang="en-US" sz="1300" b="1" dirty="0">
                <a:solidFill>
                  <a:srgbClr val="171A1C"/>
                </a:solidFill>
                <a:latin typeface="Meiryo" pitchFamily="34" charset="0"/>
                <a:ea typeface="Meiryo" pitchFamily="34" charset="-122"/>
                <a:cs typeface="Meiryo" pitchFamily="34" charset="-120"/>
              </a:rPr>
              <a:t>「ページまたはコードを下書きする」</a:t>
            </a:r>
            <a:endParaRPr lang="en-US" sz="1300" dirty="0"/>
          </a:p>
        </p:txBody>
      </p:sp>
      <p:sp>
        <p:nvSpPr>
          <p:cNvPr id="21" name="Text 18"/>
          <p:cNvSpPr txBox="1"/>
          <p:nvPr/>
        </p:nvSpPr>
        <p:spPr>
          <a:xfrm>
            <a:off x="6775704" y="4279392"/>
            <a:ext cx="4608576" cy="1975104"/>
          </a:xfrm>
          <a:prstGeom prst="rect">
            <a:avLst/>
          </a:prstGeom>
          <a:noFill/>
          <a:ln/>
        </p:spPr>
        <p:txBody>
          <a:bodyPr wrap="square" lIns="0" tIns="0" rIns="0" bIns="0" rtlCol="0" anchor="t"/>
          <a:lstStyle/>
          <a:p>
            <a:pPr indent="0" marL="0">
              <a:lnSpc>
                <a:spcPts val="1700"/>
              </a:lnSpc>
              <a:buNone/>
            </a:pPr>
            <a:r>
              <a:rPr lang="en-US" sz="1100" dirty="0">
                <a:solidFill>
                  <a:srgbClr val="394246"/>
                </a:solidFill>
                <a:latin typeface="Meiryo" pitchFamily="34" charset="0"/>
                <a:ea typeface="Meiryo" pitchFamily="34" charset="-122"/>
                <a:cs typeface="Meiryo" pitchFamily="34" charset="-120"/>
              </a:rPr>
              <a:t>図をコードとして書かせて、それを表示する。図を文字で定義する記法（Mermaid など）か、HTML／SVG で出させてブラウザで開く。</a:t>
            </a:r>
            <a:endParaRPr lang="en-US" sz="1100" dirty="0"/>
          </a:p>
          <a:p>
            <a:pPr indent="0" marL="0">
              <a:lnSpc>
                <a:spcPts val="1700"/>
              </a:lnSpc>
              <a:buNone/>
            </a:pPr>
            <a:endParaRPr lang="en-US" sz="1100" dirty="0"/>
          </a:p>
          <a:p>
            <a:pPr indent="0" marL="0">
              <a:lnSpc>
                <a:spcPts val="1700"/>
              </a:lnSpc>
              <a:buNone/>
            </a:pPr>
            <a:r>
              <a:rPr lang="en-US" sz="1100" dirty="0">
                <a:solidFill>
                  <a:srgbClr val="394246"/>
                </a:solidFill>
                <a:latin typeface="Meiryo" pitchFamily="34" charset="0"/>
                <a:ea typeface="Meiryo" pitchFamily="34" charset="-122"/>
                <a:cs typeface="Meiryo" pitchFamily="34" charset="-120"/>
              </a:rPr>
              <a:t>・その場で直せる</a:t>
            </a:r>
            <a:endParaRPr lang="en-US" sz="1100" dirty="0"/>
          </a:p>
          <a:p>
            <a:pPr indent="0" marL="0">
              <a:lnSpc>
                <a:spcPts val="1700"/>
              </a:lnSpc>
              <a:buNone/>
            </a:pPr>
            <a:r>
              <a:rPr lang="en-US" sz="1100" dirty="0">
                <a:solidFill>
                  <a:srgbClr val="394246"/>
                </a:solidFill>
                <a:latin typeface="Meiryo" pitchFamily="34" charset="0"/>
                <a:ea typeface="Meiryo" pitchFamily="34" charset="-122"/>
                <a:cs typeface="Meiryo" pitchFamily="34" charset="-120"/>
              </a:rPr>
              <a:t>・差分で効く。1箇所だけ修正できる</a:t>
            </a:r>
            <a:endParaRPr lang="en-US" sz="1100" dirty="0"/>
          </a:p>
          <a:p>
            <a:pPr indent="0" marL="0">
              <a:lnSpc>
                <a:spcPts val="1700"/>
              </a:lnSpc>
              <a:buNone/>
            </a:pPr>
            <a:r>
              <a:rPr lang="en-US" sz="1100" dirty="0">
                <a:solidFill>
                  <a:srgbClr val="394246"/>
                </a:solidFill>
                <a:latin typeface="Meiryo" pitchFamily="34" charset="0"/>
                <a:ea typeface="Meiryo" pitchFamily="34" charset="-122"/>
                <a:cs typeface="Meiryo" pitchFamily="34" charset="-120"/>
              </a:rPr>
              <a:t>・テキストなので、そのまま調査メモになる</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11 ／ コツ その1</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0.5分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文字にできないものは、画面を切り取って貼る</a:t>
            </a:r>
            <a:endParaRPr lang="en-US" sz="3000" dirty="0"/>
          </a:p>
        </p:txBody>
      </p:sp>
      <p:sp>
        <p:nvSpPr>
          <p:cNvPr id="6" name="Shape 3"/>
          <p:cNvSpPr/>
          <p:nvPr/>
        </p:nvSpPr>
        <p:spPr>
          <a:xfrm>
            <a:off x="566928" y="1627632"/>
            <a:ext cx="11055096" cy="1060704"/>
          </a:xfrm>
          <a:prstGeom prst="roundRect">
            <a:avLst>
              <a:gd name="adj" fmla="val 4310"/>
            </a:avLst>
          </a:prstGeom>
          <a:solidFill>
            <a:srgbClr val="E7ECF7"/>
          </a:solidFill>
          <a:ln w="12700">
            <a:solidFill>
              <a:srgbClr val="E7ECF7"/>
            </a:solidFill>
            <a:prstDash val="solid"/>
          </a:ln>
        </p:spPr>
      </p:sp>
      <p:sp>
        <p:nvSpPr>
          <p:cNvPr id="7" name="Text 4"/>
          <p:cNvSpPr txBox="1"/>
          <p:nvPr/>
        </p:nvSpPr>
        <p:spPr>
          <a:xfrm>
            <a:off x="804672" y="1773936"/>
            <a:ext cx="10607040" cy="329184"/>
          </a:xfrm>
          <a:prstGeom prst="rect">
            <a:avLst/>
          </a:prstGeom>
          <a:noFill/>
          <a:ln/>
        </p:spPr>
        <p:txBody>
          <a:bodyPr wrap="square" lIns="0" tIns="0" rIns="0" bIns="0" rtlCol="0" anchor="ctr"/>
          <a:lstStyle/>
          <a:p>
            <a:pPr indent="0" marL="0">
              <a:buNone/>
            </a:pPr>
            <a:r>
              <a:rPr lang="en-US" sz="1700" b="1" dirty="0">
                <a:solidFill>
                  <a:srgbClr val="27488F"/>
                </a:solidFill>
                <a:latin typeface="Meiryo" pitchFamily="34" charset="0"/>
                <a:ea typeface="Meiryo" pitchFamily="34" charset="-122"/>
                <a:cs typeface="Meiryo" pitchFamily="34" charset="-120"/>
              </a:rPr>
              <a:t>Windows ＋ Shift ＋ S で切り抜き　→　チャットに Ctrl ＋ V</a:t>
            </a:r>
            <a:endParaRPr lang="en-US" sz="1700" dirty="0"/>
          </a:p>
        </p:txBody>
      </p:sp>
      <p:sp>
        <p:nvSpPr>
          <p:cNvPr id="8" name="Text 5"/>
          <p:cNvSpPr txBox="1"/>
          <p:nvPr/>
        </p:nvSpPr>
        <p:spPr>
          <a:xfrm>
            <a:off x="804672" y="2157984"/>
            <a:ext cx="10607040" cy="402336"/>
          </a:xfrm>
          <a:prstGeom prst="rect">
            <a:avLst/>
          </a:prstGeom>
          <a:noFill/>
          <a:ln/>
        </p:spPr>
        <p:txBody>
          <a:bodyPr wrap="square" lIns="0" tIns="0" rIns="0" bIns="0" rtlCol="0" anchor="t"/>
          <a:lstStyle/>
          <a:p>
            <a:pPr indent="0" marL="0">
              <a:lnSpc>
                <a:spcPts val="1650"/>
              </a:lnSpc>
              <a:buNone/>
            </a:pPr>
            <a:r>
              <a:rPr lang="en-US" sz="1100" dirty="0">
                <a:solidFill>
                  <a:srgbClr val="394246"/>
                </a:solidFill>
                <a:latin typeface="Meiryo" pitchFamily="34" charset="0"/>
                <a:ea typeface="Meiryo" pitchFamily="34" charset="-122"/>
                <a:cs typeface="Meiryo" pitchFamily="34" charset="-120"/>
              </a:rPr>
              <a:t>範囲をドラッグすればクリップボードに入る。そのままチャット欄に貼れる。＋ボタンの「スクリーンショットを撮る」より速い。貼るだけで終わらせず、「この画面の〇〇について」と問いを添える。</a:t>
            </a:r>
            <a:endParaRPr lang="en-US" sz="1100" dirty="0"/>
          </a:p>
        </p:txBody>
      </p:sp>
      <p:sp>
        <p:nvSpPr>
          <p:cNvPr id="9" name="Shape 6"/>
          <p:cNvSpPr/>
          <p:nvPr/>
        </p:nvSpPr>
        <p:spPr>
          <a:xfrm>
            <a:off x="566928" y="2944368"/>
            <a:ext cx="5431536" cy="3493008"/>
          </a:xfrm>
          <a:prstGeom prst="roundRect">
            <a:avLst>
              <a:gd name="adj" fmla="val 1309"/>
            </a:avLst>
          </a:prstGeom>
          <a:solidFill>
            <a:srgbClr val="F2F4F3"/>
          </a:solidFill>
          <a:ln w="12700">
            <a:solidFill>
              <a:srgbClr val="F2F4F3"/>
            </a:solidFill>
            <a:prstDash val="solid"/>
          </a:ln>
        </p:spPr>
      </p:sp>
      <p:sp>
        <p:nvSpPr>
          <p:cNvPr id="10" name="Text 7"/>
          <p:cNvSpPr txBox="1"/>
          <p:nvPr/>
        </p:nvSpPr>
        <p:spPr>
          <a:xfrm>
            <a:off x="804672" y="3099816"/>
            <a:ext cx="4956048" cy="292608"/>
          </a:xfrm>
          <a:prstGeom prst="rect">
            <a:avLst/>
          </a:prstGeom>
          <a:noFill/>
          <a:ln/>
        </p:spPr>
        <p:txBody>
          <a:bodyPr wrap="square" lIns="0" tIns="0" rIns="0" bIns="0" rtlCol="0" anchor="t"/>
          <a:lstStyle/>
          <a:p>
            <a:pPr indent="0" marL="0">
              <a:buNone/>
            </a:pPr>
            <a:r>
              <a:rPr lang="en-US" sz="1300" b="1" dirty="0">
                <a:solidFill>
                  <a:srgbClr val="171A1C"/>
                </a:solidFill>
                <a:latin typeface="Meiryo" pitchFamily="34" charset="0"/>
                <a:ea typeface="Meiryo" pitchFamily="34" charset="-122"/>
                <a:cs typeface="Meiryo" pitchFamily="34" charset="-120"/>
              </a:rPr>
              <a:t>効く場面</a:t>
            </a:r>
            <a:endParaRPr lang="en-US" sz="1300" dirty="0"/>
          </a:p>
        </p:txBody>
      </p:sp>
      <p:sp>
        <p:nvSpPr>
          <p:cNvPr id="11" name="Text 8"/>
          <p:cNvSpPr txBox="1"/>
          <p:nvPr/>
        </p:nvSpPr>
        <p:spPr>
          <a:xfrm>
            <a:off x="896112" y="3493008"/>
            <a:ext cx="4773168" cy="2743200"/>
          </a:xfrm>
          <a:prstGeom prst="rect">
            <a:avLst/>
          </a:prstGeom>
          <a:noFill/>
          <a:ln/>
        </p:spPr>
        <p:txBody>
          <a:bodyPr wrap="square" lIns="0" tIns="0" rIns="0" bIns="0" rtlCol="0" anchor="t"/>
          <a:lstStyle/>
          <a:p>
            <a:pPr marL="342900" indent="-342900">
              <a:lnSpc>
                <a:spcPts val="2000"/>
              </a:lnSpc>
              <a:spcAft>
                <a:spcPts val="500"/>
              </a:spcAft>
              <a:buSzPct val="100000"/>
              <a:buChar char="•"/>
            </a:pPr>
            <a:r>
              <a:rPr lang="en-US" sz="1200" dirty="0">
                <a:solidFill>
                  <a:srgbClr val="394246"/>
                </a:solidFill>
                <a:latin typeface="Meiryo" pitchFamily="34" charset="0"/>
                <a:ea typeface="Meiryo" pitchFamily="34" charset="-122"/>
                <a:cs typeface="Meiryo" pitchFamily="34" charset="-120"/>
              </a:rPr>
              <a:t>設計書の中の図 ── 既設の資料は図が画像のまま。文字として渡せない</a:t>
            </a:r>
            <a:endParaRPr lang="en-US" sz="1200" dirty="0"/>
          </a:p>
          <a:p>
            <a:pPr marL="342900" indent="-342900">
              <a:lnSpc>
                <a:spcPts val="2000"/>
              </a:lnSpc>
              <a:spcAft>
                <a:spcPts val="500"/>
              </a:spcAft>
              <a:buSzPct val="100000"/>
              <a:buChar char="•"/>
            </a:pPr>
            <a:r>
              <a:rPr lang="en-US" sz="1200" dirty="0">
                <a:solidFill>
                  <a:srgbClr val="394246"/>
                </a:solidFill>
                <a:latin typeface="Meiryo" pitchFamily="34" charset="0"/>
                <a:ea typeface="Meiryo" pitchFamily="34" charset="-122"/>
                <a:cs typeface="Meiryo" pitchFamily="34" charset="-120"/>
              </a:rPr>
              <a:t>エラーダイアログ、スタックトレース</a:t>
            </a:r>
            <a:endParaRPr lang="en-US" sz="1200" dirty="0"/>
          </a:p>
          <a:p>
            <a:pPr marL="342900" indent="-342900">
              <a:lnSpc>
                <a:spcPts val="2000"/>
              </a:lnSpc>
              <a:spcAft>
                <a:spcPts val="500"/>
              </a:spcAft>
              <a:buSzPct val="100000"/>
              <a:buChar char="•"/>
            </a:pPr>
            <a:r>
              <a:rPr lang="en-US" sz="1200" dirty="0">
                <a:solidFill>
                  <a:srgbClr val="394246"/>
                </a:solidFill>
                <a:latin typeface="Meiryo" pitchFamily="34" charset="0"/>
                <a:ea typeface="Meiryo" pitchFamily="34" charset="-122"/>
                <a:cs typeface="Meiryo" pitchFamily="34" charset="-120"/>
              </a:rPr>
              <a:t>既存画面のレイアウト（項目名を読み取らせる）</a:t>
            </a:r>
            <a:endParaRPr lang="en-US" sz="1200" dirty="0"/>
          </a:p>
          <a:p>
            <a:pPr marL="342900" indent="-342900">
              <a:lnSpc>
                <a:spcPts val="2000"/>
              </a:lnSpc>
              <a:spcAft>
                <a:spcPts val="500"/>
              </a:spcAft>
              <a:buSzPct val="100000"/>
              <a:buChar char="•"/>
            </a:pPr>
            <a:r>
              <a:rPr lang="en-US" sz="1200" dirty="0">
                <a:solidFill>
                  <a:srgbClr val="394246"/>
                </a:solidFill>
                <a:latin typeface="Meiryo" pitchFamily="34" charset="0"/>
                <a:ea typeface="Meiryo" pitchFamily="34" charset="-122"/>
                <a:cs typeface="Meiryo" pitchFamily="34" charset="-120"/>
              </a:rPr>
              <a:t>帳票の見本、グラフや表</a:t>
            </a:r>
            <a:endParaRPr lang="en-US" sz="1200" dirty="0"/>
          </a:p>
        </p:txBody>
      </p:sp>
      <p:sp>
        <p:nvSpPr>
          <p:cNvPr id="12" name="Text 9"/>
          <p:cNvSpPr txBox="1"/>
          <p:nvPr/>
        </p:nvSpPr>
        <p:spPr>
          <a:xfrm>
            <a:off x="6537960" y="3099816"/>
            <a:ext cx="5084064" cy="274320"/>
          </a:xfrm>
          <a:prstGeom prst="rect">
            <a:avLst/>
          </a:prstGeom>
          <a:noFill/>
          <a:ln/>
        </p:spPr>
        <p:txBody>
          <a:bodyPr wrap="square" lIns="0" tIns="0" rIns="0" bIns="0" rtlCol="0" anchor="ctr"/>
          <a:lstStyle/>
          <a:p>
            <a:pPr indent="0" marL="0">
              <a:buNone/>
            </a:pPr>
            <a:r>
              <a:rPr lang="en-US" sz="1300" b="1" dirty="0">
                <a:solidFill>
                  <a:srgbClr val="171A1C"/>
                </a:solidFill>
                <a:latin typeface="Meiryo" pitchFamily="34" charset="0"/>
                <a:ea typeface="Meiryo" pitchFamily="34" charset="-122"/>
                <a:cs typeface="Meiryo" pitchFamily="34" charset="-120"/>
              </a:rPr>
              <a:t>＋ボタンの使い分け</a:t>
            </a:r>
            <a:endParaRPr lang="en-US" sz="1300" dirty="0"/>
          </a:p>
        </p:txBody>
      </p:sp>
      <p:sp>
        <p:nvSpPr>
          <p:cNvPr id="13" name="Shape 10"/>
          <p:cNvSpPr/>
          <p:nvPr/>
        </p:nvSpPr>
        <p:spPr>
          <a:xfrm>
            <a:off x="6537960" y="3529584"/>
            <a:ext cx="5084064" cy="530352"/>
          </a:xfrm>
          <a:prstGeom prst="rect">
            <a:avLst/>
          </a:prstGeom>
          <a:solidFill>
            <a:srgbClr val="E7ECF7"/>
          </a:solidFill>
          <a:ln w="12700">
            <a:solidFill>
              <a:srgbClr val="E7ECF7"/>
            </a:solidFill>
            <a:prstDash val="solid"/>
          </a:ln>
        </p:spPr>
      </p:sp>
      <p:sp>
        <p:nvSpPr>
          <p:cNvPr id="14" name="Text 11"/>
          <p:cNvSpPr txBox="1"/>
          <p:nvPr/>
        </p:nvSpPr>
        <p:spPr>
          <a:xfrm>
            <a:off x="6739128" y="3575304"/>
            <a:ext cx="2651760" cy="219456"/>
          </a:xfrm>
          <a:prstGeom prst="rect">
            <a:avLst/>
          </a:prstGeom>
          <a:noFill/>
          <a:ln/>
        </p:spPr>
        <p:txBody>
          <a:bodyPr wrap="square" lIns="0" tIns="0" rIns="0" bIns="0" rtlCol="0" anchor="ctr"/>
          <a:lstStyle/>
          <a:p>
            <a:pPr indent="0" marL="0">
              <a:buNone/>
            </a:pPr>
            <a:r>
              <a:rPr lang="en-US" sz="1100" b="1" dirty="0">
                <a:solidFill>
                  <a:srgbClr val="27488F"/>
                </a:solidFill>
                <a:latin typeface="Meiryo" pitchFamily="34" charset="0"/>
                <a:ea typeface="Meiryo" pitchFamily="34" charset="-122"/>
                <a:cs typeface="Meiryo" pitchFamily="34" charset="-120"/>
              </a:rPr>
              <a:t>アップロード</a:t>
            </a:r>
            <a:endParaRPr lang="en-US" sz="1100" dirty="0"/>
          </a:p>
        </p:txBody>
      </p:sp>
      <p:sp>
        <p:nvSpPr>
          <p:cNvPr id="15" name="Text 12"/>
          <p:cNvSpPr txBox="1"/>
          <p:nvPr/>
        </p:nvSpPr>
        <p:spPr>
          <a:xfrm>
            <a:off x="6739128" y="3794760"/>
            <a:ext cx="4663440" cy="219456"/>
          </a:xfrm>
          <a:prstGeom prst="rect">
            <a:avLst/>
          </a:prstGeom>
          <a:noFill/>
          <a:ln/>
        </p:spPr>
        <p:txBody>
          <a:bodyPr wrap="square" lIns="0" tIns="0" rIns="0" bIns="0" rtlCol="0" anchor="ctr"/>
          <a:lstStyle/>
          <a:p>
            <a:pPr indent="0" marL="0">
              <a:buNone/>
            </a:pPr>
            <a:r>
              <a:rPr lang="en-US" sz="950" dirty="0">
                <a:solidFill>
                  <a:srgbClr val="27488F"/>
                </a:solidFill>
                <a:latin typeface="Meiryo" pitchFamily="34" charset="0"/>
                <a:ea typeface="Meiryo" pitchFamily="34" charset="-122"/>
                <a:cs typeface="Meiryo" pitchFamily="34" charset="-120"/>
              </a:rPr>
              <a:t>発散の入口。まとめた文書はここから</a:t>
            </a:r>
            <a:endParaRPr lang="en-US" sz="950" dirty="0"/>
          </a:p>
        </p:txBody>
      </p:sp>
      <p:sp>
        <p:nvSpPr>
          <p:cNvPr id="16" name="Shape 13"/>
          <p:cNvSpPr/>
          <p:nvPr/>
        </p:nvSpPr>
        <p:spPr>
          <a:xfrm>
            <a:off x="6537960" y="4133088"/>
            <a:ext cx="5084064" cy="530352"/>
          </a:xfrm>
          <a:prstGeom prst="rect">
            <a:avLst/>
          </a:prstGeom>
          <a:solidFill>
            <a:srgbClr val="E7ECF7"/>
          </a:solidFill>
          <a:ln w="12700">
            <a:solidFill>
              <a:srgbClr val="E7ECF7"/>
            </a:solidFill>
            <a:prstDash val="solid"/>
          </a:ln>
        </p:spPr>
      </p:sp>
      <p:sp>
        <p:nvSpPr>
          <p:cNvPr id="17" name="Text 14"/>
          <p:cNvSpPr txBox="1"/>
          <p:nvPr/>
        </p:nvSpPr>
        <p:spPr>
          <a:xfrm>
            <a:off x="6739128" y="4178808"/>
            <a:ext cx="2651760" cy="219456"/>
          </a:xfrm>
          <a:prstGeom prst="rect">
            <a:avLst/>
          </a:prstGeom>
          <a:noFill/>
          <a:ln/>
        </p:spPr>
        <p:txBody>
          <a:bodyPr wrap="square" lIns="0" tIns="0" rIns="0" bIns="0" rtlCol="0" anchor="ctr"/>
          <a:lstStyle/>
          <a:p>
            <a:pPr indent="0" marL="0">
              <a:buNone/>
            </a:pPr>
            <a:r>
              <a:rPr lang="en-US" sz="1100" b="1" dirty="0">
                <a:solidFill>
                  <a:srgbClr val="27488F"/>
                </a:solidFill>
                <a:latin typeface="Meiryo" pitchFamily="34" charset="0"/>
                <a:ea typeface="Meiryo" pitchFamily="34" charset="-122"/>
                <a:cs typeface="Meiryo" pitchFamily="34" charset="-120"/>
              </a:rPr>
              <a:t>スクリーンショットを撮る</a:t>
            </a:r>
            <a:endParaRPr lang="en-US" sz="1100" dirty="0"/>
          </a:p>
        </p:txBody>
      </p:sp>
      <p:sp>
        <p:nvSpPr>
          <p:cNvPr id="18" name="Text 15"/>
          <p:cNvSpPr txBox="1"/>
          <p:nvPr/>
        </p:nvSpPr>
        <p:spPr>
          <a:xfrm>
            <a:off x="6739128" y="4398264"/>
            <a:ext cx="4663440" cy="219456"/>
          </a:xfrm>
          <a:prstGeom prst="rect">
            <a:avLst/>
          </a:prstGeom>
          <a:noFill/>
          <a:ln/>
        </p:spPr>
        <p:txBody>
          <a:bodyPr wrap="square" lIns="0" tIns="0" rIns="0" bIns="0" rtlCol="0" anchor="ctr"/>
          <a:lstStyle/>
          <a:p>
            <a:pPr indent="0" marL="0">
              <a:buNone/>
            </a:pPr>
            <a:r>
              <a:rPr lang="en-US" sz="950" dirty="0">
                <a:solidFill>
                  <a:srgbClr val="27488F"/>
                </a:solidFill>
                <a:latin typeface="Meiryo" pitchFamily="34" charset="0"/>
                <a:ea typeface="Meiryo" pitchFamily="34" charset="-122"/>
                <a:cs typeface="Meiryo" pitchFamily="34" charset="-120"/>
              </a:rPr>
              <a:t>画面・図・帳票を見せる</a:t>
            </a:r>
            <a:endParaRPr lang="en-US" sz="950" dirty="0"/>
          </a:p>
        </p:txBody>
      </p:sp>
      <p:sp>
        <p:nvSpPr>
          <p:cNvPr id="19" name="Shape 16"/>
          <p:cNvSpPr/>
          <p:nvPr/>
        </p:nvSpPr>
        <p:spPr>
          <a:xfrm>
            <a:off x="6537960" y="4736592"/>
            <a:ext cx="5084064" cy="530352"/>
          </a:xfrm>
          <a:prstGeom prst="rect">
            <a:avLst/>
          </a:prstGeom>
          <a:solidFill>
            <a:srgbClr val="E7ECF7"/>
          </a:solidFill>
          <a:ln w="12700">
            <a:solidFill>
              <a:srgbClr val="E7ECF7"/>
            </a:solidFill>
            <a:prstDash val="solid"/>
          </a:ln>
        </p:spPr>
      </p:sp>
      <p:sp>
        <p:nvSpPr>
          <p:cNvPr id="20" name="Text 17"/>
          <p:cNvSpPr txBox="1"/>
          <p:nvPr/>
        </p:nvSpPr>
        <p:spPr>
          <a:xfrm>
            <a:off x="6739128" y="4782312"/>
            <a:ext cx="2651760" cy="219456"/>
          </a:xfrm>
          <a:prstGeom prst="rect">
            <a:avLst/>
          </a:prstGeom>
          <a:noFill/>
          <a:ln/>
        </p:spPr>
        <p:txBody>
          <a:bodyPr wrap="square" lIns="0" tIns="0" rIns="0" bIns="0" rtlCol="0" anchor="ctr"/>
          <a:lstStyle/>
          <a:p>
            <a:pPr indent="0" marL="0">
              <a:buNone/>
            </a:pPr>
            <a:r>
              <a:rPr lang="en-US" sz="1100" b="1" dirty="0">
                <a:solidFill>
                  <a:srgbClr val="27488F"/>
                </a:solidFill>
                <a:latin typeface="Meiryo" pitchFamily="34" charset="0"/>
                <a:ea typeface="Meiryo" pitchFamily="34" charset="-122"/>
                <a:cs typeface="Meiryo" pitchFamily="34" charset="-120"/>
              </a:rPr>
              <a:t>ページまたはコードを下書きする</a:t>
            </a:r>
            <a:endParaRPr lang="en-US" sz="1100" dirty="0"/>
          </a:p>
        </p:txBody>
      </p:sp>
      <p:sp>
        <p:nvSpPr>
          <p:cNvPr id="21" name="Text 18"/>
          <p:cNvSpPr txBox="1"/>
          <p:nvPr/>
        </p:nvSpPr>
        <p:spPr>
          <a:xfrm>
            <a:off x="6739128" y="5001768"/>
            <a:ext cx="4663440" cy="219456"/>
          </a:xfrm>
          <a:prstGeom prst="rect">
            <a:avLst/>
          </a:prstGeom>
          <a:noFill/>
          <a:ln/>
        </p:spPr>
        <p:txBody>
          <a:bodyPr wrap="square" lIns="0" tIns="0" rIns="0" bIns="0" rtlCol="0" anchor="ctr"/>
          <a:lstStyle/>
          <a:p>
            <a:pPr indent="0" marL="0">
              <a:buNone/>
            </a:pPr>
            <a:r>
              <a:rPr lang="en-US" sz="950" dirty="0">
                <a:solidFill>
                  <a:srgbClr val="27488F"/>
                </a:solidFill>
                <a:latin typeface="Meiryo" pitchFamily="34" charset="0"/>
                <a:ea typeface="Meiryo" pitchFamily="34" charset="-122"/>
                <a:cs typeface="Meiryo" pitchFamily="34" charset="-120"/>
              </a:rPr>
              <a:t>結論を図やコードで出す</a:t>
            </a:r>
            <a:endParaRPr lang="en-US" sz="950" dirty="0"/>
          </a:p>
        </p:txBody>
      </p:sp>
      <p:sp>
        <p:nvSpPr>
          <p:cNvPr id="22" name="Shape 19"/>
          <p:cNvSpPr/>
          <p:nvPr/>
        </p:nvSpPr>
        <p:spPr>
          <a:xfrm>
            <a:off x="6537960" y="5340096"/>
            <a:ext cx="5084064" cy="530352"/>
          </a:xfrm>
          <a:prstGeom prst="rect">
            <a:avLst/>
          </a:prstGeom>
          <a:solidFill>
            <a:srgbClr val="F2F4F3"/>
          </a:solidFill>
          <a:ln w="12700">
            <a:solidFill>
              <a:srgbClr val="F2F4F3"/>
            </a:solidFill>
            <a:prstDash val="solid"/>
          </a:ln>
        </p:spPr>
      </p:sp>
      <p:sp>
        <p:nvSpPr>
          <p:cNvPr id="23" name="Text 20"/>
          <p:cNvSpPr txBox="1"/>
          <p:nvPr/>
        </p:nvSpPr>
        <p:spPr>
          <a:xfrm>
            <a:off x="6739128" y="5385816"/>
            <a:ext cx="2651760" cy="219456"/>
          </a:xfrm>
          <a:prstGeom prst="rect">
            <a:avLst/>
          </a:prstGeom>
          <a:noFill/>
          <a:ln/>
        </p:spPr>
        <p:txBody>
          <a:bodyPr wrap="square" lIns="0" tIns="0" rIns="0" bIns="0" rtlCol="0" anchor="ctr"/>
          <a:lstStyle/>
          <a:p>
            <a:pPr indent="0" marL="0">
              <a:buNone/>
            </a:pPr>
            <a:r>
              <a:rPr lang="en-US" sz="1100" b="1" dirty="0">
                <a:solidFill>
                  <a:srgbClr val="626D72"/>
                </a:solidFill>
                <a:latin typeface="Meiryo" pitchFamily="34" charset="0"/>
                <a:ea typeface="Meiryo" pitchFamily="34" charset="-122"/>
                <a:cs typeface="Meiryo" pitchFamily="34" charset="-120"/>
              </a:rPr>
              <a:t>画像を生成する</a:t>
            </a:r>
            <a:endParaRPr lang="en-US" sz="1100" dirty="0"/>
          </a:p>
        </p:txBody>
      </p:sp>
      <p:sp>
        <p:nvSpPr>
          <p:cNvPr id="24" name="Text 21"/>
          <p:cNvSpPr txBox="1"/>
          <p:nvPr/>
        </p:nvSpPr>
        <p:spPr>
          <a:xfrm>
            <a:off x="6739128" y="5605272"/>
            <a:ext cx="4663440" cy="219456"/>
          </a:xfrm>
          <a:prstGeom prst="rect">
            <a:avLst/>
          </a:prstGeom>
          <a:noFill/>
          <a:ln/>
        </p:spPr>
        <p:txBody>
          <a:bodyPr wrap="square" lIns="0" tIns="0" rIns="0" bIns="0" rtlCol="0" anchor="ctr"/>
          <a:lstStyle/>
          <a:p>
            <a:pPr indent="0" marL="0">
              <a:buNone/>
            </a:pPr>
            <a:r>
              <a:rPr lang="en-US" sz="950" dirty="0">
                <a:solidFill>
                  <a:srgbClr val="626D72"/>
                </a:solidFill>
                <a:latin typeface="Meiryo" pitchFamily="34" charset="0"/>
                <a:ea typeface="Meiryo" pitchFamily="34" charset="-122"/>
                <a:cs typeface="Meiryo" pitchFamily="34" charset="-120"/>
              </a:rPr>
              <a:t>写真・イラスト向け。調査では使わない</a:t>
            </a:r>
            <a:endParaRPr lang="en-US" sz="950" dirty="0"/>
          </a:p>
        </p:txBody>
      </p:sp>
      <p:sp>
        <p:nvSpPr>
          <p:cNvPr id="25" name="Shape 22"/>
          <p:cNvSpPr/>
          <p:nvPr/>
        </p:nvSpPr>
        <p:spPr>
          <a:xfrm>
            <a:off x="6537960" y="5943600"/>
            <a:ext cx="5084064" cy="530352"/>
          </a:xfrm>
          <a:prstGeom prst="rect">
            <a:avLst/>
          </a:prstGeom>
          <a:solidFill>
            <a:srgbClr val="F2F4F3"/>
          </a:solidFill>
          <a:ln w="12700">
            <a:solidFill>
              <a:srgbClr val="F2F4F3"/>
            </a:solidFill>
            <a:prstDash val="solid"/>
          </a:ln>
        </p:spPr>
      </p:sp>
      <p:sp>
        <p:nvSpPr>
          <p:cNvPr id="26" name="Text 23"/>
          <p:cNvSpPr txBox="1"/>
          <p:nvPr/>
        </p:nvSpPr>
        <p:spPr>
          <a:xfrm>
            <a:off x="6739128" y="5989320"/>
            <a:ext cx="2651760" cy="219456"/>
          </a:xfrm>
          <a:prstGeom prst="rect">
            <a:avLst/>
          </a:prstGeom>
          <a:noFill/>
          <a:ln/>
        </p:spPr>
        <p:txBody>
          <a:bodyPr wrap="square" lIns="0" tIns="0" rIns="0" bIns="0" rtlCol="0" anchor="ctr"/>
          <a:lstStyle/>
          <a:p>
            <a:pPr indent="0" marL="0">
              <a:buNone/>
            </a:pPr>
            <a:r>
              <a:rPr lang="en-US" sz="1100" b="1" dirty="0">
                <a:solidFill>
                  <a:srgbClr val="626D72"/>
                </a:solidFill>
                <a:latin typeface="Meiryo" pitchFamily="34" charset="0"/>
                <a:ea typeface="Meiryo" pitchFamily="34" charset="-122"/>
                <a:cs typeface="Meiryo" pitchFamily="34" charset="-120"/>
              </a:rPr>
              <a:t>すべてのエージェント</a:t>
            </a:r>
            <a:endParaRPr lang="en-US" sz="1100" dirty="0"/>
          </a:p>
        </p:txBody>
      </p:sp>
      <p:sp>
        <p:nvSpPr>
          <p:cNvPr id="27" name="Text 24"/>
          <p:cNvSpPr txBox="1"/>
          <p:nvPr/>
        </p:nvSpPr>
        <p:spPr>
          <a:xfrm>
            <a:off x="6739128" y="6208776"/>
            <a:ext cx="4663440" cy="219456"/>
          </a:xfrm>
          <a:prstGeom prst="rect">
            <a:avLst/>
          </a:prstGeom>
          <a:noFill/>
          <a:ln/>
        </p:spPr>
        <p:txBody>
          <a:bodyPr wrap="square" lIns="0" tIns="0" rIns="0" bIns="0" rtlCol="0" anchor="ctr"/>
          <a:lstStyle/>
          <a:p>
            <a:pPr indent="0" marL="0">
              <a:buNone/>
            </a:pPr>
            <a:r>
              <a:rPr lang="en-US" sz="950" dirty="0">
                <a:solidFill>
                  <a:srgbClr val="626D72"/>
                </a:solidFill>
                <a:latin typeface="Meiryo" pitchFamily="34" charset="0"/>
                <a:ea typeface="Meiryo" pitchFamily="34" charset="-122"/>
                <a:cs typeface="Meiryo" pitchFamily="34" charset="-120"/>
              </a:rPr>
              <a:t>今回は触れない</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12 ／ コツ その2</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条件は、並べずに組み立てる</a:t>
            </a:r>
            <a:endParaRPr lang="en-US" sz="3000" dirty="0"/>
          </a:p>
        </p:txBody>
      </p:sp>
      <p:sp>
        <p:nvSpPr>
          <p:cNvPr id="6" name="Text 3"/>
          <p:cNvSpPr txBox="1"/>
          <p:nvPr/>
        </p:nvSpPr>
        <p:spPr>
          <a:xfrm>
            <a:off x="566928" y="1481328"/>
            <a:ext cx="11064240" cy="54864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長い一文に条件を書き連ねれば、指示が一直線に並び、どれが対象条件でどれが出力条件かの区別が消える。後ろに書いた条件ほど効かない。見出しと箇条書きで組み立てれば、軸ごとに独立して効く。</a:t>
            </a:r>
            <a:endParaRPr lang="en-US" sz="1350" dirty="0"/>
          </a:p>
        </p:txBody>
      </p:sp>
      <p:sp>
        <p:nvSpPr>
          <p:cNvPr id="7" name="Shape 4"/>
          <p:cNvSpPr/>
          <p:nvPr/>
        </p:nvSpPr>
        <p:spPr>
          <a:xfrm>
            <a:off x="566928" y="2231136"/>
            <a:ext cx="5431536" cy="2395728"/>
          </a:xfrm>
          <a:prstGeom prst="roundRect">
            <a:avLst>
              <a:gd name="adj" fmla="val 1908"/>
            </a:avLst>
          </a:prstGeom>
          <a:solidFill>
            <a:srgbClr val="F7E6E1"/>
          </a:solidFill>
          <a:ln w="12700">
            <a:solidFill>
              <a:srgbClr val="F7E6E1"/>
            </a:solidFill>
            <a:prstDash val="solid"/>
          </a:ln>
        </p:spPr>
      </p:sp>
      <p:sp>
        <p:nvSpPr>
          <p:cNvPr id="8" name="Shape 5"/>
          <p:cNvSpPr/>
          <p:nvPr/>
        </p:nvSpPr>
        <p:spPr>
          <a:xfrm>
            <a:off x="804672" y="2395728"/>
            <a:ext cx="1051560" cy="246888"/>
          </a:xfrm>
          <a:prstGeom prst="roundRect">
            <a:avLst>
              <a:gd name="adj" fmla="val 14815"/>
            </a:avLst>
          </a:prstGeom>
          <a:solidFill>
            <a:srgbClr val="A3351D"/>
          </a:solidFill>
          <a:ln w="12700">
            <a:solidFill>
              <a:srgbClr val="A3351D"/>
            </a:solidFill>
            <a:prstDash val="solid"/>
          </a:ln>
        </p:spPr>
      </p:sp>
      <p:sp>
        <p:nvSpPr>
          <p:cNvPr id="9" name="Text 6"/>
          <p:cNvSpPr txBox="1"/>
          <p:nvPr/>
        </p:nvSpPr>
        <p:spPr>
          <a:xfrm>
            <a:off x="804672" y="2395728"/>
            <a:ext cx="105156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効きにくい</a:t>
            </a:r>
            <a:endParaRPr lang="en-US" sz="1000" dirty="0"/>
          </a:p>
        </p:txBody>
      </p:sp>
      <p:sp>
        <p:nvSpPr>
          <p:cNvPr id="10" name="Text 7"/>
          <p:cNvSpPr txBox="1"/>
          <p:nvPr/>
        </p:nvSpPr>
        <p:spPr>
          <a:xfrm>
            <a:off x="1947672" y="2377440"/>
            <a:ext cx="3840480" cy="274320"/>
          </a:xfrm>
          <a:prstGeom prst="rect">
            <a:avLst/>
          </a:prstGeom>
          <a:noFill/>
          <a:ln/>
        </p:spPr>
        <p:txBody>
          <a:bodyPr wrap="square" lIns="0" tIns="0" rIns="0" bIns="0" rtlCol="0" anchor="ctr"/>
          <a:lstStyle/>
          <a:p>
            <a:pPr indent="0" marL="0">
              <a:buNone/>
            </a:pPr>
            <a:r>
              <a:rPr lang="en-US" sz="1250" b="1" dirty="0">
                <a:solidFill>
                  <a:srgbClr val="171A1C"/>
                </a:solidFill>
                <a:latin typeface="Meiryo" pitchFamily="34" charset="0"/>
                <a:ea typeface="Meiryo" pitchFamily="34" charset="-122"/>
                <a:cs typeface="Meiryo" pitchFamily="34" charset="-120"/>
              </a:rPr>
              <a:t>条件を直列に並べる</a:t>
            </a:r>
            <a:endParaRPr lang="en-US" sz="1250" dirty="0"/>
          </a:p>
        </p:txBody>
      </p:sp>
      <p:sp>
        <p:nvSpPr>
          <p:cNvPr id="11" name="Shape 8"/>
          <p:cNvSpPr/>
          <p:nvPr/>
        </p:nvSpPr>
        <p:spPr>
          <a:xfrm>
            <a:off x="804672" y="2798064"/>
            <a:ext cx="4956048" cy="1133856"/>
          </a:xfrm>
          <a:prstGeom prst="rect">
            <a:avLst/>
          </a:prstGeom>
          <a:solidFill>
            <a:srgbClr val="FFFFFF"/>
          </a:solidFill>
          <a:ln w="12700">
            <a:solidFill>
              <a:srgbClr val="FFFFFF"/>
            </a:solidFill>
            <a:prstDash val="solid"/>
          </a:ln>
        </p:spPr>
      </p:sp>
      <p:sp>
        <p:nvSpPr>
          <p:cNvPr id="12" name="Text 9"/>
          <p:cNvSpPr txBox="1"/>
          <p:nvPr/>
        </p:nvSpPr>
        <p:spPr>
          <a:xfrm>
            <a:off x="969264" y="2889504"/>
            <a:ext cx="4626864" cy="969264"/>
          </a:xfrm>
          <a:prstGeom prst="rect">
            <a:avLst/>
          </a:prstGeom>
          <a:noFill/>
          <a:ln/>
        </p:spPr>
        <p:txBody>
          <a:bodyPr wrap="square" lIns="0" tIns="0" rIns="0" bIns="0" rtlCol="0" anchor="t"/>
          <a:lstStyle/>
          <a:p>
            <a:pPr indent="0" marL="0">
              <a:lnSpc>
                <a:spcPts val="1500"/>
              </a:lnSpc>
              <a:buNone/>
            </a:pPr>
            <a:r>
              <a:rPr lang="en-US" sz="1000" dirty="0">
                <a:solidFill>
                  <a:srgbClr val="394246"/>
                </a:solidFill>
                <a:latin typeface="Meiryo" pitchFamily="34" charset="0"/>
                <a:ea typeface="Meiryo" pitchFamily="34" charset="-122"/>
                <a:cs typeface="Meiryo" pitchFamily="34" charset="-120"/>
              </a:rPr>
              <a:t>締め処理を調べたいんだけど、対象は 2020年以降に追加されたモジュールだけで、テストコードは除いて、あと金額計算に関わるところを優先して、結果はファイル名と行番号つきで、5件くらいで、確信度も書いて</a:t>
            </a:r>
            <a:endParaRPr lang="en-US" sz="1000" dirty="0"/>
          </a:p>
        </p:txBody>
      </p:sp>
      <p:sp>
        <p:nvSpPr>
          <p:cNvPr id="13" name="Text 10"/>
          <p:cNvSpPr txBox="1"/>
          <p:nvPr/>
        </p:nvSpPr>
        <p:spPr>
          <a:xfrm>
            <a:off x="804672" y="4023360"/>
            <a:ext cx="4956048" cy="457200"/>
          </a:xfrm>
          <a:prstGeom prst="rect">
            <a:avLst/>
          </a:prstGeom>
          <a:noFill/>
          <a:ln/>
        </p:spPr>
        <p:txBody>
          <a:bodyPr wrap="square" lIns="0" tIns="0" rIns="0" bIns="0" rtlCol="0" anchor="t"/>
          <a:lstStyle/>
          <a:p>
            <a:pPr indent="0" marL="0">
              <a:lnSpc>
                <a:spcPts val="1550"/>
              </a:lnSpc>
              <a:buNone/>
            </a:pPr>
            <a:r>
              <a:rPr lang="en-US" sz="1050" dirty="0">
                <a:solidFill>
                  <a:srgbClr val="394246"/>
                </a:solidFill>
                <a:latin typeface="Meiryo" pitchFamily="34" charset="0"/>
                <a:ea typeface="Meiryo" pitchFamily="34" charset="-122"/>
                <a:cs typeface="Meiryo" pitchFamily="34" charset="-120"/>
              </a:rPr>
              <a:t>全部が同じ重みの1本の線。「除いて」が対象の話なのか出力の話なのかも曖昧。</a:t>
            </a:r>
            <a:endParaRPr lang="en-US" sz="1050" dirty="0"/>
          </a:p>
        </p:txBody>
      </p:sp>
      <p:sp>
        <p:nvSpPr>
          <p:cNvPr id="14" name="Shape 11"/>
          <p:cNvSpPr/>
          <p:nvPr/>
        </p:nvSpPr>
        <p:spPr>
          <a:xfrm>
            <a:off x="6537960" y="2231136"/>
            <a:ext cx="5084064" cy="2395728"/>
          </a:xfrm>
          <a:prstGeom prst="roundRect">
            <a:avLst>
              <a:gd name="adj" fmla="val 1908"/>
            </a:avLst>
          </a:prstGeom>
          <a:solidFill>
            <a:srgbClr val="E2EFEA"/>
          </a:solidFill>
          <a:ln w="12700">
            <a:solidFill>
              <a:srgbClr val="E2EFEA"/>
            </a:solidFill>
            <a:prstDash val="solid"/>
          </a:ln>
        </p:spPr>
      </p:sp>
      <p:sp>
        <p:nvSpPr>
          <p:cNvPr id="15" name="Shape 12"/>
          <p:cNvSpPr/>
          <p:nvPr/>
        </p:nvSpPr>
        <p:spPr>
          <a:xfrm>
            <a:off x="6775704" y="2395728"/>
            <a:ext cx="713232" cy="246888"/>
          </a:xfrm>
          <a:prstGeom prst="roundRect">
            <a:avLst>
              <a:gd name="adj" fmla="val 14815"/>
            </a:avLst>
          </a:prstGeom>
          <a:solidFill>
            <a:srgbClr val="1C6E52"/>
          </a:solidFill>
          <a:ln w="12700">
            <a:solidFill>
              <a:srgbClr val="1C6E52"/>
            </a:solidFill>
            <a:prstDash val="solid"/>
          </a:ln>
        </p:spPr>
      </p:sp>
      <p:sp>
        <p:nvSpPr>
          <p:cNvPr id="16" name="Text 13"/>
          <p:cNvSpPr txBox="1"/>
          <p:nvPr/>
        </p:nvSpPr>
        <p:spPr>
          <a:xfrm>
            <a:off x="6775704" y="2395728"/>
            <a:ext cx="713232"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効く</a:t>
            </a:r>
            <a:endParaRPr lang="en-US" sz="1000" dirty="0"/>
          </a:p>
        </p:txBody>
      </p:sp>
      <p:sp>
        <p:nvSpPr>
          <p:cNvPr id="17" name="Text 14"/>
          <p:cNvSpPr txBox="1"/>
          <p:nvPr/>
        </p:nvSpPr>
        <p:spPr>
          <a:xfrm>
            <a:off x="7580376" y="2377440"/>
            <a:ext cx="3840480" cy="274320"/>
          </a:xfrm>
          <a:prstGeom prst="rect">
            <a:avLst/>
          </a:prstGeom>
          <a:noFill/>
          <a:ln/>
        </p:spPr>
        <p:txBody>
          <a:bodyPr wrap="square" lIns="0" tIns="0" rIns="0" bIns="0" rtlCol="0" anchor="ctr"/>
          <a:lstStyle/>
          <a:p>
            <a:pPr indent="0" marL="0">
              <a:buNone/>
            </a:pPr>
            <a:r>
              <a:rPr lang="en-US" sz="1250" b="1" dirty="0">
                <a:solidFill>
                  <a:srgbClr val="171A1C"/>
                </a:solidFill>
                <a:latin typeface="Meiryo" pitchFamily="34" charset="0"/>
                <a:ea typeface="Meiryo" pitchFamily="34" charset="-122"/>
                <a:cs typeface="Meiryo" pitchFamily="34" charset="-120"/>
              </a:rPr>
              <a:t>軸ごとに分けて組み立てる</a:t>
            </a:r>
            <a:endParaRPr lang="en-US" sz="1250" dirty="0"/>
          </a:p>
        </p:txBody>
      </p:sp>
      <p:sp>
        <p:nvSpPr>
          <p:cNvPr id="18" name="Shape 15"/>
          <p:cNvSpPr/>
          <p:nvPr/>
        </p:nvSpPr>
        <p:spPr>
          <a:xfrm>
            <a:off x="6775704" y="2798064"/>
            <a:ext cx="4608576" cy="1682496"/>
          </a:xfrm>
          <a:prstGeom prst="rect">
            <a:avLst/>
          </a:prstGeom>
          <a:solidFill>
            <a:srgbClr val="FFFFFF"/>
          </a:solidFill>
          <a:ln w="12700">
            <a:solidFill>
              <a:srgbClr val="FFFFFF"/>
            </a:solidFill>
            <a:prstDash val="solid"/>
          </a:ln>
        </p:spPr>
      </p:sp>
      <p:sp>
        <p:nvSpPr>
          <p:cNvPr id="19" name="Text 16"/>
          <p:cNvSpPr txBox="1"/>
          <p:nvPr/>
        </p:nvSpPr>
        <p:spPr>
          <a:xfrm>
            <a:off x="6940296" y="2852928"/>
            <a:ext cx="4279392" cy="1591056"/>
          </a:xfrm>
          <a:prstGeom prst="rect">
            <a:avLst/>
          </a:prstGeom>
          <a:noFill/>
          <a:ln/>
        </p:spPr>
        <p:txBody>
          <a:bodyPr wrap="square" lIns="0" tIns="0" rIns="0" bIns="0" rtlCol="0" anchor="t"/>
          <a:lstStyle/>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目的</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締め処理で金額が確定する箇所を特定する</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対象</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含む: 2020年以降に追加されたモジュール</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除く: テストコード、自動生成コード</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優先順位</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1. 金額計算　2. 日付判定</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出力形式</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- 5件、確信度（高/中/低）つき</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各件: ファイル名 / 行番号 / 根拠</a:t>
            </a:r>
            <a:endParaRPr lang="en-US" sz="850" dirty="0"/>
          </a:p>
          <a:p>
            <a:pPr indent="0" marL="0">
              <a:lnSpc>
                <a:spcPts val="1150"/>
              </a:lnSpc>
              <a:buNone/>
            </a:pPr>
            <a:r>
              <a:rPr lang="en-US" sz="850" dirty="0">
                <a:solidFill>
                  <a:srgbClr val="394246"/>
                </a:solidFill>
                <a:latin typeface="Courier New" pitchFamily="34" charset="0"/>
                <a:ea typeface="Courier New" pitchFamily="34" charset="-122"/>
                <a:cs typeface="Courier New" pitchFamily="34" charset="-120"/>
              </a:rPr>
              <a:t>- 該当なしは「無し」と明記</a:t>
            </a:r>
            <a:endParaRPr lang="en-US" sz="850" dirty="0"/>
          </a:p>
        </p:txBody>
      </p:sp>
      <p:sp>
        <p:nvSpPr>
          <p:cNvPr id="20" name="Shape 17"/>
          <p:cNvSpPr/>
          <p:nvPr/>
        </p:nvSpPr>
        <p:spPr>
          <a:xfrm>
            <a:off x="566928" y="4791456"/>
            <a:ext cx="11055096" cy="1645920"/>
          </a:xfrm>
          <a:prstGeom prst="roundRect">
            <a:avLst>
              <a:gd name="adj" fmla="val 2778"/>
            </a:avLst>
          </a:prstGeom>
          <a:solidFill>
            <a:srgbClr val="E7ECF7"/>
          </a:solidFill>
          <a:ln w="12700">
            <a:solidFill>
              <a:srgbClr val="E7ECF7"/>
            </a:solidFill>
            <a:prstDash val="solid"/>
          </a:ln>
        </p:spPr>
      </p:sp>
      <p:sp>
        <p:nvSpPr>
          <p:cNvPr id="21" name="Text 18"/>
          <p:cNvSpPr txBox="1"/>
          <p:nvPr/>
        </p:nvSpPr>
        <p:spPr>
          <a:xfrm>
            <a:off x="804672" y="4946904"/>
            <a:ext cx="10579608"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なぜ効くのか</a:t>
            </a:r>
            <a:endParaRPr lang="en-US" sz="1300" dirty="0"/>
          </a:p>
        </p:txBody>
      </p:sp>
      <p:sp>
        <p:nvSpPr>
          <p:cNvPr id="22" name="Text 19"/>
          <p:cNvSpPr txBox="1"/>
          <p:nvPr/>
        </p:nvSpPr>
        <p:spPr>
          <a:xfrm>
            <a:off x="896112" y="5321808"/>
            <a:ext cx="10424160" cy="1005840"/>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役割が明示される ── 見出しが「これは目的」「これは制約」「これは出力仕様」と宣言する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条件が並列だと伝わる ── 箇条書きの項目は対等。長文なら前から順に重みが落ちる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差分で回せる ── 「## 対象」の1項目だけ書き換えて再実行できる。長文なら毎回書き直し</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626D72"/>
                </a:solidFill>
                <a:latin typeface="Meiryo" pitchFamily="34" charset="0"/>
                <a:ea typeface="Meiryo" pitchFamily="34" charset="-122"/>
                <a:cs typeface="Meiryo" pitchFamily="34" charset="-120"/>
              </a:rPr>
              <a:t>13 ／ 発展</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27488F"/>
                </a:solidFill>
                <a:latin typeface="Meiryo" pitchFamily="34" charset="0"/>
                <a:ea typeface="Meiryo" pitchFamily="34" charset="-122"/>
                <a:cs typeface="Meiryo" pitchFamily="34" charset="-120"/>
              </a:rPr>
              <a:t>1分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171A1C"/>
                </a:solidFill>
                <a:latin typeface="Meiryo" pitchFamily="34" charset="0"/>
                <a:ea typeface="Meiryo" pitchFamily="34" charset="-122"/>
                <a:cs typeface="Meiryo" pitchFamily="34" charset="-120"/>
              </a:rPr>
              <a:t>動かない点を、どれだけ持てるか</a:t>
            </a:r>
            <a:endParaRPr lang="en-US" sz="3000" dirty="0"/>
          </a:p>
        </p:txBody>
      </p:sp>
      <p:sp>
        <p:nvSpPr>
          <p:cNvPr id="6" name="Text 3"/>
          <p:cNvSpPr txBox="1"/>
          <p:nvPr/>
        </p:nvSpPr>
        <p:spPr>
          <a:xfrm>
            <a:off x="566928" y="1481328"/>
            <a:ext cx="11064240" cy="457200"/>
          </a:xfrm>
          <a:prstGeom prst="rect">
            <a:avLst/>
          </a:prstGeom>
          <a:noFill/>
          <a:ln/>
        </p:spPr>
        <p:txBody>
          <a:bodyPr wrap="square" lIns="0" tIns="0" rIns="0" bIns="0" rtlCol="0" anchor="t"/>
          <a:lstStyle/>
          <a:p>
            <a:pPr indent="0" marL="0">
              <a:lnSpc>
                <a:spcPts val="2000"/>
              </a:lnSpc>
              <a:buNone/>
            </a:pPr>
            <a:r>
              <a:rPr lang="en-US" sz="1350" dirty="0">
                <a:solidFill>
                  <a:srgbClr val="394246"/>
                </a:solidFill>
                <a:latin typeface="Meiryo" pitchFamily="34" charset="0"/>
                <a:ea typeface="Meiryo" pitchFamily="34" charset="-122"/>
                <a:cs typeface="Meiryo" pitchFamily="34" charset="-120"/>
              </a:rPr>
              <a:t>精度を決めるのは、こちらが渡せるファクトの量と質。AI が一般知識として持っているものは当てにしない。一次資料を渡して足場を固める。</a:t>
            </a:r>
            <a:endParaRPr lang="en-US" sz="1350" dirty="0"/>
          </a:p>
        </p:txBody>
      </p:sp>
      <p:sp>
        <p:nvSpPr>
          <p:cNvPr id="7" name="Shape 4"/>
          <p:cNvSpPr/>
          <p:nvPr/>
        </p:nvSpPr>
        <p:spPr>
          <a:xfrm>
            <a:off x="566928" y="2103120"/>
            <a:ext cx="3566160" cy="1536192"/>
          </a:xfrm>
          <a:prstGeom prst="roundRect">
            <a:avLst>
              <a:gd name="adj" fmla="val 2976"/>
            </a:avLst>
          </a:prstGeom>
          <a:solidFill>
            <a:srgbClr val="E7ECF7"/>
          </a:solidFill>
          <a:ln w="12700">
            <a:solidFill>
              <a:srgbClr val="E7ECF7"/>
            </a:solidFill>
            <a:prstDash val="solid"/>
          </a:ln>
        </p:spPr>
      </p:sp>
      <p:sp>
        <p:nvSpPr>
          <p:cNvPr id="8" name="Text 5"/>
          <p:cNvSpPr txBox="1"/>
          <p:nvPr/>
        </p:nvSpPr>
        <p:spPr>
          <a:xfrm>
            <a:off x="804672" y="2258568"/>
            <a:ext cx="3090672"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既設調査</a:t>
            </a:r>
            <a:endParaRPr lang="en-US" sz="1300" dirty="0"/>
          </a:p>
        </p:txBody>
      </p:sp>
      <p:sp>
        <p:nvSpPr>
          <p:cNvPr id="9" name="Text 6"/>
          <p:cNvSpPr txBox="1"/>
          <p:nvPr/>
        </p:nvSpPr>
        <p:spPr>
          <a:xfrm>
            <a:off x="804672" y="2633472"/>
            <a:ext cx="3090672" cy="841248"/>
          </a:xfrm>
          <a:prstGeom prst="rect">
            <a:avLst/>
          </a:prstGeom>
          <a:noFill/>
          <a:ln/>
        </p:spPr>
        <p:txBody>
          <a:bodyPr wrap="square" lIns="0" tIns="0" rIns="0" bIns="0" rtlCol="0" anchor="t"/>
          <a:lstStyle/>
          <a:p>
            <a:pPr indent="0" marL="0">
              <a:lnSpc>
                <a:spcPts val="1650"/>
              </a:lnSpc>
              <a:buNone/>
            </a:pPr>
            <a:r>
              <a:rPr lang="en-US" sz="1100" dirty="0">
                <a:solidFill>
                  <a:srgbClr val="394246"/>
                </a:solidFill>
                <a:latin typeface="Meiryo" pitchFamily="34" charset="0"/>
                <a:ea typeface="Meiryo" pitchFamily="34" charset="-122"/>
                <a:cs typeface="Meiryo" pitchFamily="34" charset="-120"/>
              </a:rPr>
              <a:t>仕様書・設計書・運用手順書。そして自分で確かめた事実。今日ここまで話してきた内容。</a:t>
            </a:r>
            <a:endParaRPr lang="en-US" sz="1100" dirty="0"/>
          </a:p>
        </p:txBody>
      </p:sp>
      <p:sp>
        <p:nvSpPr>
          <p:cNvPr id="10" name="Shape 7"/>
          <p:cNvSpPr/>
          <p:nvPr/>
        </p:nvSpPr>
        <p:spPr>
          <a:xfrm>
            <a:off x="4315968" y="2103120"/>
            <a:ext cx="3566160" cy="1536192"/>
          </a:xfrm>
          <a:prstGeom prst="roundRect">
            <a:avLst>
              <a:gd name="adj" fmla="val 2976"/>
            </a:avLst>
          </a:prstGeom>
          <a:solidFill>
            <a:srgbClr val="E7ECF7"/>
          </a:solidFill>
          <a:ln w="12700">
            <a:solidFill>
              <a:srgbClr val="E7ECF7"/>
            </a:solidFill>
            <a:prstDash val="solid"/>
          </a:ln>
        </p:spPr>
      </p:sp>
      <p:sp>
        <p:nvSpPr>
          <p:cNvPr id="11" name="Text 8"/>
          <p:cNvSpPr txBox="1"/>
          <p:nvPr/>
        </p:nvSpPr>
        <p:spPr>
          <a:xfrm>
            <a:off x="4553712" y="2258568"/>
            <a:ext cx="3090672"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技術の確認</a:t>
            </a:r>
            <a:endParaRPr lang="en-US" sz="1300" dirty="0"/>
          </a:p>
        </p:txBody>
      </p:sp>
      <p:sp>
        <p:nvSpPr>
          <p:cNvPr id="12" name="Text 9"/>
          <p:cNvSpPr txBox="1"/>
          <p:nvPr/>
        </p:nvSpPr>
        <p:spPr>
          <a:xfrm>
            <a:off x="4553712" y="2633472"/>
            <a:ext cx="3090672" cy="841248"/>
          </a:xfrm>
          <a:prstGeom prst="rect">
            <a:avLst/>
          </a:prstGeom>
          <a:noFill/>
          <a:ln/>
        </p:spPr>
        <p:txBody>
          <a:bodyPr wrap="square" lIns="0" tIns="0" rIns="0" bIns="0" rtlCol="0" anchor="t"/>
          <a:lstStyle/>
          <a:p>
            <a:pPr indent="0" marL="0">
              <a:lnSpc>
                <a:spcPts val="1650"/>
              </a:lnSpc>
              <a:buNone/>
            </a:pPr>
            <a:r>
              <a:rPr lang="en-US" sz="1100" dirty="0">
                <a:solidFill>
                  <a:srgbClr val="394246"/>
                </a:solidFill>
                <a:latin typeface="Meiryo" pitchFamily="34" charset="0"/>
                <a:ea typeface="Meiryo" pitchFamily="34" charset="-122"/>
                <a:cs typeface="Meiryo" pitchFamily="34" charset="-120"/>
              </a:rPr>
              <a:t>ミドルウェアやフレームワークの公式ドキュメントを読み込ませる。AI が「知っている」技術の話より確実で、版数のずれもここで潰せる。</a:t>
            </a:r>
            <a:endParaRPr lang="en-US" sz="1100" dirty="0"/>
          </a:p>
        </p:txBody>
      </p:sp>
      <p:sp>
        <p:nvSpPr>
          <p:cNvPr id="13" name="Shape 10"/>
          <p:cNvSpPr/>
          <p:nvPr/>
        </p:nvSpPr>
        <p:spPr>
          <a:xfrm>
            <a:off x="8065008" y="2103120"/>
            <a:ext cx="3566160" cy="1536192"/>
          </a:xfrm>
          <a:prstGeom prst="roundRect">
            <a:avLst>
              <a:gd name="adj" fmla="val 2976"/>
            </a:avLst>
          </a:prstGeom>
          <a:solidFill>
            <a:srgbClr val="E7ECF7"/>
          </a:solidFill>
          <a:ln w="12700">
            <a:solidFill>
              <a:srgbClr val="E7ECF7"/>
            </a:solidFill>
            <a:prstDash val="solid"/>
          </a:ln>
        </p:spPr>
      </p:sp>
      <p:sp>
        <p:nvSpPr>
          <p:cNvPr id="14" name="Text 11"/>
          <p:cNvSpPr txBox="1"/>
          <p:nvPr/>
        </p:nvSpPr>
        <p:spPr>
          <a:xfrm>
            <a:off x="8302752" y="2258568"/>
            <a:ext cx="3090672" cy="292608"/>
          </a:xfrm>
          <a:prstGeom prst="rect">
            <a:avLst/>
          </a:prstGeom>
          <a:noFill/>
          <a:ln/>
        </p:spPr>
        <p:txBody>
          <a:bodyPr wrap="square" lIns="0" tIns="0" rIns="0" bIns="0" rtlCol="0" anchor="t"/>
          <a:lstStyle/>
          <a:p>
            <a:pPr indent="0" marL="0">
              <a:buNone/>
            </a:pPr>
            <a:r>
              <a:rPr lang="en-US" sz="1300" b="1" dirty="0">
                <a:solidFill>
                  <a:srgbClr val="27488F"/>
                </a:solidFill>
                <a:latin typeface="Meiryo" pitchFamily="34" charset="0"/>
                <a:ea typeface="Meiryo" pitchFamily="34" charset="-122"/>
                <a:cs typeface="Meiryo" pitchFamily="34" charset="-120"/>
              </a:rPr>
              <a:t>新規開発・新技術</a:t>
            </a:r>
            <a:endParaRPr lang="en-US" sz="1300" dirty="0"/>
          </a:p>
        </p:txBody>
      </p:sp>
      <p:sp>
        <p:nvSpPr>
          <p:cNvPr id="15" name="Text 12"/>
          <p:cNvSpPr txBox="1"/>
          <p:nvPr/>
        </p:nvSpPr>
        <p:spPr>
          <a:xfrm>
            <a:off x="8302752" y="2633472"/>
            <a:ext cx="3090672" cy="841248"/>
          </a:xfrm>
          <a:prstGeom prst="rect">
            <a:avLst/>
          </a:prstGeom>
          <a:noFill/>
          <a:ln/>
        </p:spPr>
        <p:txBody>
          <a:bodyPr wrap="square" lIns="0" tIns="0" rIns="0" bIns="0" rtlCol="0" anchor="t"/>
          <a:lstStyle/>
          <a:p>
            <a:pPr indent="0" marL="0">
              <a:lnSpc>
                <a:spcPts val="1650"/>
              </a:lnSpc>
              <a:buNone/>
            </a:pPr>
            <a:r>
              <a:rPr lang="en-US" sz="1100" dirty="0">
                <a:solidFill>
                  <a:srgbClr val="394246"/>
                </a:solidFill>
                <a:latin typeface="Meiryo" pitchFamily="34" charset="0"/>
                <a:ea typeface="Meiryo" pitchFamily="34" charset="-122"/>
                <a:cs typeface="Meiryo" pitchFamily="34" charset="-120"/>
              </a:rPr>
              <a:t>出版社が品質を担保した書籍を立脚点にする。電子書籍なら渡せる。動かない点を先に作ってから設計に入る。</a:t>
            </a:r>
            <a:endParaRPr lang="en-US" sz="1100" dirty="0"/>
          </a:p>
        </p:txBody>
      </p:sp>
      <p:sp>
        <p:nvSpPr>
          <p:cNvPr id="16" name="Shape 13"/>
          <p:cNvSpPr/>
          <p:nvPr/>
        </p:nvSpPr>
        <p:spPr>
          <a:xfrm>
            <a:off x="566928" y="3895344"/>
            <a:ext cx="6035040" cy="2542032"/>
          </a:xfrm>
          <a:prstGeom prst="roundRect">
            <a:avLst>
              <a:gd name="adj" fmla="val 1799"/>
            </a:avLst>
          </a:prstGeom>
          <a:solidFill>
            <a:srgbClr val="F2F4F3"/>
          </a:solidFill>
          <a:ln w="12700">
            <a:solidFill>
              <a:srgbClr val="F2F4F3"/>
            </a:solidFill>
            <a:prstDash val="solid"/>
          </a:ln>
        </p:spPr>
      </p:sp>
      <p:sp>
        <p:nvSpPr>
          <p:cNvPr id="17" name="Text 14"/>
          <p:cNvSpPr txBox="1"/>
          <p:nvPr/>
        </p:nvSpPr>
        <p:spPr>
          <a:xfrm>
            <a:off x="804672" y="4050792"/>
            <a:ext cx="5559552" cy="292608"/>
          </a:xfrm>
          <a:prstGeom prst="rect">
            <a:avLst/>
          </a:prstGeom>
          <a:noFill/>
          <a:ln/>
        </p:spPr>
        <p:txBody>
          <a:bodyPr wrap="square" lIns="0" tIns="0" rIns="0" bIns="0" rtlCol="0" anchor="t"/>
          <a:lstStyle/>
          <a:p>
            <a:pPr indent="0" marL="0">
              <a:buNone/>
            </a:pPr>
            <a:r>
              <a:rPr lang="en-US" sz="1300" b="1" dirty="0">
                <a:solidFill>
                  <a:srgbClr val="171A1C"/>
                </a:solidFill>
                <a:latin typeface="Meiryo" pitchFamily="34" charset="0"/>
                <a:ea typeface="Meiryo" pitchFamily="34" charset="-122"/>
                <a:cs typeface="Meiryo" pitchFamily="34" charset="-120"/>
              </a:rPr>
              <a:t>社内ドキュメントの価値が上がる</a:t>
            </a:r>
            <a:endParaRPr lang="en-US" sz="1300" dirty="0"/>
          </a:p>
        </p:txBody>
      </p:sp>
      <p:sp>
        <p:nvSpPr>
          <p:cNvPr id="18" name="Text 15"/>
          <p:cNvSpPr txBox="1"/>
          <p:nvPr/>
        </p:nvSpPr>
        <p:spPr>
          <a:xfrm>
            <a:off x="896112" y="4443984"/>
            <a:ext cx="5376672" cy="1883664"/>
          </a:xfrm>
          <a:prstGeom prst="rect">
            <a:avLst/>
          </a:prstGeom>
          <a:noFill/>
          <a:ln/>
        </p:spPr>
        <p:txBody>
          <a:bodyPr wrap="square" lIns="0" tIns="0" rIns="0" bIns="0" rtlCol="0" anchor="t"/>
          <a:lstStyle/>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AI が読める形を意識して書く ── 見出しで階層を作る、用語を統一する、箇条書きで並列を示す</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いつ・誰が・何を指摘したかの痕跡が残った文書は、それ自体が材料になる</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判断の経緯は、結論だけ書かれた文書からは復元できない</a:t>
            </a:r>
            <a:endParaRPr lang="en-US" sz="1100" dirty="0"/>
          </a:p>
          <a:p>
            <a:pPr marL="342900" indent="-342900">
              <a:lnSpc>
                <a:spcPts val="1650"/>
              </a:lnSpc>
              <a:spcAft>
                <a:spcPts val="500"/>
              </a:spcAft>
              <a:buSzPct val="100000"/>
              <a:buChar char="•"/>
            </a:pPr>
            <a:r>
              <a:rPr lang="en-US" sz="1100" dirty="0">
                <a:solidFill>
                  <a:srgbClr val="394246"/>
                </a:solidFill>
                <a:latin typeface="Meiryo" pitchFamily="34" charset="0"/>
                <a:ea typeface="Meiryo" pitchFamily="34" charset="-122"/>
                <a:cs typeface="Meiryo" pitchFamily="34" charset="-120"/>
              </a:rPr>
              <a:t>きれいにまとめ直した文書より、経緯が残った文書のほうが調査に効く場面がある</a:t>
            </a:r>
            <a:endParaRPr lang="en-US" sz="1100" dirty="0"/>
          </a:p>
        </p:txBody>
      </p:sp>
      <p:sp>
        <p:nvSpPr>
          <p:cNvPr id="19" name="Shape 16"/>
          <p:cNvSpPr/>
          <p:nvPr/>
        </p:nvSpPr>
        <p:spPr>
          <a:xfrm>
            <a:off x="6867144" y="3895344"/>
            <a:ext cx="4754880" cy="2542032"/>
          </a:xfrm>
          <a:prstGeom prst="roundRect">
            <a:avLst>
              <a:gd name="adj" fmla="val 1799"/>
            </a:avLst>
          </a:prstGeom>
          <a:solidFill>
            <a:srgbClr val="E2EFEA"/>
          </a:solidFill>
          <a:ln w="12700">
            <a:solidFill>
              <a:srgbClr val="E2EFEA"/>
            </a:solidFill>
            <a:prstDash val="solid"/>
          </a:ln>
        </p:spPr>
      </p:sp>
      <p:sp>
        <p:nvSpPr>
          <p:cNvPr id="20" name="Text 17"/>
          <p:cNvSpPr txBox="1"/>
          <p:nvPr/>
        </p:nvSpPr>
        <p:spPr>
          <a:xfrm>
            <a:off x="7104888" y="4050792"/>
            <a:ext cx="4279392" cy="292608"/>
          </a:xfrm>
          <a:prstGeom prst="rect">
            <a:avLst/>
          </a:prstGeom>
          <a:noFill/>
          <a:ln/>
        </p:spPr>
        <p:txBody>
          <a:bodyPr wrap="square" lIns="0" tIns="0" rIns="0" bIns="0" rtlCol="0" anchor="t"/>
          <a:lstStyle/>
          <a:p>
            <a:pPr indent="0" marL="0">
              <a:buNone/>
            </a:pPr>
            <a:r>
              <a:rPr lang="en-US" sz="1300" b="1" dirty="0">
                <a:solidFill>
                  <a:srgbClr val="1C6E52"/>
                </a:solidFill>
                <a:latin typeface="Meiryo" pitchFamily="34" charset="0"/>
                <a:ea typeface="Meiryo" pitchFamily="34" charset="-122"/>
                <a:cs typeface="Meiryo" pitchFamily="34" charset="-120"/>
              </a:rPr>
              <a:t>AI を怖がる必要はない</a:t>
            </a:r>
            <a:endParaRPr lang="en-US" sz="1300" dirty="0"/>
          </a:p>
        </p:txBody>
      </p:sp>
      <p:sp>
        <p:nvSpPr>
          <p:cNvPr id="21" name="Text 18"/>
          <p:cNvSpPr txBox="1"/>
          <p:nvPr/>
        </p:nvSpPr>
        <p:spPr>
          <a:xfrm>
            <a:off x="7104888" y="4443984"/>
            <a:ext cx="4279392" cy="1883664"/>
          </a:xfrm>
          <a:prstGeom prst="rect">
            <a:avLst/>
          </a:prstGeom>
          <a:noFill/>
          <a:ln/>
        </p:spPr>
        <p:txBody>
          <a:bodyPr wrap="square" lIns="0" tIns="0" rIns="0" bIns="0" rtlCol="0" anchor="t"/>
          <a:lstStyle/>
          <a:p>
            <a:pPr indent="0" marL="0">
              <a:lnSpc>
                <a:spcPts val="1800"/>
              </a:lnSpc>
              <a:buNone/>
            </a:pPr>
            <a:r>
              <a:rPr lang="en-US" sz="1150" dirty="0">
                <a:solidFill>
                  <a:srgbClr val="394246"/>
                </a:solidFill>
                <a:latin typeface="Meiryo" pitchFamily="34" charset="0"/>
                <a:ea typeface="Meiryo" pitchFamily="34" charset="-122"/>
                <a:cs typeface="Meiryo" pitchFamily="34" charset="-120"/>
              </a:rPr>
              <a:t>材料を集め、積み上げ、どこまで広げてどこで切り分けるか、そしてどこでやめるかを決めるのは人の仕事だ。</a:t>
            </a:r>
            <a:pPr indent="0" marL="0">
              <a:lnSpc>
                <a:spcPts val="1800"/>
              </a:lnSpc>
              <a:buNone/>
            </a:pPr>
            <a:endParaRPr lang="en-US" sz="1150" dirty="0"/>
          </a:p>
          <a:p>
            <a:pPr indent="0" marL="0">
              <a:lnSpc>
                <a:spcPts val="1800"/>
              </a:lnSpc>
              <a:buNone/>
            </a:pPr>
            <a:endParaRPr lang="en-US" sz="1150" dirty="0"/>
          </a:p>
          <a:p>
            <a:pPr indent="0" marL="0">
              <a:lnSpc>
                <a:spcPts val="1800"/>
              </a:lnSpc>
              <a:buNone/>
            </a:pPr>
            <a:r>
              <a:rPr lang="en-US" sz="1150" b="1" dirty="0">
                <a:solidFill>
                  <a:srgbClr val="171A1C"/>
                </a:solidFill>
                <a:latin typeface="Meiryo" pitchFamily="34" charset="0"/>
                <a:ea typeface="Meiryo" pitchFamily="34" charset="-122"/>
                <a:cs typeface="Meiryo" pitchFamily="34" charset="-120"/>
              </a:rPr>
              <a:t>AI はその判断をしない。</a:t>
            </a:r>
            <a:endParaRPr lang="en-US" sz="1150" dirty="0"/>
          </a:p>
          <a:p>
            <a:pPr indent="0" marL="0">
              <a:lnSpc>
                <a:spcPts val="1800"/>
              </a:lnSpc>
              <a:buNone/>
            </a:pPr>
            <a:endParaRPr lang="en-US" sz="1150" dirty="0"/>
          </a:p>
          <a:p>
            <a:pPr indent="0" marL="0">
              <a:lnSpc>
                <a:spcPts val="1800"/>
              </a:lnSpc>
              <a:buNone/>
            </a:pPr>
            <a:endParaRPr lang="en-US" sz="1150" dirty="0"/>
          </a:p>
          <a:p>
            <a:pPr indent="0" marL="0">
              <a:lnSpc>
                <a:spcPts val="1800"/>
              </a:lnSpc>
              <a:buNone/>
            </a:pPr>
            <a:r>
              <a:rPr lang="en-US" sz="1150" dirty="0">
                <a:solidFill>
                  <a:srgbClr val="394246"/>
                </a:solidFill>
                <a:latin typeface="Meiryo" pitchFamily="34" charset="0"/>
                <a:ea typeface="Meiryo" pitchFamily="34" charset="-122"/>
                <a:cs typeface="Meiryo" pitchFamily="34" charset="-120"/>
              </a:rPr>
              <a:t>発散→収束のプロセスそのものが、こちらの持っている強みになる。</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A20"/>
        </a:solidFill>
      </p:bgPr>
    </p:bg>
    <p:spTree>
      <p:nvGrpSpPr>
        <p:cNvPr id="1" name=""/>
        <p:cNvGrpSpPr/>
        <p:nvPr/>
      </p:nvGrpSpPr>
      <p:grpSpPr>
        <a:xfrm>
          <a:off x="0" y="0"/>
          <a:ext cx="0" cy="0"/>
          <a:chOff x="0" y="0"/>
          <a:chExt cx="0" cy="0"/>
        </a:xfrm>
      </p:grpSpPr>
      <p:sp>
        <p:nvSpPr>
          <p:cNvPr id="3" name="Text 0"/>
          <p:cNvSpPr txBox="1"/>
          <p:nvPr/>
        </p:nvSpPr>
        <p:spPr>
          <a:xfrm>
            <a:off x="566928" y="310896"/>
            <a:ext cx="7315200" cy="237744"/>
          </a:xfrm>
          <a:prstGeom prst="rect">
            <a:avLst/>
          </a:prstGeom>
          <a:noFill/>
          <a:ln/>
        </p:spPr>
        <p:txBody>
          <a:bodyPr wrap="square" lIns="0" tIns="0" rIns="0" bIns="0" rtlCol="0" anchor="ctr"/>
          <a:lstStyle/>
          <a:p>
            <a:pPr indent="0" marL="0">
              <a:buNone/>
            </a:pPr>
            <a:r>
              <a:rPr lang="en-US" sz="1050" spc="160" kern="0" dirty="0">
                <a:solidFill>
                  <a:srgbClr val="8FA4C9"/>
                </a:solidFill>
                <a:latin typeface="Meiryo" pitchFamily="34" charset="0"/>
                <a:ea typeface="Meiryo" pitchFamily="34" charset="-122"/>
                <a:cs typeface="Meiryo" pitchFamily="34" charset="-120"/>
              </a:rPr>
              <a:t>14 ／ まとめ</a:t>
            </a:r>
            <a:endParaRPr lang="en-US" sz="1050" dirty="0"/>
          </a:p>
        </p:txBody>
      </p:sp>
      <p:sp>
        <p:nvSpPr>
          <p:cNvPr id="4" name="Text 1"/>
          <p:cNvSpPr txBox="1"/>
          <p:nvPr/>
        </p:nvSpPr>
        <p:spPr>
          <a:xfrm>
            <a:off x="10058400" y="310896"/>
            <a:ext cx="1600200" cy="237744"/>
          </a:xfrm>
          <a:prstGeom prst="rect">
            <a:avLst/>
          </a:prstGeom>
          <a:noFill/>
          <a:ln/>
        </p:spPr>
        <p:txBody>
          <a:bodyPr wrap="square" lIns="0" tIns="0" rIns="0" bIns="0" rtlCol="0" anchor="ctr"/>
          <a:lstStyle/>
          <a:p>
            <a:pPr algn="r" indent="0" marL="0">
              <a:buNone/>
            </a:pPr>
            <a:r>
              <a:rPr lang="en-US" sz="1050" spc="120" kern="0" dirty="0">
                <a:solidFill>
                  <a:srgbClr val="8FA4C9"/>
                </a:solidFill>
                <a:latin typeface="Meiryo" pitchFamily="34" charset="0"/>
                <a:ea typeface="Meiryo" pitchFamily="34" charset="-122"/>
                <a:cs typeface="Meiryo" pitchFamily="34" charset="-120"/>
              </a:rPr>
              <a:t>0.5分</a:t>
            </a:r>
            <a:endParaRPr lang="en-US" sz="1050" dirty="0"/>
          </a:p>
        </p:txBody>
      </p:sp>
      <p:sp>
        <p:nvSpPr>
          <p:cNvPr id="5" name="Text 2"/>
          <p:cNvSpPr txBox="1"/>
          <p:nvPr/>
        </p:nvSpPr>
        <p:spPr>
          <a:xfrm>
            <a:off x="548640" y="603504"/>
            <a:ext cx="11064240" cy="786384"/>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まとめ ── 明日からの3ステップ</a:t>
            </a:r>
            <a:endParaRPr lang="en-US" sz="3000" dirty="0"/>
          </a:p>
        </p:txBody>
      </p:sp>
      <p:sp>
        <p:nvSpPr>
          <p:cNvPr id="6" name="Shape 3"/>
          <p:cNvSpPr/>
          <p:nvPr/>
        </p:nvSpPr>
        <p:spPr>
          <a:xfrm>
            <a:off x="566928" y="1655064"/>
            <a:ext cx="310896" cy="310896"/>
          </a:xfrm>
          <a:prstGeom prst="ellipse">
            <a:avLst/>
          </a:prstGeom>
          <a:solidFill>
            <a:srgbClr val="4A6FC4"/>
          </a:solidFill>
          <a:ln w="12700">
            <a:solidFill>
              <a:srgbClr val="4A6FC4"/>
            </a:solidFill>
            <a:prstDash val="solid"/>
          </a:ln>
        </p:spPr>
      </p:sp>
      <p:sp>
        <p:nvSpPr>
          <p:cNvPr id="7" name="Text 4"/>
          <p:cNvSpPr txBox="1"/>
          <p:nvPr/>
        </p:nvSpPr>
        <p:spPr>
          <a:xfrm>
            <a:off x="566928" y="165506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1</a:t>
            </a:r>
            <a:endParaRPr lang="en-US" sz="1150" dirty="0"/>
          </a:p>
        </p:txBody>
      </p:sp>
      <p:sp>
        <p:nvSpPr>
          <p:cNvPr id="8" name="Text 5"/>
          <p:cNvSpPr txBox="1"/>
          <p:nvPr/>
        </p:nvSpPr>
        <p:spPr>
          <a:xfrm>
            <a:off x="1005840" y="1627632"/>
            <a:ext cx="10616184" cy="658368"/>
          </a:xfrm>
          <a:prstGeom prst="rect">
            <a:avLst/>
          </a:prstGeom>
          <a:noFill/>
          <a:ln/>
        </p:spPr>
        <p:txBody>
          <a:bodyPr wrap="square" lIns="0" tIns="0" rIns="0" bIns="0" rtlCol="0" anchor="t"/>
          <a:lstStyle/>
          <a:p>
            <a:pPr indent="0" marL="0">
              <a:lnSpc>
                <a:spcPts val="1700"/>
              </a:lnSpc>
              <a:buNone/>
            </a:pPr>
            <a:r>
              <a:rPr lang="en-US" sz="1150" b="1" dirty="0">
                <a:solidFill>
                  <a:srgbClr val="FFFFFF"/>
                </a:solidFill>
                <a:latin typeface="Meiryo" pitchFamily="34" charset="0"/>
                <a:ea typeface="Meiryo" pitchFamily="34" charset="-122"/>
                <a:cs typeface="Meiryo" pitchFamily="34" charset="-120"/>
              </a:rPr>
              <a:t>手持ちの既設資産を1本、まとめた文書にする。</a:t>
            </a:r>
            <a:pPr indent="0" marL="0">
              <a:lnSpc>
                <a:spcPts val="1700"/>
              </a:lnSpc>
              <a:buNone/>
            </a:pPr>
            <a:r>
              <a:rPr lang="en-US" sz="1150" dirty="0">
                <a:solidFill>
                  <a:srgbClr val="C6D2E6"/>
                </a:solidFill>
                <a:latin typeface="Meiryo" pitchFamily="34" charset="0"/>
                <a:ea typeface="Meiryo" pitchFamily="34" charset="-122"/>
                <a:cs typeface="Meiryo" pitchFamily="34" charset="-120"/>
              </a:rPr>
              <a:t>　規模が中くらいで、仕様書がある程度残っているものを選ぶ。索引が業務の言葉と噛み合うかを最初に確認する。</a:t>
            </a:r>
            <a:endParaRPr lang="en-US" sz="1150" dirty="0"/>
          </a:p>
        </p:txBody>
      </p:sp>
      <p:sp>
        <p:nvSpPr>
          <p:cNvPr id="9" name="Shape 6"/>
          <p:cNvSpPr/>
          <p:nvPr/>
        </p:nvSpPr>
        <p:spPr>
          <a:xfrm>
            <a:off x="566928" y="2386584"/>
            <a:ext cx="310896" cy="310896"/>
          </a:xfrm>
          <a:prstGeom prst="ellipse">
            <a:avLst/>
          </a:prstGeom>
          <a:solidFill>
            <a:srgbClr val="4A6FC4"/>
          </a:solidFill>
          <a:ln w="12700">
            <a:solidFill>
              <a:srgbClr val="4A6FC4"/>
            </a:solidFill>
            <a:prstDash val="solid"/>
          </a:ln>
        </p:spPr>
      </p:sp>
      <p:sp>
        <p:nvSpPr>
          <p:cNvPr id="10" name="Text 7"/>
          <p:cNvSpPr txBox="1"/>
          <p:nvPr/>
        </p:nvSpPr>
        <p:spPr>
          <a:xfrm>
            <a:off x="566928" y="238658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2</a:t>
            </a:r>
            <a:endParaRPr lang="en-US" sz="1150" dirty="0"/>
          </a:p>
        </p:txBody>
      </p:sp>
      <p:sp>
        <p:nvSpPr>
          <p:cNvPr id="11" name="Text 8"/>
          <p:cNvSpPr txBox="1"/>
          <p:nvPr/>
        </p:nvSpPr>
        <p:spPr>
          <a:xfrm>
            <a:off x="1005840" y="2359152"/>
            <a:ext cx="10616184" cy="658368"/>
          </a:xfrm>
          <a:prstGeom prst="rect">
            <a:avLst/>
          </a:prstGeom>
          <a:noFill/>
          <a:ln/>
        </p:spPr>
        <p:txBody>
          <a:bodyPr wrap="square" lIns="0" tIns="0" rIns="0" bIns="0" rtlCol="0" anchor="t"/>
          <a:lstStyle/>
          <a:p>
            <a:pPr indent="0" marL="0">
              <a:lnSpc>
                <a:spcPts val="1700"/>
              </a:lnSpc>
              <a:buNone/>
            </a:pPr>
            <a:r>
              <a:rPr lang="en-US" sz="1150" b="1" dirty="0">
                <a:solidFill>
                  <a:srgbClr val="FFFFFF"/>
                </a:solidFill>
                <a:latin typeface="Meiryo" pitchFamily="34" charset="0"/>
                <a:ea typeface="Meiryo" pitchFamily="34" charset="-122"/>
                <a:cs typeface="Meiryo" pitchFamily="34" charset="-120"/>
              </a:rPr>
              <a:t>ドキュメントの言葉で、広く候補を出させる。</a:t>
            </a:r>
            <a:pPr indent="0" marL="0">
              <a:lnSpc>
                <a:spcPts val="1700"/>
              </a:lnSpc>
              <a:buNone/>
            </a:pPr>
            <a:r>
              <a:rPr lang="en-US" sz="1150" dirty="0">
                <a:solidFill>
                  <a:srgbClr val="C6D2E6"/>
                </a:solidFill>
                <a:latin typeface="Meiryo" pitchFamily="34" charset="0"/>
                <a:ea typeface="Meiryo" pitchFamily="34" charset="-122"/>
                <a:cs typeface="Meiryo" pitchFamily="34" charset="-120"/>
              </a:rPr>
              <a:t>　絞らせない。5〜10件、根拠と確信度つきで。</a:t>
            </a:r>
            <a:endParaRPr lang="en-US" sz="1150" dirty="0"/>
          </a:p>
        </p:txBody>
      </p:sp>
      <p:sp>
        <p:nvSpPr>
          <p:cNvPr id="12" name="Shape 9"/>
          <p:cNvSpPr/>
          <p:nvPr/>
        </p:nvSpPr>
        <p:spPr>
          <a:xfrm>
            <a:off x="566928" y="3118104"/>
            <a:ext cx="310896" cy="310896"/>
          </a:xfrm>
          <a:prstGeom prst="ellipse">
            <a:avLst/>
          </a:prstGeom>
          <a:solidFill>
            <a:srgbClr val="4A6FC4"/>
          </a:solidFill>
          <a:ln w="12700">
            <a:solidFill>
              <a:srgbClr val="4A6FC4"/>
            </a:solidFill>
            <a:prstDash val="solid"/>
          </a:ln>
        </p:spPr>
      </p:sp>
      <p:sp>
        <p:nvSpPr>
          <p:cNvPr id="13" name="Text 10"/>
          <p:cNvSpPr txBox="1"/>
          <p:nvPr/>
        </p:nvSpPr>
        <p:spPr>
          <a:xfrm>
            <a:off x="566928" y="311810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3</a:t>
            </a:r>
            <a:endParaRPr lang="en-US" sz="1150" dirty="0"/>
          </a:p>
        </p:txBody>
      </p:sp>
      <p:sp>
        <p:nvSpPr>
          <p:cNvPr id="14" name="Text 11"/>
          <p:cNvSpPr txBox="1"/>
          <p:nvPr/>
        </p:nvSpPr>
        <p:spPr>
          <a:xfrm>
            <a:off x="1005840" y="3090672"/>
            <a:ext cx="10616184" cy="658368"/>
          </a:xfrm>
          <a:prstGeom prst="rect">
            <a:avLst/>
          </a:prstGeom>
          <a:noFill/>
          <a:ln/>
        </p:spPr>
        <p:txBody>
          <a:bodyPr wrap="square" lIns="0" tIns="0" rIns="0" bIns="0" rtlCol="0" anchor="t"/>
          <a:lstStyle/>
          <a:p>
            <a:pPr indent="0" marL="0">
              <a:lnSpc>
                <a:spcPts val="1700"/>
              </a:lnSpc>
              <a:buNone/>
            </a:pPr>
            <a:r>
              <a:rPr lang="en-US" sz="1150" b="1" dirty="0">
                <a:solidFill>
                  <a:srgbClr val="FFFFFF"/>
                </a:solidFill>
                <a:latin typeface="Meiryo" pitchFamily="34" charset="0"/>
                <a:ea typeface="Meiryo" pitchFamily="34" charset="-122"/>
                <a:cs typeface="Meiryo" pitchFamily="34" charset="-120"/>
              </a:rPr>
              <a:t>検索で裏を取り、差分を返して切り分ける。狙った割合に届いたらやめる。</a:t>
            </a:r>
            <a:pPr indent="0" marL="0">
              <a:lnSpc>
                <a:spcPts val="1700"/>
              </a:lnSpc>
              <a:buNone/>
            </a:pPr>
            <a:r>
              <a:rPr lang="en-US" sz="1150" dirty="0">
                <a:solidFill>
                  <a:srgbClr val="C6D2E6"/>
                </a:solidFill>
                <a:latin typeface="Meiryo" pitchFamily="34" charset="0"/>
                <a:ea typeface="Meiryo" pitchFamily="34" charset="-122"/>
                <a:cs typeface="Meiryo" pitchFamily="34" charset="-120"/>
              </a:rPr>
              <a:t>　足りない分は調べに行き、その結果を読み込ませてもう一周。</a:t>
            </a:r>
            <a:endParaRPr lang="en-US" sz="1150" dirty="0"/>
          </a:p>
        </p:txBody>
      </p:sp>
      <p:sp>
        <p:nvSpPr>
          <p:cNvPr id="15" name="Shape 12"/>
          <p:cNvSpPr/>
          <p:nvPr/>
        </p:nvSpPr>
        <p:spPr>
          <a:xfrm>
            <a:off x="566928" y="3968496"/>
            <a:ext cx="3566160" cy="1335024"/>
          </a:xfrm>
          <a:prstGeom prst="roundRect">
            <a:avLst>
              <a:gd name="adj" fmla="val 3425"/>
            </a:avLst>
          </a:prstGeom>
          <a:solidFill>
            <a:srgbClr val="1F2831"/>
          </a:solidFill>
          <a:ln w="12700">
            <a:solidFill>
              <a:srgbClr val="1F2831"/>
            </a:solidFill>
            <a:prstDash val="solid"/>
          </a:ln>
        </p:spPr>
      </p:sp>
      <p:sp>
        <p:nvSpPr>
          <p:cNvPr id="16" name="Text 13"/>
          <p:cNvSpPr txBox="1"/>
          <p:nvPr/>
        </p:nvSpPr>
        <p:spPr>
          <a:xfrm>
            <a:off x="804672" y="4123944"/>
            <a:ext cx="3090672" cy="292608"/>
          </a:xfrm>
          <a:prstGeom prst="rect">
            <a:avLst/>
          </a:prstGeom>
          <a:noFill/>
          <a:ln/>
        </p:spPr>
        <p:txBody>
          <a:bodyPr wrap="square" lIns="0" tIns="0" rIns="0" bIns="0" rtlCol="0" anchor="t"/>
          <a:lstStyle/>
          <a:p>
            <a:pPr indent="0" marL="0">
              <a:buNone/>
            </a:pPr>
            <a:r>
              <a:rPr lang="en-US" sz="1300" b="1" dirty="0">
                <a:solidFill>
                  <a:srgbClr val="9FB6DE"/>
                </a:solidFill>
                <a:latin typeface="Meiryo" pitchFamily="34" charset="0"/>
                <a:ea typeface="Meiryo" pitchFamily="34" charset="-122"/>
                <a:cs typeface="Meiryo" pitchFamily="34" charset="-120"/>
              </a:rPr>
              <a:t>忘れないこと 1</a:t>
            </a:r>
            <a:endParaRPr lang="en-US" sz="1300" dirty="0"/>
          </a:p>
        </p:txBody>
      </p:sp>
      <p:sp>
        <p:nvSpPr>
          <p:cNvPr id="17" name="Text 14"/>
          <p:cNvSpPr txBox="1"/>
          <p:nvPr/>
        </p:nvSpPr>
        <p:spPr>
          <a:xfrm>
            <a:off x="804672" y="4498848"/>
            <a:ext cx="3090672" cy="640080"/>
          </a:xfrm>
          <a:prstGeom prst="rect">
            <a:avLst/>
          </a:prstGeom>
          <a:noFill/>
          <a:ln/>
        </p:spPr>
        <p:txBody>
          <a:bodyPr wrap="square" lIns="0" tIns="0" rIns="0" bIns="0" rtlCol="0" anchor="t"/>
          <a:lstStyle/>
          <a:p>
            <a:pPr indent="0" marL="0">
              <a:lnSpc>
                <a:spcPts val="1650"/>
              </a:lnSpc>
              <a:buNone/>
            </a:pPr>
            <a:r>
              <a:rPr lang="en-US" sz="1100" dirty="0">
                <a:solidFill>
                  <a:srgbClr val="D8E1F0"/>
                </a:solidFill>
                <a:latin typeface="Meiryo" pitchFamily="34" charset="0"/>
                <a:ea typeface="Meiryo" pitchFamily="34" charset="-122"/>
                <a:cs typeface="Meiryo" pitchFamily="34" charset="-120"/>
              </a:rPr>
              <a:t>AI は何でもは知らない。知っていることだけ。</a:t>
            </a:r>
            <a:endParaRPr lang="en-US" sz="1100" dirty="0"/>
          </a:p>
          <a:p>
            <a:pPr indent="0" marL="0">
              <a:lnSpc>
                <a:spcPts val="1650"/>
              </a:lnSpc>
              <a:buNone/>
            </a:pPr>
            <a:r>
              <a:rPr lang="en-US" sz="1100" dirty="0">
                <a:solidFill>
                  <a:srgbClr val="D8E1F0"/>
                </a:solidFill>
                <a:latin typeface="Meiryo" pitchFamily="34" charset="0"/>
                <a:ea typeface="Meiryo" pitchFamily="34" charset="-122"/>
                <a:cs typeface="Meiryo" pitchFamily="34" charset="-120"/>
              </a:rPr>
              <a:t>渡さなければ、答えは出てこない。</a:t>
            </a:r>
            <a:endParaRPr lang="en-US" sz="1100" dirty="0"/>
          </a:p>
        </p:txBody>
      </p:sp>
      <p:sp>
        <p:nvSpPr>
          <p:cNvPr id="18" name="Shape 15"/>
          <p:cNvSpPr/>
          <p:nvPr/>
        </p:nvSpPr>
        <p:spPr>
          <a:xfrm>
            <a:off x="4315968" y="3968496"/>
            <a:ext cx="3566160" cy="1335024"/>
          </a:xfrm>
          <a:prstGeom prst="roundRect">
            <a:avLst>
              <a:gd name="adj" fmla="val 3425"/>
            </a:avLst>
          </a:prstGeom>
          <a:solidFill>
            <a:srgbClr val="1F2831"/>
          </a:solidFill>
          <a:ln w="12700">
            <a:solidFill>
              <a:srgbClr val="1F2831"/>
            </a:solidFill>
            <a:prstDash val="solid"/>
          </a:ln>
        </p:spPr>
      </p:sp>
      <p:sp>
        <p:nvSpPr>
          <p:cNvPr id="19" name="Text 16"/>
          <p:cNvSpPr txBox="1"/>
          <p:nvPr/>
        </p:nvSpPr>
        <p:spPr>
          <a:xfrm>
            <a:off x="4553712" y="4123944"/>
            <a:ext cx="3090672" cy="292608"/>
          </a:xfrm>
          <a:prstGeom prst="rect">
            <a:avLst/>
          </a:prstGeom>
          <a:noFill/>
          <a:ln/>
        </p:spPr>
        <p:txBody>
          <a:bodyPr wrap="square" lIns="0" tIns="0" rIns="0" bIns="0" rtlCol="0" anchor="t"/>
          <a:lstStyle/>
          <a:p>
            <a:pPr indent="0" marL="0">
              <a:buNone/>
            </a:pPr>
            <a:r>
              <a:rPr lang="en-US" sz="1300" b="1" dirty="0">
                <a:solidFill>
                  <a:srgbClr val="9FB6DE"/>
                </a:solidFill>
                <a:latin typeface="Meiryo" pitchFamily="34" charset="0"/>
                <a:ea typeface="Meiryo" pitchFamily="34" charset="-122"/>
                <a:cs typeface="Meiryo" pitchFamily="34" charset="-120"/>
              </a:rPr>
              <a:t>忘れないこと 2</a:t>
            </a:r>
            <a:endParaRPr lang="en-US" sz="1300" dirty="0"/>
          </a:p>
        </p:txBody>
      </p:sp>
      <p:sp>
        <p:nvSpPr>
          <p:cNvPr id="20" name="Text 17"/>
          <p:cNvSpPr txBox="1"/>
          <p:nvPr/>
        </p:nvSpPr>
        <p:spPr>
          <a:xfrm>
            <a:off x="4553712" y="4498848"/>
            <a:ext cx="3090672" cy="640080"/>
          </a:xfrm>
          <a:prstGeom prst="rect">
            <a:avLst/>
          </a:prstGeom>
          <a:noFill/>
          <a:ln/>
        </p:spPr>
        <p:txBody>
          <a:bodyPr wrap="square" lIns="0" tIns="0" rIns="0" bIns="0" rtlCol="0" anchor="t"/>
          <a:lstStyle/>
          <a:p>
            <a:pPr indent="0" marL="0">
              <a:lnSpc>
                <a:spcPts val="1650"/>
              </a:lnSpc>
              <a:buNone/>
            </a:pPr>
            <a:r>
              <a:rPr lang="en-US" sz="1100" dirty="0">
                <a:solidFill>
                  <a:srgbClr val="D8E1F0"/>
                </a:solidFill>
                <a:latin typeface="Meiryo" pitchFamily="34" charset="0"/>
                <a:ea typeface="Meiryo" pitchFamily="34" charset="-122"/>
                <a:cs typeface="Meiryo" pitchFamily="34" charset="-120"/>
              </a:rPr>
              <a:t>発散と収束を混ぜない。</a:t>
            </a:r>
            <a:endParaRPr lang="en-US" sz="1100" dirty="0"/>
          </a:p>
          <a:p>
            <a:pPr indent="0" marL="0">
              <a:lnSpc>
                <a:spcPts val="1650"/>
              </a:lnSpc>
              <a:buNone/>
            </a:pPr>
            <a:r>
              <a:rPr lang="en-US" sz="1100" dirty="0">
                <a:solidFill>
                  <a:srgbClr val="D8E1F0"/>
                </a:solidFill>
                <a:latin typeface="Meiryo" pitchFamily="34" charset="0"/>
                <a:ea typeface="Meiryo" pitchFamily="34" charset="-122"/>
                <a:cs typeface="Meiryo" pitchFamily="34" charset="-120"/>
              </a:rPr>
              <a:t>広げる問いと、切り分ける問いは別々に。</a:t>
            </a:r>
            <a:endParaRPr lang="en-US" sz="1100" dirty="0"/>
          </a:p>
        </p:txBody>
      </p:sp>
      <p:sp>
        <p:nvSpPr>
          <p:cNvPr id="21" name="Shape 18"/>
          <p:cNvSpPr/>
          <p:nvPr/>
        </p:nvSpPr>
        <p:spPr>
          <a:xfrm>
            <a:off x="8065008" y="3968496"/>
            <a:ext cx="3566160" cy="1335024"/>
          </a:xfrm>
          <a:prstGeom prst="roundRect">
            <a:avLst>
              <a:gd name="adj" fmla="val 3425"/>
            </a:avLst>
          </a:prstGeom>
          <a:solidFill>
            <a:srgbClr val="1F2831"/>
          </a:solidFill>
          <a:ln w="12700">
            <a:solidFill>
              <a:srgbClr val="1F2831"/>
            </a:solidFill>
            <a:prstDash val="solid"/>
          </a:ln>
        </p:spPr>
      </p:sp>
      <p:sp>
        <p:nvSpPr>
          <p:cNvPr id="22" name="Text 19"/>
          <p:cNvSpPr txBox="1"/>
          <p:nvPr/>
        </p:nvSpPr>
        <p:spPr>
          <a:xfrm>
            <a:off x="8302752" y="4123944"/>
            <a:ext cx="3090672" cy="292608"/>
          </a:xfrm>
          <a:prstGeom prst="rect">
            <a:avLst/>
          </a:prstGeom>
          <a:noFill/>
          <a:ln/>
        </p:spPr>
        <p:txBody>
          <a:bodyPr wrap="square" lIns="0" tIns="0" rIns="0" bIns="0" rtlCol="0" anchor="t"/>
          <a:lstStyle/>
          <a:p>
            <a:pPr indent="0" marL="0">
              <a:buNone/>
            </a:pPr>
            <a:r>
              <a:rPr lang="en-US" sz="1300" b="1" dirty="0">
                <a:solidFill>
                  <a:srgbClr val="9FB6DE"/>
                </a:solidFill>
                <a:latin typeface="Meiryo" pitchFamily="34" charset="0"/>
                <a:ea typeface="Meiryo" pitchFamily="34" charset="-122"/>
                <a:cs typeface="Meiryo" pitchFamily="34" charset="-120"/>
              </a:rPr>
              <a:t>忘れないこと 3</a:t>
            </a:r>
            <a:endParaRPr lang="en-US" sz="1300" dirty="0"/>
          </a:p>
        </p:txBody>
      </p:sp>
      <p:sp>
        <p:nvSpPr>
          <p:cNvPr id="23" name="Text 20"/>
          <p:cNvSpPr txBox="1"/>
          <p:nvPr/>
        </p:nvSpPr>
        <p:spPr>
          <a:xfrm>
            <a:off x="8302752" y="4498848"/>
            <a:ext cx="3090672" cy="640080"/>
          </a:xfrm>
          <a:prstGeom prst="rect">
            <a:avLst/>
          </a:prstGeom>
          <a:noFill/>
          <a:ln/>
        </p:spPr>
        <p:txBody>
          <a:bodyPr wrap="square" lIns="0" tIns="0" rIns="0" bIns="0" rtlCol="0" anchor="t"/>
          <a:lstStyle/>
          <a:p>
            <a:pPr indent="0" marL="0">
              <a:lnSpc>
                <a:spcPts val="1650"/>
              </a:lnSpc>
              <a:buNone/>
            </a:pPr>
            <a:r>
              <a:rPr lang="en-US" sz="1100" dirty="0">
                <a:solidFill>
                  <a:srgbClr val="D8E1F0"/>
                </a:solidFill>
                <a:latin typeface="Meiryo" pitchFamily="34" charset="0"/>
                <a:ea typeface="Meiryo" pitchFamily="34" charset="-122"/>
                <a:cs typeface="Meiryo" pitchFamily="34" charset="-120"/>
              </a:rPr>
              <a:t>100% を狙わない。</a:t>
            </a:r>
            <a:endParaRPr lang="en-US" sz="1100" dirty="0"/>
          </a:p>
          <a:p>
            <a:pPr indent="0" marL="0">
              <a:lnSpc>
                <a:spcPts val="1650"/>
              </a:lnSpc>
              <a:buNone/>
            </a:pPr>
            <a:r>
              <a:rPr lang="en-US" sz="1100" dirty="0">
                <a:solidFill>
                  <a:srgbClr val="D8E1F0"/>
                </a:solidFill>
                <a:latin typeface="Meiryo" pitchFamily="34" charset="0"/>
                <a:ea typeface="Meiryo" pitchFamily="34" charset="-122"/>
                <a:cs typeface="Meiryo" pitchFamily="34" charset="-120"/>
              </a:rPr>
              <a:t>判断できる状態になったら、そこが止めどころ。</a:t>
            </a:r>
            <a:endParaRPr lang="en-US" sz="1100" dirty="0"/>
          </a:p>
        </p:txBody>
      </p:sp>
      <p:sp>
        <p:nvSpPr>
          <p:cNvPr id="24" name="Shape 21"/>
          <p:cNvSpPr/>
          <p:nvPr/>
        </p:nvSpPr>
        <p:spPr>
          <a:xfrm>
            <a:off x="566928" y="5522976"/>
            <a:ext cx="11055096" cy="914400"/>
          </a:xfrm>
          <a:prstGeom prst="roundRect">
            <a:avLst>
              <a:gd name="adj" fmla="val 5000"/>
            </a:avLst>
          </a:prstGeom>
          <a:solidFill>
            <a:srgbClr val="3A2A16"/>
          </a:solidFill>
          <a:ln w="12700">
            <a:solidFill>
              <a:srgbClr val="3A2A16"/>
            </a:solidFill>
            <a:prstDash val="solid"/>
          </a:ln>
        </p:spPr>
      </p:sp>
      <p:sp>
        <p:nvSpPr>
          <p:cNvPr id="25" name="Text 22"/>
          <p:cNvSpPr txBox="1"/>
          <p:nvPr/>
        </p:nvSpPr>
        <p:spPr>
          <a:xfrm>
            <a:off x="804672" y="5705856"/>
            <a:ext cx="10607040" cy="585216"/>
          </a:xfrm>
          <a:prstGeom prst="rect">
            <a:avLst/>
          </a:prstGeom>
          <a:noFill/>
          <a:ln/>
        </p:spPr>
        <p:txBody>
          <a:bodyPr wrap="square" lIns="0" tIns="0" rIns="0" bIns="0" rtlCol="0" anchor="t"/>
          <a:lstStyle/>
          <a:p>
            <a:pPr indent="0" marL="0">
              <a:lnSpc>
                <a:spcPts val="1700"/>
              </a:lnSpc>
              <a:buNone/>
            </a:pPr>
            <a:r>
              <a:rPr lang="en-US" sz="1150" b="1" dirty="0">
                <a:solidFill>
                  <a:srgbClr val="F0D89A"/>
                </a:solidFill>
                <a:latin typeface="Meiryo" pitchFamily="34" charset="0"/>
                <a:ea typeface="Meiryo" pitchFamily="34" charset="-122"/>
                <a:cs typeface="Meiryo" pitchFamily="34" charset="-120"/>
              </a:rPr>
              <a:t>取り扱い注意：まとめた文書は中身が丸ごとサービス側に渡る。</a:t>
            </a:r>
            <a:pPr indent="0" marL="0">
              <a:lnSpc>
                <a:spcPts val="1700"/>
              </a:lnSpc>
              <a:buNone/>
            </a:pPr>
            <a:endParaRPr lang="en-US" sz="1150" dirty="0"/>
          </a:p>
          <a:p>
            <a:pPr indent="0" marL="0">
              <a:lnSpc>
                <a:spcPts val="1700"/>
              </a:lnSpc>
              <a:buNone/>
            </a:pPr>
            <a:r>
              <a:rPr lang="en-US" sz="1150" dirty="0">
                <a:solidFill>
                  <a:srgbClr val="D9C79B"/>
                </a:solidFill>
                <a:latin typeface="Meiryo" pitchFamily="34" charset="0"/>
                <a:ea typeface="Meiryo" pitchFamily="34" charset="-122"/>
                <a:cs typeface="Meiryo" pitchFamily="34" charset="-120"/>
              </a:rPr>
              <a:t>接続文字列・パスワード・ホスト名・テストデータ内の個人情報は、まとめる時点で除く手順を入れる。</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既設システム調査のための Microsoft 365 Copilot の使い方</dc:title>
  <dc:subject>PptxGenJS Presentation</dc:subject>
  <dc:creator>LABORRAD</dc:creator>
  <cp:lastModifiedBy>LABORRAD</cp:lastModifiedBy>
  <cp:revision>1</cp:revision>
  <dcterms:created xsi:type="dcterms:W3CDTF">2026-09-15T22:15:26Z</dcterms:created>
  <dcterms:modified xsi:type="dcterms:W3CDTF">2026-09-15T22:15:26Z</dcterms:modified>
</cp:coreProperties>
</file>